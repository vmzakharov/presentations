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6"/>
  </p:notesMasterIdLst>
  <p:handoutMasterIdLst>
    <p:handoutMasterId r:id="rId47"/>
  </p:handoutMasterIdLst>
  <p:sldIdLst>
    <p:sldId id="256" r:id="rId2"/>
    <p:sldId id="294" r:id="rId3"/>
    <p:sldId id="297" r:id="rId4"/>
    <p:sldId id="339" r:id="rId5"/>
    <p:sldId id="319" r:id="rId6"/>
    <p:sldId id="351" r:id="rId7"/>
    <p:sldId id="303" r:id="rId8"/>
    <p:sldId id="331" r:id="rId9"/>
    <p:sldId id="304" r:id="rId10"/>
    <p:sldId id="311" r:id="rId11"/>
    <p:sldId id="293" r:id="rId12"/>
    <p:sldId id="340" r:id="rId13"/>
    <p:sldId id="358" r:id="rId14"/>
    <p:sldId id="301" r:id="rId15"/>
    <p:sldId id="328" r:id="rId16"/>
    <p:sldId id="268" r:id="rId17"/>
    <p:sldId id="273" r:id="rId18"/>
    <p:sldId id="274" r:id="rId19"/>
    <p:sldId id="332" r:id="rId20"/>
    <p:sldId id="267" r:id="rId21"/>
    <p:sldId id="288" r:id="rId22"/>
    <p:sldId id="348" r:id="rId23"/>
    <p:sldId id="286" r:id="rId24"/>
    <p:sldId id="347" r:id="rId25"/>
    <p:sldId id="316" r:id="rId26"/>
    <p:sldId id="313" r:id="rId27"/>
    <p:sldId id="290" r:id="rId28"/>
    <p:sldId id="298" r:id="rId29"/>
    <p:sldId id="343" r:id="rId30"/>
    <p:sldId id="310" r:id="rId31"/>
    <p:sldId id="329" r:id="rId32"/>
    <p:sldId id="330" r:id="rId33"/>
    <p:sldId id="353" r:id="rId34"/>
    <p:sldId id="308" r:id="rId35"/>
    <p:sldId id="360" r:id="rId36"/>
    <p:sldId id="309" r:id="rId37"/>
    <p:sldId id="355" r:id="rId38"/>
    <p:sldId id="344" r:id="rId39"/>
    <p:sldId id="334" r:id="rId40"/>
    <p:sldId id="321" r:id="rId41"/>
    <p:sldId id="307" r:id="rId42"/>
    <p:sldId id="350" r:id="rId43"/>
    <p:sldId id="349" r:id="rId44"/>
    <p:sldId id="345" r:id="rId45"/>
  </p:sldIdLst>
  <p:sldSz cx="12192000" cy="6858000"/>
  <p:notesSz cx="7315200" cy="12344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3"/>
    <a:srgbClr val="E95652"/>
    <a:srgbClr val="FFFFD9"/>
    <a:srgbClr val="F2F7FC"/>
    <a:srgbClr val="FF3300"/>
    <a:srgbClr val="EAFAEC"/>
    <a:srgbClr val="FDE8CF"/>
    <a:srgbClr val="F8F8F8"/>
    <a:srgbClr val="FEF3E6"/>
    <a:srgbClr val="FFEDB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F4E99A-B156-49EC-9811-1C56E00ECC14}" v="1219" dt="2025-09-26T03:33:25.4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849" autoAdjust="0"/>
    <p:restoredTop sz="69222" autoAdjust="0"/>
  </p:normalViewPr>
  <p:slideViewPr>
    <p:cSldViewPr snapToGrid="0">
      <p:cViewPr varScale="1">
        <p:scale>
          <a:sx n="59" d="100"/>
          <a:sy n="59" d="100"/>
        </p:scale>
        <p:origin x="1886" y="257"/>
      </p:cViewPr>
      <p:guideLst/>
    </p:cSldViewPr>
  </p:slideViewPr>
  <p:notesTextViewPr>
    <p:cViewPr>
      <p:scale>
        <a:sx n="1" d="1"/>
        <a:sy n="1" d="1"/>
      </p:scale>
      <p:origin x="0" y="0"/>
    </p:cViewPr>
  </p:notesTextViewPr>
  <p:notesViewPr>
    <p:cSldViewPr snapToGrid="0">
      <p:cViewPr varScale="1">
        <p:scale>
          <a:sx n="68" d="100"/>
          <a:sy n="68" d="100"/>
        </p:scale>
        <p:origin x="4541" y="91"/>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DB09AB1-E84A-5B9E-E286-67494C98F9BF}"/>
              </a:ext>
            </a:extLst>
          </p:cNvPr>
          <p:cNvSpPr>
            <a:spLocks noGrp="1"/>
          </p:cNvSpPr>
          <p:nvPr>
            <p:ph type="hdr" sz="quarter"/>
          </p:nvPr>
        </p:nvSpPr>
        <p:spPr>
          <a:xfrm>
            <a:off x="0" y="0"/>
            <a:ext cx="3170238" cy="6191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13DC1FE-D316-3F0A-D551-B413EAC75F5D}"/>
              </a:ext>
            </a:extLst>
          </p:cNvPr>
          <p:cNvSpPr>
            <a:spLocks noGrp="1"/>
          </p:cNvSpPr>
          <p:nvPr>
            <p:ph type="dt" sz="quarter" idx="1"/>
          </p:nvPr>
        </p:nvSpPr>
        <p:spPr>
          <a:xfrm>
            <a:off x="4143375" y="0"/>
            <a:ext cx="3170238" cy="619125"/>
          </a:xfrm>
          <a:prstGeom prst="rect">
            <a:avLst/>
          </a:prstGeom>
        </p:spPr>
        <p:txBody>
          <a:bodyPr vert="horz" lIns="91440" tIns="45720" rIns="91440" bIns="45720" rtlCol="0"/>
          <a:lstStyle>
            <a:lvl1pPr algn="r">
              <a:defRPr sz="1200"/>
            </a:lvl1pPr>
          </a:lstStyle>
          <a:p>
            <a:fld id="{1794DE4D-3BDB-489C-8650-C210FBF55708}" type="datetimeFigureOut">
              <a:rPr lang="en-US" smtClean="0"/>
              <a:t>10/1/2025</a:t>
            </a:fld>
            <a:endParaRPr lang="en-US"/>
          </a:p>
        </p:txBody>
      </p:sp>
      <p:sp>
        <p:nvSpPr>
          <p:cNvPr id="4" name="Footer Placeholder 3">
            <a:extLst>
              <a:ext uri="{FF2B5EF4-FFF2-40B4-BE49-F238E27FC236}">
                <a16:creationId xmlns:a16="http://schemas.microsoft.com/office/drawing/2014/main" id="{CE6EAE50-1692-6894-CD92-36135D4038BB}"/>
              </a:ext>
            </a:extLst>
          </p:cNvPr>
          <p:cNvSpPr>
            <a:spLocks noGrp="1"/>
          </p:cNvSpPr>
          <p:nvPr>
            <p:ph type="ftr" sz="quarter" idx="2"/>
          </p:nvPr>
        </p:nvSpPr>
        <p:spPr>
          <a:xfrm>
            <a:off x="0" y="11725275"/>
            <a:ext cx="3170238" cy="6191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608EC0C-357B-3FBF-8B25-8B24A9773135}"/>
              </a:ext>
            </a:extLst>
          </p:cNvPr>
          <p:cNvSpPr>
            <a:spLocks noGrp="1"/>
          </p:cNvSpPr>
          <p:nvPr>
            <p:ph type="sldNum" sz="quarter" idx="3"/>
          </p:nvPr>
        </p:nvSpPr>
        <p:spPr>
          <a:xfrm>
            <a:off x="4143375" y="11725275"/>
            <a:ext cx="3170238" cy="619125"/>
          </a:xfrm>
          <a:prstGeom prst="rect">
            <a:avLst/>
          </a:prstGeom>
        </p:spPr>
        <p:txBody>
          <a:bodyPr vert="horz" lIns="91440" tIns="45720" rIns="91440" bIns="45720" rtlCol="0" anchor="b"/>
          <a:lstStyle>
            <a:lvl1pPr algn="r">
              <a:defRPr sz="1200"/>
            </a:lvl1pPr>
          </a:lstStyle>
          <a:p>
            <a:fld id="{E9548BAC-853E-4D31-BE9B-6731B1674304}" type="slidenum">
              <a:rPr lang="en-US" smtClean="0"/>
              <a:t>‹#›</a:t>
            </a:fld>
            <a:endParaRPr lang="en-US"/>
          </a:p>
        </p:txBody>
      </p:sp>
    </p:spTree>
    <p:extLst>
      <p:ext uri="{BB962C8B-B14F-4D97-AF65-F5344CB8AC3E}">
        <p14:creationId xmlns:p14="http://schemas.microsoft.com/office/powerpoint/2010/main" val="4125536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619364"/>
          </a:xfrm>
          <a:prstGeom prst="rect">
            <a:avLst/>
          </a:prstGeom>
        </p:spPr>
        <p:txBody>
          <a:bodyPr vert="horz" lIns="112334" tIns="56167" rIns="112334" bIns="56167" rtlCol="0"/>
          <a:lstStyle>
            <a:lvl1pPr algn="l">
              <a:defRPr sz="1500"/>
            </a:lvl1pPr>
          </a:lstStyle>
          <a:p>
            <a:endParaRPr lang="en-US"/>
          </a:p>
        </p:txBody>
      </p:sp>
      <p:sp>
        <p:nvSpPr>
          <p:cNvPr id="3" name="Date Placeholder 2"/>
          <p:cNvSpPr>
            <a:spLocks noGrp="1"/>
          </p:cNvSpPr>
          <p:nvPr>
            <p:ph type="dt" idx="1"/>
          </p:nvPr>
        </p:nvSpPr>
        <p:spPr>
          <a:xfrm>
            <a:off x="4143587" y="0"/>
            <a:ext cx="3169920" cy="619364"/>
          </a:xfrm>
          <a:prstGeom prst="rect">
            <a:avLst/>
          </a:prstGeom>
        </p:spPr>
        <p:txBody>
          <a:bodyPr vert="horz" lIns="112334" tIns="56167" rIns="112334" bIns="56167" rtlCol="0"/>
          <a:lstStyle>
            <a:lvl1pPr algn="r">
              <a:defRPr sz="1500"/>
            </a:lvl1pPr>
          </a:lstStyle>
          <a:p>
            <a:fld id="{59D1E3E3-F7E5-4D26-BCE5-1E8DBAC4B1AA}" type="datetimeFigureOut">
              <a:rPr lang="en-US" smtClean="0"/>
              <a:t>9/30/2025</a:t>
            </a:fld>
            <a:endParaRPr lang="en-US"/>
          </a:p>
        </p:txBody>
      </p:sp>
      <p:sp>
        <p:nvSpPr>
          <p:cNvPr id="4" name="Slide Image Placeholder 3"/>
          <p:cNvSpPr>
            <a:spLocks noGrp="1" noRot="1" noChangeAspect="1"/>
          </p:cNvSpPr>
          <p:nvPr>
            <p:ph type="sldImg" idx="2"/>
          </p:nvPr>
        </p:nvSpPr>
        <p:spPr>
          <a:xfrm>
            <a:off x="-44450" y="1543050"/>
            <a:ext cx="7404100" cy="4165600"/>
          </a:xfrm>
          <a:prstGeom prst="rect">
            <a:avLst/>
          </a:prstGeom>
          <a:noFill/>
          <a:ln w="12700">
            <a:solidFill>
              <a:prstClr val="black"/>
            </a:solidFill>
          </a:ln>
        </p:spPr>
        <p:txBody>
          <a:bodyPr vert="horz" lIns="112334" tIns="56167" rIns="112334" bIns="56167" rtlCol="0" anchor="ctr"/>
          <a:lstStyle/>
          <a:p>
            <a:endParaRPr lang="en-US"/>
          </a:p>
        </p:txBody>
      </p:sp>
      <p:sp>
        <p:nvSpPr>
          <p:cNvPr id="5" name="Notes Placeholder 4"/>
          <p:cNvSpPr>
            <a:spLocks noGrp="1"/>
          </p:cNvSpPr>
          <p:nvPr>
            <p:ph type="body" sz="quarter" idx="3"/>
          </p:nvPr>
        </p:nvSpPr>
        <p:spPr>
          <a:xfrm>
            <a:off x="731520" y="5940742"/>
            <a:ext cx="5852160" cy="4860608"/>
          </a:xfrm>
          <a:prstGeom prst="rect">
            <a:avLst/>
          </a:prstGeom>
        </p:spPr>
        <p:txBody>
          <a:bodyPr vert="horz" lIns="112334" tIns="56167" rIns="112334" bIns="5616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725038"/>
            <a:ext cx="3169920" cy="619362"/>
          </a:xfrm>
          <a:prstGeom prst="rect">
            <a:avLst/>
          </a:prstGeom>
        </p:spPr>
        <p:txBody>
          <a:bodyPr vert="horz" lIns="112334" tIns="56167" rIns="112334" bIns="56167" rtlCol="0" anchor="b"/>
          <a:lstStyle>
            <a:lvl1pPr algn="l">
              <a:defRPr sz="1500"/>
            </a:lvl1pPr>
          </a:lstStyle>
          <a:p>
            <a:endParaRPr lang="en-US"/>
          </a:p>
        </p:txBody>
      </p:sp>
      <p:sp>
        <p:nvSpPr>
          <p:cNvPr id="7" name="Slide Number Placeholder 6"/>
          <p:cNvSpPr>
            <a:spLocks noGrp="1"/>
          </p:cNvSpPr>
          <p:nvPr>
            <p:ph type="sldNum" sz="quarter" idx="5"/>
          </p:nvPr>
        </p:nvSpPr>
        <p:spPr>
          <a:xfrm>
            <a:off x="4143587" y="11725038"/>
            <a:ext cx="3169920" cy="619362"/>
          </a:xfrm>
          <a:prstGeom prst="rect">
            <a:avLst/>
          </a:prstGeom>
        </p:spPr>
        <p:txBody>
          <a:bodyPr vert="horz" lIns="112334" tIns="56167" rIns="112334" bIns="56167" rtlCol="0" anchor="b"/>
          <a:lstStyle>
            <a:lvl1pPr algn="r">
              <a:defRPr sz="1500"/>
            </a:lvl1pPr>
          </a:lstStyle>
          <a:p>
            <a:fld id="{C04F54E5-6730-4F6F-80F0-BE59B09622D2}" type="slidenum">
              <a:rPr lang="en-US" smtClean="0"/>
              <a:t>‹#›</a:t>
            </a:fld>
            <a:endParaRPr lang="en-US"/>
          </a:p>
        </p:txBody>
      </p:sp>
    </p:spTree>
    <p:extLst>
      <p:ext uri="{BB962C8B-B14F-4D97-AF65-F5344CB8AC3E}">
        <p14:creationId xmlns:p14="http://schemas.microsoft.com/office/powerpoint/2010/main" val="3715075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talk</a:t>
            </a:r>
          </a:p>
          <a:p>
            <a:r>
              <a:rPr lang="en-US" dirty="0"/>
              <a:t>Drawing disclaimer</a:t>
            </a:r>
          </a:p>
          <a:p>
            <a:r>
              <a:rPr lang="en-US" dirty="0"/>
              <a:t>Are the architects in the audience? People who do architecture? </a:t>
            </a:r>
          </a:p>
          <a:p>
            <a:r>
              <a:rPr lang="en-US" dirty="0"/>
              <a:t>There are always architects and architecture – intentional or accidental</a:t>
            </a:r>
          </a:p>
          <a:p>
            <a:r>
              <a:rPr lang="en-US" dirty="0"/>
              <a:t>What problem we are trying to solve? EA producing white papers, being detached from developers</a:t>
            </a:r>
          </a:p>
          <a:p>
            <a:r>
              <a:rPr lang="en-US" dirty="0"/>
              <a:t>So what do we want instead? How we make it meaningful?</a:t>
            </a:r>
          </a:p>
          <a:p>
            <a:r>
              <a:rPr lang="en-US" dirty="0"/>
              <a:t>A managed Arch Pattern catalog is one part of the solution. It is not the entire solution</a:t>
            </a:r>
          </a:p>
          <a:p>
            <a:r>
              <a:rPr lang="en-US" sz="1200" kern="1200" dirty="0">
                <a:solidFill>
                  <a:schemeClr val="tx1"/>
                </a:solidFill>
                <a:effectLst/>
                <a:latin typeface="+mn-lt"/>
                <a:ea typeface="+mn-ea"/>
                <a:cs typeface="+mn-cs"/>
              </a:rPr>
              <a:t>Other parts: Architecture Decision Records on which Raju Gandhi, Tuesday - Documenting your architecture. On Wednesday Mark Richards talked about Identifying, measuring, and managing architecture risk.</a:t>
            </a:r>
          </a:p>
          <a:p>
            <a:r>
              <a:rPr lang="en-US" sz="1200" kern="1200" dirty="0">
                <a:solidFill>
                  <a:schemeClr val="tx1"/>
                </a:solidFill>
                <a:effectLst/>
                <a:latin typeface="+mn-lt"/>
                <a:ea typeface="+mn-ea"/>
                <a:cs typeface="+mn-cs"/>
              </a:rPr>
              <a:t>Thursday Venkat on Architectural Decision Records, First define words Architecture and Architect</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1</a:t>
            </a:fld>
            <a:endParaRPr lang="en-US"/>
          </a:p>
        </p:txBody>
      </p:sp>
    </p:spTree>
    <p:extLst>
      <p:ext uri="{BB962C8B-B14F-4D97-AF65-F5344CB8AC3E}">
        <p14:creationId xmlns:p14="http://schemas.microsoft.com/office/powerpoint/2010/main" val="3321071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Surprisingly hard to define</a:t>
            </a:r>
          </a:p>
          <a:p>
            <a:r>
              <a:rPr lang="en-US" sz="1200" kern="1200" dirty="0">
                <a:solidFill>
                  <a:schemeClr val="tx1"/>
                </a:solidFill>
                <a:effectLst/>
                <a:latin typeface="+mn-lt"/>
                <a:ea typeface="+mn-ea"/>
                <a:cs typeface="+mn-cs"/>
              </a:rPr>
              <a:t>This is surprisingly hard to define. We will have try but – spoiler alert – we will not end up with a single concise and universally accepted definition</a:t>
            </a:r>
          </a:p>
          <a:p>
            <a:r>
              <a:rPr lang="en-US" sz="1200" kern="1200" dirty="0">
                <a:solidFill>
                  <a:schemeClr val="tx1"/>
                </a:solidFill>
                <a:effectLst/>
                <a:latin typeface="+mn-lt"/>
                <a:ea typeface="+mn-ea"/>
                <a:cs typeface="+mn-cs"/>
              </a:rPr>
              <a:t>But hopefully we will have a shared understanding of what it is. </a:t>
            </a:r>
          </a:p>
          <a:p>
            <a:r>
              <a:rPr lang="en-US" sz="1200" kern="1200" dirty="0">
                <a:solidFill>
                  <a:schemeClr val="tx1"/>
                </a:solidFill>
                <a:effectLst/>
                <a:latin typeface="+mn-lt"/>
                <a:ea typeface="+mn-ea"/>
                <a:cs typeface="+mn-cs"/>
              </a:rPr>
              <a:t>And that understanding will help us to come up with some actionable steps to solve the problem we are trying to solve – making architecture impactful.</a:t>
            </a:r>
          </a:p>
          <a:p>
            <a:r>
              <a:rPr lang="en-US" sz="1200" kern="1200" dirty="0">
                <a:solidFill>
                  <a:schemeClr val="tx1"/>
                </a:solidFill>
                <a:effectLst/>
                <a:latin typeface="+mn-lt"/>
                <a:ea typeface="+mn-ea"/>
                <a:cs typeface="+mn-cs"/>
              </a:rPr>
              <a:t>How would you define “Architecture”?</a:t>
            </a:r>
          </a:p>
          <a:p>
            <a:r>
              <a:rPr lang="en-US" sz="1200" kern="1200" dirty="0">
                <a:solidFill>
                  <a:schemeClr val="tx1"/>
                </a:solidFill>
                <a:effectLst/>
                <a:latin typeface="+mn-lt"/>
                <a:ea typeface="+mn-ea"/>
                <a:cs typeface="+mn-cs"/>
              </a:rPr>
              <a:t>I am not going to invent my own definition of Architecture, instead I will take advantage of the efforts of others in this space, appealing to authority, so to speak.</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C04F54E5-6730-4F6F-80F0-BE59B09622D2}" type="slidenum">
              <a:rPr lang="en-US" smtClean="0"/>
              <a:t>2</a:t>
            </a:fld>
            <a:endParaRPr lang="en-US"/>
          </a:p>
        </p:txBody>
      </p:sp>
    </p:spTree>
    <p:extLst>
      <p:ext uri="{BB962C8B-B14F-4D97-AF65-F5344CB8AC3E}">
        <p14:creationId xmlns:p14="http://schemas.microsoft.com/office/powerpoint/2010/main" val="472948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We’ll start with the highest authority – Wikipedia.</a:t>
            </a:r>
          </a:p>
          <a:p>
            <a:r>
              <a:rPr lang="en-US" sz="1200" kern="1200" dirty="0">
                <a:solidFill>
                  <a:schemeClr val="tx1"/>
                </a:solidFill>
                <a:effectLst/>
                <a:latin typeface="+mn-lt"/>
                <a:ea typeface="+mn-ea"/>
                <a:cs typeface="+mn-cs"/>
              </a:rPr>
              <a:t>What they call structures we call models</a:t>
            </a:r>
          </a:p>
          <a:p>
            <a:r>
              <a:rPr lang="en-US" sz="1200" kern="1200" dirty="0">
                <a:solidFill>
                  <a:schemeClr val="tx1"/>
                </a:solidFill>
                <a:effectLst/>
                <a:latin typeface="+mn-lt"/>
                <a:ea typeface="+mn-ea"/>
                <a:cs typeface="+mn-cs"/>
              </a:rPr>
              <a:t>needed to reason about a software system. </a:t>
            </a:r>
          </a:p>
          <a:p>
            <a:r>
              <a:rPr lang="en-US" sz="1200" kern="1200" dirty="0">
                <a:solidFill>
                  <a:schemeClr val="tx1"/>
                </a:solidFill>
                <a:effectLst/>
                <a:latin typeface="+mn-lt"/>
                <a:ea typeface="+mn-ea"/>
                <a:cs typeface="+mn-cs"/>
              </a:rPr>
              <a:t>This is not super helpful and can describe any number of models of a system or of a domain at any level of detail.</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3</a:t>
            </a:fld>
            <a:endParaRPr lang="en-US"/>
          </a:p>
        </p:txBody>
      </p:sp>
    </p:spTree>
    <p:extLst>
      <p:ext uri="{BB962C8B-B14F-4D97-AF65-F5344CB8AC3E}">
        <p14:creationId xmlns:p14="http://schemas.microsoft.com/office/powerpoint/2010/main" val="3731241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doesn’t sound like an improvement, it helps in two ways. We only care about the most important aspects of a system. Also, there is no universal rigorous prescription of how we should capture it. So we can be agile about what artifacts we create and fine tune them to our needs. But we still need to figure out how to tell what the most important aspects are. </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4</a:t>
            </a:fld>
            <a:endParaRPr lang="en-US"/>
          </a:p>
        </p:txBody>
      </p:sp>
    </p:spTree>
    <p:extLst>
      <p:ext uri="{BB962C8B-B14F-4D97-AF65-F5344CB8AC3E}">
        <p14:creationId xmlns:p14="http://schemas.microsoft.com/office/powerpoint/2010/main" val="34523666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architecture as a shared hallucination (which to be fair can apply to any model)</a:t>
            </a:r>
          </a:p>
          <a:p>
            <a:r>
              <a:rPr lang="en-US" sz="1200" kern="1200" dirty="0">
                <a:solidFill>
                  <a:schemeClr val="tx1"/>
                </a:solidFill>
                <a:effectLst/>
                <a:latin typeface="+mn-lt"/>
                <a:ea typeface="+mn-ea"/>
                <a:cs typeface="+mn-cs"/>
              </a:rPr>
              <a:t>The form it takes is a set of interlocking models, which capture </a:t>
            </a:r>
          </a:p>
          <a:p>
            <a:pPr lvl="0"/>
            <a:r>
              <a:rPr lang="en-US" sz="1200" kern="1200" dirty="0">
                <a:solidFill>
                  <a:schemeClr val="tx1"/>
                </a:solidFill>
                <a:effectLst/>
                <a:latin typeface="+mn-lt"/>
                <a:ea typeface="+mn-ea"/>
                <a:cs typeface="+mn-cs"/>
              </a:rPr>
              <a:t>Significant design decisions and rationale behind them; Patterns ; Cross cutting concerns; Tribal memory </a:t>
            </a:r>
          </a:p>
          <a:p>
            <a:r>
              <a:rPr lang="en-US" sz="1200" kern="1200" dirty="0">
                <a:solidFill>
                  <a:schemeClr val="tx1"/>
                </a:solidFill>
                <a:effectLst/>
                <a:latin typeface="+mn-lt"/>
                <a:ea typeface="+mn-ea"/>
                <a:cs typeface="+mn-cs"/>
              </a:rPr>
              <a:t>The word “Observable” important – it means we can test models and confirm that they reflect the reality.</a:t>
            </a:r>
          </a:p>
          <a:p>
            <a:r>
              <a:rPr lang="en-US" sz="1200" kern="1200" dirty="0">
                <a:solidFill>
                  <a:schemeClr val="tx1"/>
                </a:solidFill>
                <a:effectLst/>
                <a:latin typeface="+mn-lt"/>
                <a:ea typeface="+mn-ea"/>
                <a:cs typeface="+mn-cs"/>
              </a:rPr>
              <a:t>Starting to see some concrete features of architecture listed here.</a:t>
            </a:r>
          </a:p>
          <a:p>
            <a:r>
              <a:rPr lang="en-US" sz="1200" kern="1200" dirty="0">
                <a:solidFill>
                  <a:schemeClr val="tx1"/>
                </a:solidFill>
                <a:effectLst/>
                <a:latin typeface="+mn-lt"/>
                <a:ea typeface="+mn-ea"/>
                <a:cs typeface="+mn-cs"/>
              </a:rPr>
              <a:t>We also see what form architectural artifacts take – as a set of interlocking models</a:t>
            </a:r>
          </a:p>
          <a:p>
            <a:r>
              <a:rPr lang="en-US" sz="1200" kern="1200" dirty="0">
                <a:solidFill>
                  <a:schemeClr val="tx1"/>
                </a:solidFill>
                <a:effectLst/>
                <a:latin typeface="+mn-lt"/>
                <a:ea typeface="+mn-ea"/>
                <a:cs typeface="+mn-cs"/>
              </a:rPr>
              <a:t>Why are those things referred to as “hallucinations”, though? Because models are not real,</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5</a:t>
            </a:fld>
            <a:endParaRPr lang="en-US"/>
          </a:p>
        </p:txBody>
      </p:sp>
    </p:spTree>
    <p:extLst>
      <p:ext uri="{BB962C8B-B14F-4D97-AF65-F5344CB8AC3E}">
        <p14:creationId xmlns:p14="http://schemas.microsoft.com/office/powerpoint/2010/main" val="9547127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Models </a:t>
            </a:r>
            <a:r>
              <a:rPr lang="en-US" sz="1200" b="1" kern="1200" dirty="0">
                <a:solidFill>
                  <a:schemeClr val="tx1"/>
                </a:solidFill>
                <a:effectLst/>
                <a:latin typeface="+mn-lt"/>
                <a:ea typeface="+mn-ea"/>
                <a:cs typeface="+mn-cs"/>
              </a:rPr>
              <a:t>are not</a:t>
            </a:r>
            <a:r>
              <a:rPr lang="en-US" sz="1200" kern="1200" dirty="0">
                <a:solidFill>
                  <a:schemeClr val="tx1"/>
                </a:solidFill>
                <a:effectLst/>
                <a:latin typeface="+mn-lt"/>
                <a:ea typeface="+mn-ea"/>
                <a:cs typeface="+mn-cs"/>
              </a:rPr>
              <a:t> the thing that we are modeling, Why do we need models?  As they say, “All models are wrong, but some are useful”. </a:t>
            </a:r>
          </a:p>
          <a:p>
            <a:r>
              <a:rPr lang="en-US" sz="1200" kern="1200" dirty="0">
                <a:solidFill>
                  <a:schemeClr val="tx1"/>
                </a:solidFill>
                <a:effectLst/>
                <a:latin typeface="+mn-lt"/>
                <a:ea typeface="+mn-ea"/>
                <a:cs typeface="+mn-cs"/>
              </a:rPr>
              <a:t>They say, in a software system the code is the ultimate truth.</a:t>
            </a:r>
          </a:p>
          <a:p>
            <a:r>
              <a:rPr lang="en-US" sz="1200" kern="1200" dirty="0">
                <a:solidFill>
                  <a:schemeClr val="tx1"/>
                </a:solidFill>
                <a:effectLst/>
                <a:latin typeface="+mn-lt"/>
                <a:ea typeface="+mn-ea"/>
                <a:cs typeface="+mn-cs"/>
              </a:rPr>
              <a:t>The code is the truth, but it’s not the whole truth. The code does not capture the story of how we got there. Also, the code is comprehensive. But it is bad for communicating important aspects of the system.</a:t>
            </a:r>
          </a:p>
          <a:p>
            <a:r>
              <a:rPr lang="en-US" sz="1200" kern="1200" dirty="0">
                <a:solidFill>
                  <a:schemeClr val="tx1"/>
                </a:solidFill>
                <a:effectLst/>
                <a:latin typeface="+mn-lt"/>
                <a:ea typeface="+mn-ea"/>
                <a:cs typeface="+mn-cs"/>
              </a:rPr>
              <a:t>Communication is important, comprehensiveness gets in the way. Comprehensiveness is the enemy of comprehensibility. </a:t>
            </a:r>
          </a:p>
          <a:p>
            <a:r>
              <a:rPr lang="en-US" sz="1200" kern="1200" dirty="0">
                <a:solidFill>
                  <a:schemeClr val="tx1"/>
                </a:solidFill>
                <a:effectLst/>
                <a:latin typeface="+mn-lt"/>
                <a:ea typeface="+mn-ea"/>
                <a:cs typeface="+mn-cs"/>
              </a:rPr>
              <a:t>So, unlike raw code, models let us “Achieve amplification [of important elements] through simplifications”</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6</a:t>
            </a:fld>
            <a:endParaRPr lang="en-US"/>
          </a:p>
        </p:txBody>
      </p:sp>
    </p:spTree>
    <p:extLst>
      <p:ext uri="{BB962C8B-B14F-4D97-AF65-F5344CB8AC3E}">
        <p14:creationId xmlns:p14="http://schemas.microsoft.com/office/powerpoint/2010/main" val="8855504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it is very important to have explicit shared models, and this is not just limited to architecture, but to any model.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reason is that whether you have an explicit model or not there are always models.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And it is important to have one and only one instance of each kind of model, otherwise you will have as many instances of the model as there are participants. Possibly even more.</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7</a:t>
            </a:fld>
            <a:endParaRPr lang="en-US"/>
          </a:p>
        </p:txBody>
      </p:sp>
    </p:spTree>
    <p:extLst>
      <p:ext uri="{BB962C8B-B14F-4D97-AF65-F5344CB8AC3E}">
        <p14:creationId xmlns:p14="http://schemas.microsoft.com/office/powerpoint/2010/main" val="3354383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6EC55-60ED-A15C-0026-23953B8A9B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958017-817E-32CD-352D-7889EF401F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43DF99-7E06-E683-60E4-AFA869A3D0B3}"/>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does not define Architecture per se, but does mention an important concept of “Conceptual Integrity” of a system.</a:t>
            </a:r>
          </a:p>
          <a:p>
            <a:r>
              <a:rPr lang="en-US" sz="1200" kern="1200" dirty="0">
                <a:solidFill>
                  <a:schemeClr val="tx1"/>
                </a:solidFill>
                <a:effectLst/>
                <a:latin typeface="+mn-lt"/>
                <a:ea typeface="+mn-ea"/>
                <a:cs typeface="+mn-cs"/>
              </a:rPr>
              <a:t>He calls conceptual Integrity the most important consideration in system design.</a:t>
            </a:r>
          </a:p>
          <a:p>
            <a:r>
              <a:rPr lang="en-US" sz="1200" kern="1200" dirty="0">
                <a:solidFill>
                  <a:schemeClr val="tx1"/>
                </a:solidFill>
                <a:effectLst/>
                <a:latin typeface="+mn-lt"/>
                <a:ea typeface="+mn-ea"/>
                <a:cs typeface="+mn-cs"/>
              </a:rPr>
              <a:t>It is better to have a system to reflect one set of design ideas, than to have a system that contains many good but independent and uncoordinated ideas.</a:t>
            </a:r>
          </a:p>
          <a:p>
            <a:r>
              <a:rPr lang="en-US" sz="1200" kern="1200" dirty="0">
                <a:solidFill>
                  <a:schemeClr val="tx1"/>
                </a:solidFill>
                <a:effectLst/>
                <a:latin typeface="+mn-lt"/>
                <a:ea typeface="+mn-ea"/>
                <a:cs typeface="+mn-cs"/>
              </a:rPr>
              <a:t>A clean, elegant programming product must present to each of its users a coherent mental model of the application. </a:t>
            </a:r>
          </a:p>
          <a:p>
            <a:r>
              <a:rPr lang="en-US" sz="1200" kern="1200" dirty="0">
                <a:solidFill>
                  <a:schemeClr val="tx1"/>
                </a:solidFill>
                <a:effectLst/>
                <a:latin typeface="+mn-lt"/>
                <a:ea typeface="+mn-ea"/>
                <a:cs typeface="+mn-cs"/>
              </a:rPr>
              <a:t>And architects are the ones who drive the development of practices and processes and frameworks that establish conceptual integrity.</a:t>
            </a:r>
          </a:p>
          <a:p>
            <a:pPr marL="0" indent="0">
              <a:buNone/>
            </a:pPr>
            <a:endParaRPr lang="en-US" i="0" dirty="0"/>
          </a:p>
        </p:txBody>
      </p:sp>
      <p:sp>
        <p:nvSpPr>
          <p:cNvPr id="4" name="Slide Number Placeholder 3">
            <a:extLst>
              <a:ext uri="{FF2B5EF4-FFF2-40B4-BE49-F238E27FC236}">
                <a16:creationId xmlns:a16="http://schemas.microsoft.com/office/drawing/2014/main" id="{3C7C8A3B-12DB-DE76-A4A4-9640BC0B8E5C}"/>
              </a:ext>
            </a:extLst>
          </p:cNvPr>
          <p:cNvSpPr>
            <a:spLocks noGrp="1"/>
          </p:cNvSpPr>
          <p:nvPr>
            <p:ph type="sldNum" sz="quarter" idx="5"/>
          </p:nvPr>
        </p:nvSpPr>
        <p:spPr/>
        <p:txBody>
          <a:bodyPr/>
          <a:lstStyle/>
          <a:p>
            <a:fld id="{C04F54E5-6730-4F6F-80F0-BE59B09622D2}" type="slidenum">
              <a:rPr lang="en-US" smtClean="0"/>
              <a:t>8</a:t>
            </a:fld>
            <a:endParaRPr lang="en-US"/>
          </a:p>
        </p:txBody>
      </p:sp>
    </p:spTree>
    <p:extLst>
      <p:ext uri="{BB962C8B-B14F-4D97-AF65-F5344CB8AC3E}">
        <p14:creationId xmlns:p14="http://schemas.microsoft.com/office/powerpoint/2010/main" val="662895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again talks about shared understanding, a shared understanding of the system design.</a:t>
            </a:r>
          </a:p>
          <a:p>
            <a:r>
              <a:rPr lang="en-US" sz="1200" kern="1200" dirty="0">
                <a:solidFill>
                  <a:schemeClr val="tx1"/>
                </a:solidFill>
                <a:effectLst/>
                <a:latin typeface="+mn-lt"/>
                <a:ea typeface="+mn-ea"/>
                <a:cs typeface="+mn-cs"/>
              </a:rPr>
              <a:t>[definition on slide] This understanding includes how the system is divided into components and how the components interact.</a:t>
            </a:r>
          </a:p>
          <a:p>
            <a:r>
              <a:rPr lang="en-US" sz="1200" kern="1200" dirty="0">
                <a:solidFill>
                  <a:schemeClr val="tx1"/>
                </a:solidFill>
                <a:effectLst/>
                <a:latin typeface="+mn-lt"/>
                <a:ea typeface="+mn-ea"/>
                <a:cs typeface="+mn-cs"/>
              </a:rPr>
              <a:t>Whether something is part of the architecture is entirely based on whether the developers think it is important</a:t>
            </a:r>
          </a:p>
          <a:p>
            <a:r>
              <a:rPr lang="en-US" sz="1200" kern="1200" dirty="0">
                <a:solidFill>
                  <a:schemeClr val="tx1"/>
                </a:solidFill>
                <a:effectLst/>
                <a:latin typeface="+mn-lt"/>
                <a:ea typeface="+mn-ea"/>
                <a:cs typeface="+mn-cs"/>
              </a:rPr>
              <a:t>Architecture is a </a:t>
            </a:r>
            <a:r>
              <a:rPr lang="en-US" sz="1200" b="1" kern="1200" dirty="0">
                <a:solidFill>
                  <a:schemeClr val="tx1"/>
                </a:solidFill>
                <a:effectLst/>
                <a:latin typeface="+mn-lt"/>
                <a:ea typeface="+mn-ea"/>
                <a:cs typeface="+mn-cs"/>
              </a:rPr>
              <a:t>social construct</a:t>
            </a:r>
            <a:r>
              <a:rPr lang="en-US" sz="1200" kern="1200" dirty="0">
                <a:solidFill>
                  <a:schemeClr val="tx1"/>
                </a:solidFill>
                <a:effectLst/>
                <a:latin typeface="+mn-lt"/>
                <a:ea typeface="+mn-ea"/>
                <a:cs typeface="+mn-cs"/>
              </a:rPr>
              <a:t> because it doesn’t just depend on the software, but on the group consensus on what parts of the software are  considered important.</a:t>
            </a:r>
          </a:p>
          <a:p>
            <a:r>
              <a:rPr lang="en-US" sz="1200" kern="1200" dirty="0">
                <a:solidFill>
                  <a:schemeClr val="tx1"/>
                </a:solidFill>
                <a:effectLst/>
                <a:latin typeface="+mn-lt"/>
                <a:ea typeface="+mn-ea"/>
                <a:cs typeface="+mn-cs"/>
              </a:rPr>
              <a:t>So, we finally have a way to figure out what is important. It’s entirely based on whether the developers think it is important.</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9</a:t>
            </a:fld>
            <a:endParaRPr lang="en-US"/>
          </a:p>
        </p:txBody>
      </p:sp>
    </p:spTree>
    <p:extLst>
      <p:ext uri="{BB962C8B-B14F-4D97-AF65-F5344CB8AC3E}">
        <p14:creationId xmlns:p14="http://schemas.microsoft.com/office/powerpoint/2010/main" val="7349624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While we don’t have a universally accepted definition of software architecture, we have seen some convergence of different definitions, and we have some concrete ideas about how architecture manifests itself:</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 a set of artifacts capturing a shared understanding of what’s important and the rationale behind it.</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10</a:t>
            </a:fld>
            <a:endParaRPr lang="en-US"/>
          </a:p>
        </p:txBody>
      </p:sp>
    </p:spTree>
    <p:extLst>
      <p:ext uri="{BB962C8B-B14F-4D97-AF65-F5344CB8AC3E}">
        <p14:creationId xmlns:p14="http://schemas.microsoft.com/office/powerpoint/2010/main" val="2365344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We’ve talked a lot about architecture; we should talk about architects. Starting with “What Is Architect?” But also “Why Is Architect?”. And “Where Is Architect”.</a:t>
            </a:r>
          </a:p>
          <a:p>
            <a:r>
              <a:rPr lang="en-US" sz="1200" kern="1200" dirty="0">
                <a:solidFill>
                  <a:schemeClr val="tx1"/>
                </a:solidFill>
                <a:effectLst/>
                <a:latin typeface="+mn-lt"/>
                <a:ea typeface="+mn-ea"/>
                <a:cs typeface="+mn-cs"/>
              </a:rPr>
              <a:t>Architects develop practices and processes and ways of collaborating that create and maintain conceptual integrity.</a:t>
            </a:r>
          </a:p>
          <a:p>
            <a:r>
              <a:rPr lang="en-US" sz="1200" kern="1200" dirty="0">
                <a:solidFill>
                  <a:schemeClr val="tx1"/>
                </a:solidFill>
                <a:effectLst/>
                <a:latin typeface="+mn-lt"/>
                <a:ea typeface="+mn-ea"/>
                <a:cs typeface="+mn-cs"/>
              </a:rPr>
              <a:t>Architects help organize our thinking in a way that allows us to solve problems</a:t>
            </a:r>
          </a:p>
          <a:p>
            <a:r>
              <a:rPr lang="en-US" sz="1200" kern="1200" dirty="0">
                <a:solidFill>
                  <a:schemeClr val="tx1"/>
                </a:solidFill>
                <a:effectLst/>
                <a:latin typeface="+mn-lt"/>
                <a:ea typeface="+mn-ea"/>
                <a:cs typeface="+mn-cs"/>
              </a:rPr>
              <a:t>I like Martin Fowler’s definition: “</a:t>
            </a:r>
            <a:r>
              <a:rPr lang="en-US" sz="1200" i="1" kern="1200" dirty="0">
                <a:solidFill>
                  <a:schemeClr val="tx1"/>
                </a:solidFill>
                <a:effectLst/>
                <a:latin typeface="+mn-lt"/>
                <a:ea typeface="+mn-ea"/>
                <a:cs typeface="+mn-cs"/>
              </a:rPr>
              <a:t>guide</a:t>
            </a:r>
            <a:r>
              <a:rPr lang="en-US" sz="1200" kern="1200" dirty="0">
                <a:solidFill>
                  <a:schemeClr val="tx1"/>
                </a:solidFill>
                <a:effectLst/>
                <a:latin typeface="+mn-lt"/>
                <a:ea typeface="+mn-ea"/>
                <a:cs typeface="+mn-cs"/>
              </a:rPr>
              <a:t>, as in mountaineering. A guide is a more experienced and skillful team member, who teaches other team members to better fend for themselves yet is always there for the really tricky stuff.”</a:t>
            </a:r>
          </a:p>
          <a:p>
            <a:r>
              <a:rPr lang="en-US" sz="1200" kern="1200" dirty="0">
                <a:solidFill>
                  <a:schemeClr val="tx1"/>
                </a:solidFill>
                <a:effectLst/>
                <a:latin typeface="+mn-lt"/>
                <a:ea typeface="+mn-ea"/>
                <a:cs typeface="+mn-cs"/>
              </a:rPr>
              <a:t>An important aspect of architect’s contribution is codifying the storytelling.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11</a:t>
            </a:fld>
            <a:endParaRPr lang="en-US"/>
          </a:p>
        </p:txBody>
      </p:sp>
    </p:spTree>
    <p:extLst>
      <p:ext uri="{BB962C8B-B14F-4D97-AF65-F5344CB8AC3E}">
        <p14:creationId xmlns:p14="http://schemas.microsoft.com/office/powerpoint/2010/main" val="33065362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An architect is a storyteller.</a:t>
            </a:r>
          </a:p>
          <a:p>
            <a:r>
              <a:rPr lang="en-US" sz="1200" kern="1200" dirty="0">
                <a:solidFill>
                  <a:schemeClr val="tx1"/>
                </a:solidFill>
                <a:effectLst/>
                <a:latin typeface="+mn-lt"/>
                <a:ea typeface="+mn-ea"/>
                <a:cs typeface="+mn-cs"/>
              </a:rPr>
              <a:t>The storytellers … tell stories. Unless the stories’ semantics is preserved, it can evaporate. All that remains is a shell of a story or a myth.</a:t>
            </a:r>
          </a:p>
          <a:p>
            <a:r>
              <a:rPr lang="en-US" sz="1200" kern="1200" dirty="0">
                <a:solidFill>
                  <a:schemeClr val="tx1"/>
                </a:solidFill>
                <a:effectLst/>
                <a:latin typeface="+mn-lt"/>
                <a:ea typeface="+mn-ea"/>
                <a:cs typeface="+mn-cs"/>
              </a:rPr>
              <a:t>Developing software involves storytelling. Most architectural information is preserved in tribal memory.</a:t>
            </a:r>
          </a:p>
          <a:p>
            <a:r>
              <a:rPr lang="en-US" sz="1200" kern="1200" dirty="0">
                <a:solidFill>
                  <a:schemeClr val="tx1"/>
                </a:solidFill>
                <a:effectLst/>
                <a:latin typeface="+mn-lt"/>
                <a:ea typeface="+mn-ea"/>
                <a:cs typeface="+mn-cs"/>
              </a:rPr>
              <a:t>Software is truth, but raw naked running software lacks creation stories: why it is the way it is </a:t>
            </a:r>
          </a:p>
          <a:p>
            <a:r>
              <a:rPr lang="en-US" sz="1200" kern="1200" dirty="0">
                <a:solidFill>
                  <a:schemeClr val="tx1"/>
                </a:solidFill>
                <a:effectLst/>
                <a:latin typeface="+mn-lt"/>
                <a:ea typeface="+mn-ea"/>
                <a:cs typeface="+mn-cs"/>
              </a:rPr>
              <a:t>… heads of story tellers (architects, sr. developers, etc.) Except for a simple project, one person does not know the whole story. Often these stories are lost to time. Most organizations do not try to preserve and communicate project history – essential design decisions and design patterns.</a:t>
            </a:r>
          </a:p>
          <a:p>
            <a:r>
              <a:rPr lang="en-US" sz="1200" kern="1200" dirty="0">
                <a:solidFill>
                  <a:schemeClr val="tx1"/>
                </a:solidFill>
                <a:effectLst/>
                <a:latin typeface="+mn-lt"/>
                <a:ea typeface="+mn-ea"/>
                <a:cs typeface="+mn-cs"/>
              </a:rPr>
              <a:t>Then the loss of information steadily increases; people are resorted to studying systems’ entrails to discover the underlying truth.</a:t>
            </a:r>
          </a:p>
          <a:p>
            <a:r>
              <a:rPr lang="en-US" sz="1200" kern="1200" dirty="0">
                <a:solidFill>
                  <a:schemeClr val="tx1"/>
                </a:solidFill>
                <a:effectLst/>
                <a:latin typeface="+mn-lt"/>
                <a:ea typeface="+mn-ea"/>
                <a:cs typeface="+mn-cs"/>
              </a:rPr>
              <a:t>As today’s code becomes legacy code preserving these stories become increasingly important.</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12</a:t>
            </a:fld>
            <a:endParaRPr lang="en-US"/>
          </a:p>
        </p:txBody>
      </p:sp>
    </p:spTree>
    <p:extLst>
      <p:ext uri="{BB962C8B-B14F-4D97-AF65-F5344CB8AC3E}">
        <p14:creationId xmlns:p14="http://schemas.microsoft.com/office/powerpoint/2010/main" val="32578997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Where do we find architects? How do we deploy and scale architects across an organization? </a:t>
            </a:r>
          </a:p>
          <a:p>
            <a:r>
              <a:rPr lang="en-US" sz="1200" kern="1200" dirty="0">
                <a:solidFill>
                  <a:schemeClr val="tx1"/>
                </a:solidFill>
                <a:effectLst/>
                <a:latin typeface="+mn-lt"/>
                <a:ea typeface="+mn-ea"/>
                <a:cs typeface="+mn-cs"/>
              </a:rPr>
              <a:t>Depending on the org size and maturity and level of risk that can be tolerated, different levels of ceremony and kinds of organizational structure. </a:t>
            </a:r>
          </a:p>
          <a:p>
            <a:r>
              <a:rPr lang="en-US" sz="1200" kern="1200" dirty="0">
                <a:solidFill>
                  <a:schemeClr val="tx1"/>
                </a:solidFill>
                <a:effectLst/>
                <a:latin typeface="+mn-lt"/>
                <a:ea typeface="+mn-ea"/>
                <a:cs typeface="+mn-cs"/>
              </a:rPr>
              <a:t>Regardless, important that there are clear and simple boundaries between areas of accountability. </a:t>
            </a:r>
          </a:p>
          <a:p>
            <a:pPr lvl="0"/>
            <a:r>
              <a:rPr lang="en-US" sz="1200" kern="1200" dirty="0">
                <a:solidFill>
                  <a:schemeClr val="tx1"/>
                </a:solidFill>
                <a:effectLst/>
                <a:latin typeface="+mn-lt"/>
                <a:ea typeface="+mn-ea"/>
                <a:cs typeface="+mn-cs"/>
              </a:rPr>
              <a:t>…</a:t>
            </a:r>
          </a:p>
          <a:p>
            <a:pPr lvl="0"/>
            <a:r>
              <a:rPr lang="en-US" sz="1200" kern="1200" dirty="0">
                <a:solidFill>
                  <a:schemeClr val="tx1"/>
                </a:solidFill>
                <a:effectLst/>
                <a:latin typeface="+mn-lt"/>
                <a:ea typeface="+mn-ea"/>
                <a:cs typeface="+mn-cs"/>
              </a:rPr>
              <a:t>The Architecture Control Board – very large systems, systems with heavy economic weight, made up of other systems </a:t>
            </a:r>
          </a:p>
          <a:p>
            <a:r>
              <a:rPr lang="en-US" sz="1200" kern="1200" dirty="0">
                <a:solidFill>
                  <a:schemeClr val="tx1"/>
                </a:solidFill>
                <a:effectLst/>
                <a:latin typeface="+mn-lt"/>
                <a:ea typeface="+mn-ea"/>
                <a:cs typeface="+mn-cs"/>
              </a:rPr>
              <a:t>Risk embracing -&gt; risk resistance</a:t>
            </a:r>
          </a:p>
          <a:p>
            <a:r>
              <a:rPr lang="en-US" sz="1200" kern="1200" dirty="0">
                <a:solidFill>
                  <a:schemeClr val="tx1"/>
                </a:solidFill>
                <a:effectLst/>
                <a:latin typeface="+mn-lt"/>
                <a:ea typeface="+mn-ea"/>
                <a:cs typeface="+mn-cs"/>
              </a:rPr>
              <a:t>So the architectural org could mirror the structure of a large system, where you have people accountable for the integrity of a subsystem; and can also mirror the org structure.</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13</a:t>
            </a:fld>
            <a:endParaRPr lang="en-US"/>
          </a:p>
        </p:txBody>
      </p:sp>
    </p:spTree>
    <p:extLst>
      <p:ext uri="{BB962C8B-B14F-4D97-AF65-F5344CB8AC3E}">
        <p14:creationId xmlns:p14="http://schemas.microsoft.com/office/powerpoint/2010/main" val="31457081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people doing architecture form recursive structure.</a:t>
            </a:r>
          </a:p>
          <a:p>
            <a:r>
              <a:rPr lang="en-US" sz="1200" kern="1200" dirty="0">
                <a:solidFill>
                  <a:schemeClr val="tx1"/>
                </a:solidFill>
                <a:effectLst/>
                <a:latin typeface="+mn-lt"/>
                <a:ea typeface="+mn-ea"/>
                <a:cs typeface="+mn-cs"/>
              </a:rPr>
              <a:t>important that there is a bidirectional flow of communication going on =&gt; keeping this repository of shared understating alive, relevant, and evolving.</a:t>
            </a:r>
          </a:p>
          <a:p>
            <a:r>
              <a:rPr lang="en-US" sz="1200" kern="1200" dirty="0">
                <a:solidFill>
                  <a:schemeClr val="tx1"/>
                </a:solidFill>
                <a:effectLst/>
                <a:latin typeface="+mn-lt"/>
                <a:ea typeface="+mn-ea"/>
                <a:cs typeface="+mn-cs"/>
              </a:rPr>
              <a:t>Here architecture is becoming more decentralized The role of architects is evolving; teams are involved in their architectural decisions. This doesn’t make architects less valuable and certainly doesn’t mean we don’t need architects. </a:t>
            </a:r>
          </a:p>
          <a:p>
            <a:r>
              <a:rPr lang="en-US" sz="1200" kern="1200" dirty="0">
                <a:solidFill>
                  <a:schemeClr val="tx1"/>
                </a:solidFill>
                <a:effectLst/>
                <a:latin typeface="+mn-lt"/>
                <a:ea typeface="+mn-ea"/>
                <a:cs typeface="+mn-cs"/>
              </a:rPr>
              <a:t>Not loss of control but a sign of trust and an opportunity to have broader impact.</a:t>
            </a:r>
          </a:p>
          <a:p>
            <a:r>
              <a:rPr lang="en-US" sz="1200" kern="1200" dirty="0">
                <a:solidFill>
                  <a:schemeClr val="tx1"/>
                </a:solidFill>
                <a:effectLst/>
                <a:latin typeface="+mn-lt"/>
                <a:ea typeface="+mn-ea"/>
                <a:cs typeface="+mn-cs"/>
              </a:rPr>
              <a:t>And this shared understating that is captured and codified becomes critical.</a:t>
            </a:r>
          </a:p>
          <a:p>
            <a:r>
              <a:rPr lang="en-US" sz="1200" kern="1200" dirty="0">
                <a:solidFill>
                  <a:schemeClr val="tx1"/>
                </a:solidFill>
                <a:effectLst/>
                <a:latin typeface="+mn-lt"/>
                <a:ea typeface="+mn-ea"/>
                <a:cs typeface="+mn-cs"/>
              </a:rPr>
              <a:t>We would like to have the same solutions for the same problems in the same contexts.</a:t>
            </a:r>
          </a:p>
          <a:p>
            <a:r>
              <a:rPr lang="en-US" sz="1200" kern="1200" dirty="0">
                <a:solidFill>
                  <a:schemeClr val="tx1"/>
                </a:solidFill>
                <a:effectLst/>
                <a:latin typeface="+mn-lt"/>
                <a:ea typeface="+mn-ea"/>
                <a:cs typeface="+mn-cs"/>
              </a:rPr>
              <a:t>To evolve systems, we need to understand the trade-offs and the context and the compromises.</a:t>
            </a:r>
          </a:p>
          <a:p>
            <a:r>
              <a:rPr lang="en-US" sz="1200" kern="1200" dirty="0">
                <a:solidFill>
                  <a:schemeClr val="tx1"/>
                </a:solidFill>
                <a:effectLst/>
                <a:latin typeface="+mn-lt"/>
                <a:ea typeface="+mn-ea"/>
                <a:cs typeface="+mn-cs"/>
              </a:rPr>
              <a:t>the tribal memory - we need to write down the reasons for doing things</a:t>
            </a:r>
          </a:p>
          <a:p>
            <a:pPr lvl="0"/>
            <a:r>
              <a:rPr lang="en-US" sz="1200" kern="1200" dirty="0">
                <a:solidFill>
                  <a:schemeClr val="tx1"/>
                </a:solidFill>
                <a:effectLst/>
                <a:latin typeface="+mn-lt"/>
                <a:ea typeface="+mn-ea"/>
                <a:cs typeface="+mn-cs"/>
              </a:rPr>
              <a:t>What is the rationale behind the design decisions?</a:t>
            </a:r>
          </a:p>
          <a:p>
            <a:pPr lvl="0"/>
            <a:r>
              <a:rPr lang="en-US" sz="1200" kern="1200" dirty="0">
                <a:solidFill>
                  <a:schemeClr val="tx1"/>
                </a:solidFill>
                <a:effectLst/>
                <a:latin typeface="+mn-lt"/>
                <a:ea typeface="+mn-ea"/>
                <a:cs typeface="+mn-cs"/>
              </a:rPr>
              <a:t>Why we chose this, why we didn’t choose this?</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14</a:t>
            </a:fld>
            <a:endParaRPr lang="en-US"/>
          </a:p>
        </p:txBody>
      </p:sp>
    </p:spTree>
    <p:extLst>
      <p:ext uri="{BB962C8B-B14F-4D97-AF65-F5344CB8AC3E}">
        <p14:creationId xmlns:p14="http://schemas.microsoft.com/office/powerpoint/2010/main" val="30028998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how do we capture this shared understanding and these lessons learned?</a:t>
            </a:r>
          </a:p>
          <a:p>
            <a:r>
              <a:rPr lang="en-US" sz="1200" kern="1200" dirty="0">
                <a:solidFill>
                  <a:schemeClr val="tx1"/>
                </a:solidFill>
                <a:effectLst/>
                <a:latin typeface="+mn-lt"/>
                <a:ea typeface="+mn-ea"/>
                <a:cs typeface="+mn-cs"/>
              </a:rPr>
              <a:t>Historically organizations attempt to capture it in three ways:</a:t>
            </a:r>
          </a:p>
          <a:p>
            <a:r>
              <a:rPr lang="en-US" sz="1200" kern="1200" dirty="0">
                <a:solidFill>
                  <a:schemeClr val="tx1"/>
                </a:solidFill>
                <a:effectLst/>
                <a:latin typeface="+mn-lt"/>
                <a:ea typeface="+mn-ea"/>
                <a:cs typeface="+mn-cs"/>
              </a:rPr>
              <a:t>Standards</a:t>
            </a:r>
          </a:p>
          <a:p>
            <a:r>
              <a:rPr lang="en-US" sz="1200" kern="1200" dirty="0">
                <a:solidFill>
                  <a:schemeClr val="tx1"/>
                </a:solidFill>
                <a:effectLst/>
                <a:latin typeface="+mn-lt"/>
                <a:ea typeface="+mn-ea"/>
                <a:cs typeface="+mn-cs"/>
              </a:rPr>
              <a:t>Biases</a:t>
            </a:r>
          </a:p>
          <a:p>
            <a:r>
              <a:rPr lang="en-US" sz="1200" kern="1200" dirty="0">
                <a:solidFill>
                  <a:schemeClr val="tx1"/>
                </a:solidFill>
                <a:effectLst/>
                <a:latin typeface="+mn-lt"/>
                <a:ea typeface="+mn-ea"/>
                <a:cs typeface="+mn-cs"/>
              </a:rPr>
              <a:t>Patterns</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15</a:t>
            </a:fld>
            <a:endParaRPr lang="en-US"/>
          </a:p>
        </p:txBody>
      </p:sp>
    </p:spTree>
    <p:extLst>
      <p:ext uri="{BB962C8B-B14F-4D97-AF65-F5344CB8AC3E}">
        <p14:creationId xmlns:p14="http://schemas.microsoft.com/office/powerpoint/2010/main" val="9413253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16</a:t>
            </a:fld>
            <a:endParaRPr lang="en-US"/>
          </a:p>
        </p:txBody>
      </p:sp>
    </p:spTree>
    <p:extLst>
      <p:ext uri="{BB962C8B-B14F-4D97-AF65-F5344CB8AC3E}">
        <p14:creationId xmlns:p14="http://schemas.microsoft.com/office/powerpoint/2010/main" val="41877250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Biases introduce a notion of a context, where you may get a different answer depending on the context. However, this particular notion of context is weak. Say you are looking for a workflow solution for a new application development. Biases will help navigate you to an implementation and if it does not work for you there is a process to handle it. </a:t>
            </a:r>
          </a:p>
          <a:p>
            <a:r>
              <a:rPr lang="en-US" sz="1200" kern="1200" dirty="0">
                <a:solidFill>
                  <a:schemeClr val="tx1"/>
                </a:solidFill>
                <a:effectLst/>
                <a:latin typeface="+mn-lt"/>
                <a:ea typeface="+mn-ea"/>
                <a:cs typeface="+mn-cs"/>
              </a:rPr>
              <a:t>But how do you know you need a workflow? How do you know if you need fully automated workflow, process orchestration, or a workflow that may require human involvement?</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17</a:t>
            </a:fld>
            <a:endParaRPr lang="en-US"/>
          </a:p>
        </p:txBody>
      </p:sp>
    </p:spTree>
    <p:extLst>
      <p:ext uri="{BB962C8B-B14F-4D97-AF65-F5344CB8AC3E}">
        <p14:creationId xmlns:p14="http://schemas.microsoft.com/office/powerpoint/2010/main" val="39397560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want to navigate from a problem to a solution. We want to account for the particular context we are developing the system in, technical, business, commercial, and whatever else is relevant. We want to understand the tradeoffs. </a:t>
            </a:r>
          </a:p>
          <a:p>
            <a:r>
              <a:rPr lang="en-US" sz="1200" kern="1200" dirty="0">
                <a:solidFill>
                  <a:schemeClr val="tx1"/>
                </a:solidFill>
                <a:effectLst/>
                <a:latin typeface="+mn-lt"/>
                <a:ea typeface="+mn-ea"/>
                <a:cs typeface="+mn-cs"/>
              </a:rPr>
              <a:t>We also want to see the prior art – has anybody in our organization done this, solved this problem? Do we have an implementation in house? What are the related problems and their solutions? Maybe we can just reuse whatever others have built.</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18</a:t>
            </a:fld>
            <a:endParaRPr lang="en-US"/>
          </a:p>
        </p:txBody>
      </p:sp>
    </p:spTree>
    <p:extLst>
      <p:ext uri="{BB962C8B-B14F-4D97-AF65-F5344CB8AC3E}">
        <p14:creationId xmlns:p14="http://schemas.microsoft.com/office/powerpoint/2010/main" val="12477975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tool that solves this for us is Patterns.</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19</a:t>
            </a:fld>
            <a:endParaRPr lang="en-US"/>
          </a:p>
        </p:txBody>
      </p:sp>
    </p:spTree>
    <p:extLst>
      <p:ext uri="{BB962C8B-B14F-4D97-AF65-F5344CB8AC3E}">
        <p14:creationId xmlns:p14="http://schemas.microsoft.com/office/powerpoint/2010/main" val="11505399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is a canonical definition of a pattern and pattern language </a:t>
            </a:r>
          </a:p>
          <a:p>
            <a:r>
              <a:rPr lang="en-US" sz="1200" kern="1200" dirty="0">
                <a:solidFill>
                  <a:schemeClr val="tx1"/>
                </a:solidFill>
                <a:effectLst/>
                <a:latin typeface="+mn-lt"/>
                <a:ea typeface="+mn-ea"/>
                <a:cs typeface="+mn-cs"/>
              </a:rPr>
              <a:t>[slide]</a:t>
            </a:r>
          </a:p>
          <a:p>
            <a:r>
              <a:rPr lang="en-US" sz="1200" kern="1200" dirty="0">
                <a:solidFill>
                  <a:schemeClr val="tx1"/>
                </a:solidFill>
                <a:effectLst/>
                <a:latin typeface="+mn-lt"/>
                <a:ea typeface="+mn-ea"/>
                <a:cs typeface="+mn-cs"/>
              </a:rPr>
              <a:t>Patterns are the recurring solutions to the problems of design. People recognize patterns by seeing them over and over again.</a:t>
            </a:r>
          </a:p>
          <a:p>
            <a:r>
              <a:rPr lang="en-US" sz="1200" kern="1200" dirty="0">
                <a:solidFill>
                  <a:schemeClr val="tx1"/>
                </a:solidFill>
                <a:effectLst/>
                <a:latin typeface="+mn-lt"/>
                <a:ea typeface="+mn-ea"/>
                <a:cs typeface="+mn-cs"/>
              </a:rPr>
              <a:t>Patterns link together in the mind so that one pattern leads to another and another until the problems are solved. </a:t>
            </a:r>
          </a:p>
          <a:p>
            <a:r>
              <a:rPr lang="en-US" sz="1200" kern="1200" dirty="0">
                <a:solidFill>
                  <a:schemeClr val="tx1"/>
                </a:solidFill>
                <a:effectLst/>
                <a:latin typeface="+mn-lt"/>
                <a:ea typeface="+mn-ea"/>
                <a:cs typeface="+mn-cs"/>
              </a:rPr>
              <a:t>That is, patterns form languages, not unlike natural languages. Using these languages, we can assemble an infinite number of correct and varied statements from a small number of elements. </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20</a:t>
            </a:fld>
            <a:endParaRPr lang="en-US"/>
          </a:p>
        </p:txBody>
      </p:sp>
    </p:spTree>
    <p:extLst>
      <p:ext uri="{BB962C8B-B14F-4D97-AF65-F5344CB8AC3E}">
        <p14:creationId xmlns:p14="http://schemas.microsoft.com/office/powerpoint/2010/main" val="16959074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Why do patterns make sense? Why do patterns work? How do we know we can define, or find, or harvest useful patterns that solve problems we are facing in this context? </a:t>
            </a:r>
          </a:p>
          <a:p>
            <a:r>
              <a:rPr lang="en-US" sz="1200" kern="1200" dirty="0">
                <a:solidFill>
                  <a:schemeClr val="tx1"/>
                </a:solidFill>
                <a:effectLst/>
                <a:latin typeface="+mn-lt"/>
                <a:ea typeface="+mn-ea"/>
                <a:cs typeface="+mn-cs"/>
              </a:rPr>
              <a:t>Infinite number of solutions, unless we consider real life constraints.</a:t>
            </a:r>
          </a:p>
          <a:p>
            <a:r>
              <a:rPr lang="en-US" sz="1200" kern="1200" dirty="0">
                <a:solidFill>
                  <a:schemeClr val="tx1"/>
                </a:solidFill>
                <a:effectLst/>
                <a:latin typeface="+mn-lt"/>
                <a:ea typeface="+mn-ea"/>
                <a:cs typeface="+mn-cs"/>
              </a:rPr>
              <a:t>Solution space is limited. laws of physics.</a:t>
            </a:r>
          </a:p>
          <a:p>
            <a:r>
              <a:rPr lang="en-US" sz="1200" kern="1200" dirty="0">
                <a:solidFill>
                  <a:schemeClr val="tx1"/>
                </a:solidFill>
                <a:effectLst/>
                <a:latin typeface="+mn-lt"/>
                <a:ea typeface="+mn-ea"/>
                <a:cs typeface="+mn-cs"/>
              </a:rPr>
              <a:t>Business issues cost, or investment tradeoffs. People issues – skillset limitations. And so on.</a:t>
            </a:r>
          </a:p>
          <a:p>
            <a:r>
              <a:rPr lang="en-US" sz="1200" kern="1200" dirty="0">
                <a:solidFill>
                  <a:schemeClr val="tx1"/>
                </a:solidFill>
                <a:effectLst/>
                <a:latin typeface="+mn-lt"/>
                <a:ea typeface="+mn-ea"/>
                <a:cs typeface="+mn-cs"/>
              </a:rPr>
              <a:t>We are not looking at an infinite space of all theoretically possible solutions. We look at a constrained space of proven solutions. Enough systems have been built [slide]</a:t>
            </a:r>
          </a:p>
          <a:p>
            <a:r>
              <a:rPr lang="en-US" sz="1200" kern="1200" dirty="0">
                <a:solidFill>
                  <a:schemeClr val="tx1"/>
                </a:solidFill>
                <a:effectLst/>
                <a:latin typeface="+mn-lt"/>
                <a:ea typeface="+mn-ea"/>
                <a:cs typeface="+mn-cs"/>
              </a:rPr>
              <a:t>Patterns work. We discover them, we harvest them, we do not invent them in a clean room setting.</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21</a:t>
            </a:fld>
            <a:endParaRPr lang="en-US"/>
          </a:p>
        </p:txBody>
      </p:sp>
    </p:spTree>
    <p:extLst>
      <p:ext uri="{BB962C8B-B14F-4D97-AF65-F5344CB8AC3E}">
        <p14:creationId xmlns:p14="http://schemas.microsoft.com/office/powerpoint/2010/main" val="36199307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4657D-6387-82C7-02D2-4C058ADADC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E8D179-590F-A38A-53B7-F508D2D8A9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CDBCF6-77C1-49C6-7E62-F96EEC9876C4}"/>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List of different kinds of patterns</a:t>
            </a:r>
            <a:endParaRPr lang="en-US" dirty="0"/>
          </a:p>
        </p:txBody>
      </p:sp>
      <p:sp>
        <p:nvSpPr>
          <p:cNvPr id="4" name="Slide Number Placeholder 3">
            <a:extLst>
              <a:ext uri="{FF2B5EF4-FFF2-40B4-BE49-F238E27FC236}">
                <a16:creationId xmlns:a16="http://schemas.microsoft.com/office/drawing/2014/main" id="{D98BD978-C350-7A03-712A-4E33D426ACAC}"/>
              </a:ext>
            </a:extLst>
          </p:cNvPr>
          <p:cNvSpPr>
            <a:spLocks noGrp="1"/>
          </p:cNvSpPr>
          <p:nvPr>
            <p:ph type="sldNum" sz="quarter" idx="5"/>
          </p:nvPr>
        </p:nvSpPr>
        <p:spPr/>
        <p:txBody>
          <a:bodyPr/>
          <a:lstStyle/>
          <a:p>
            <a:fld id="{C04F54E5-6730-4F6F-80F0-BE59B09622D2}" type="slidenum">
              <a:rPr lang="en-US" smtClean="0"/>
              <a:t>22</a:t>
            </a:fld>
            <a:endParaRPr lang="en-US"/>
          </a:p>
        </p:txBody>
      </p:sp>
    </p:spTree>
    <p:extLst>
      <p:ext uri="{BB962C8B-B14F-4D97-AF65-F5344CB8AC3E}">
        <p14:creationId xmlns:p14="http://schemas.microsoft.com/office/powerpoint/2010/main" val="22523770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is just an example, feel free to tweak it in the way that makes sense in your organization. Start with this and see what’s missing or needs to change.</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23</a:t>
            </a:fld>
            <a:endParaRPr lang="en-US"/>
          </a:p>
        </p:txBody>
      </p:sp>
    </p:spTree>
    <p:extLst>
      <p:ext uri="{BB962C8B-B14F-4D97-AF65-F5344CB8AC3E}">
        <p14:creationId xmlns:p14="http://schemas.microsoft.com/office/powerpoint/2010/main" val="31656257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Let’s see how we can describe a pattern using this template. We will look at an example from Microsoft pattern catalog later for a much more realistic description of a pattern, but this will give you some idea. Here we see a pattern described using the template, in fairly simplified fashion given the time and space constraints of the talk.</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24</a:t>
            </a:fld>
            <a:endParaRPr lang="en-US"/>
          </a:p>
        </p:txBody>
      </p:sp>
    </p:spTree>
    <p:extLst>
      <p:ext uri="{BB962C8B-B14F-4D97-AF65-F5344CB8AC3E}">
        <p14:creationId xmlns:p14="http://schemas.microsoft.com/office/powerpoint/2010/main" val="42470445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Patterns can be horribly misused</a:t>
            </a:r>
          </a:p>
          <a:p>
            <a:r>
              <a:rPr lang="en-US" sz="1200" kern="1200" dirty="0">
                <a:solidFill>
                  <a:schemeClr val="tx1"/>
                </a:solidFill>
                <a:effectLst/>
                <a:latin typeface="+mn-lt"/>
                <a:ea typeface="+mn-ea"/>
                <a:cs typeface="+mn-cs"/>
              </a:rPr>
              <a:t>People get excited when they discover patterns.</a:t>
            </a:r>
          </a:p>
          <a:p>
            <a:r>
              <a:rPr lang="en-US" sz="1200" kern="1200" dirty="0">
                <a:solidFill>
                  <a:schemeClr val="tx1"/>
                </a:solidFill>
                <a:effectLst/>
                <a:latin typeface="+mn-lt"/>
                <a:ea typeface="+mn-ea"/>
                <a:cs typeface="+mn-cs"/>
              </a:rPr>
              <a:t>You can see something akin to archaeological strata. Like archeologists can dig through the layer of sediment and see – [fire], [iron], you can look at the code or design and see –[inversion of control], [microservices].</a:t>
            </a:r>
          </a:p>
          <a:p>
            <a:r>
              <a:rPr lang="en-US" sz="1200" kern="1200" dirty="0">
                <a:solidFill>
                  <a:schemeClr val="tx1"/>
                </a:solidFill>
                <a:effectLst/>
                <a:latin typeface="+mn-lt"/>
                <a:ea typeface="+mn-ea"/>
                <a:cs typeface="+mn-cs"/>
              </a:rPr>
              <a:t>Related: People actively look for ways to apply patterns, rather than the patterns being used because they are the natural answer to a problem.</a:t>
            </a:r>
          </a:p>
          <a:p>
            <a:r>
              <a:rPr lang="en-US" sz="1200" kern="1200" dirty="0">
                <a:solidFill>
                  <a:schemeClr val="tx1"/>
                </a:solidFill>
                <a:effectLst/>
                <a:latin typeface="+mn-lt"/>
                <a:ea typeface="+mn-ea"/>
                <a:cs typeface="+mn-cs"/>
              </a:rPr>
              <a:t>designing for future requirements, future flexibility. </a:t>
            </a:r>
          </a:p>
          <a:p>
            <a:r>
              <a:rPr lang="en-US" sz="1200" kern="1200" dirty="0">
                <a:solidFill>
                  <a:schemeClr val="tx1"/>
                </a:solidFill>
                <a:effectLst/>
                <a:latin typeface="+mn-lt"/>
                <a:ea typeface="+mn-ea"/>
                <a:cs typeface="+mn-cs"/>
              </a:rPr>
              <a:t>Ambiguous definition of a pattern – so people fill in the gaps on their own and misapply patterns. </a:t>
            </a:r>
          </a:p>
          <a:p>
            <a:r>
              <a:rPr lang="en-US" sz="1200" kern="1200" dirty="0">
                <a:solidFill>
                  <a:schemeClr val="tx1"/>
                </a:solidFill>
                <a:effectLst/>
                <a:latin typeface="+mn-lt"/>
                <a:ea typeface="+mn-ea"/>
                <a:cs typeface="+mn-cs"/>
              </a:rPr>
              <a:t>Only use a pattern if you actually have the problem that it solves, and the positive consequences outweigh the negative consequences</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25</a:t>
            </a:fld>
            <a:endParaRPr lang="en-US"/>
          </a:p>
        </p:txBody>
      </p:sp>
    </p:spTree>
    <p:extLst>
      <p:ext uri="{BB962C8B-B14F-4D97-AF65-F5344CB8AC3E}">
        <p14:creationId xmlns:p14="http://schemas.microsoft.com/office/powerpoint/2010/main" val="38701982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Many hard problems have been solved; solutions have been codified. Harvested from solutions implemented on their respective clouds</a:t>
            </a:r>
          </a:p>
          <a:p>
            <a:r>
              <a:rPr lang="en-US" sz="1200" kern="1200" dirty="0">
                <a:solidFill>
                  <a:schemeClr val="tx1"/>
                </a:solidFill>
                <a:effectLst/>
                <a:latin typeface="+mn-lt"/>
                <a:ea typeface="+mn-ea"/>
                <a:cs typeface="+mn-cs"/>
              </a:rPr>
              <a:t>Enough times people have done these kinds of things. Cloud vendors codified architecture patterns and published pattern catalogs.</a:t>
            </a:r>
          </a:p>
          <a:p>
            <a:r>
              <a:rPr lang="en-US" sz="1200" kern="1200" dirty="0">
                <a:solidFill>
                  <a:schemeClr val="tx1"/>
                </a:solidFill>
                <a:effectLst/>
                <a:latin typeface="+mn-lt"/>
                <a:ea typeface="+mn-ea"/>
                <a:cs typeface="+mn-cs"/>
              </a:rPr>
              <a:t>Cloud Architecture Patterns are Architecture Patterns</a:t>
            </a:r>
          </a:p>
          <a:p>
            <a:r>
              <a:rPr lang="en-US" sz="1200" kern="1200" dirty="0">
                <a:solidFill>
                  <a:schemeClr val="tx1"/>
                </a:solidFill>
                <a:effectLst/>
                <a:latin typeface="+mn-lt"/>
                <a:ea typeface="+mn-ea"/>
                <a:cs typeface="+mn-cs"/>
              </a:rPr>
              <a:t>Cloud vendors define architecture pattern languages</a:t>
            </a:r>
          </a:p>
          <a:p>
            <a:r>
              <a:rPr lang="en-US" sz="1200" kern="1200" dirty="0">
                <a:solidFill>
                  <a:schemeClr val="tx1"/>
                </a:solidFill>
                <a:effectLst/>
                <a:latin typeface="+mn-lt"/>
                <a:ea typeface="+mn-ea"/>
                <a:cs typeface="+mn-cs"/>
              </a:rPr>
              <a:t>Different templates, different notation, different pattern languages</a:t>
            </a:r>
          </a:p>
          <a:p>
            <a:r>
              <a:rPr lang="en-US" sz="1200" kern="1200" dirty="0">
                <a:solidFill>
                  <a:schemeClr val="tx1"/>
                </a:solidFill>
                <a:effectLst/>
                <a:latin typeface="+mn-lt"/>
                <a:ea typeface="+mn-ea"/>
                <a:cs typeface="+mn-cs"/>
              </a:rPr>
              <a:t>Common patterns, specific examples</a:t>
            </a:r>
          </a:p>
          <a:p>
            <a:r>
              <a:rPr lang="en-US" sz="1200" kern="1200" dirty="0">
                <a:solidFill>
                  <a:schemeClr val="tx1"/>
                </a:solidFill>
                <a:effectLst/>
                <a:latin typeface="+mn-lt"/>
                <a:ea typeface="+mn-ea"/>
                <a:cs typeface="+mn-cs"/>
              </a:rPr>
              <a:t>Sign of mature business: Algorithms </a:t>
            </a:r>
            <a:r>
              <a:rPr lang="en-US" sz="1200" kern="1200" dirty="0">
                <a:solidFill>
                  <a:schemeClr val="tx1"/>
                </a:solidFill>
                <a:effectLst/>
                <a:latin typeface="+mn-lt"/>
                <a:ea typeface="+mn-ea"/>
                <a:cs typeface="+mn-cs"/>
                <a:sym typeface="Wingdings" panose="05000000000000000000" pitchFamily="2" charset="2"/>
              </a:rPr>
              <a:t></a:t>
            </a:r>
            <a:r>
              <a:rPr lang="en-US" sz="1200" kern="1200" dirty="0">
                <a:solidFill>
                  <a:schemeClr val="tx1"/>
                </a:solidFill>
                <a:effectLst/>
                <a:latin typeface="+mn-lt"/>
                <a:ea typeface="+mn-ea"/>
                <a:cs typeface="+mn-cs"/>
              </a:rPr>
              <a:t> Design Patterns </a:t>
            </a:r>
            <a:r>
              <a:rPr lang="en-US" sz="1200" kern="1200" dirty="0">
                <a:solidFill>
                  <a:schemeClr val="tx1"/>
                </a:solidFill>
                <a:effectLst/>
                <a:latin typeface="+mn-lt"/>
                <a:ea typeface="+mn-ea"/>
                <a:cs typeface="+mn-cs"/>
                <a:sym typeface="Wingdings" panose="05000000000000000000" pitchFamily="2" charset="2"/>
              </a:rPr>
              <a:t></a:t>
            </a:r>
            <a:r>
              <a:rPr lang="en-US" sz="1200" kern="1200" dirty="0">
                <a:solidFill>
                  <a:schemeClr val="tx1"/>
                </a:solidFill>
                <a:effectLst/>
                <a:latin typeface="+mn-lt"/>
                <a:ea typeface="+mn-ea"/>
                <a:cs typeface="+mn-cs"/>
              </a:rPr>
              <a:t> Architectural Patterns</a:t>
            </a:r>
          </a:p>
          <a:p>
            <a:r>
              <a:rPr lang="en-US" sz="1200" kern="1200" dirty="0">
                <a:solidFill>
                  <a:schemeClr val="tx1"/>
                </a:solidFill>
                <a:effectLst/>
                <a:latin typeface="+mn-lt"/>
                <a:ea typeface="+mn-ea"/>
                <a:cs typeface="+mn-cs"/>
              </a:rPr>
              <a:t>Enough patterns catalogued so no need to rediscover</a:t>
            </a:r>
          </a:p>
        </p:txBody>
      </p:sp>
      <p:sp>
        <p:nvSpPr>
          <p:cNvPr id="4" name="Slide Number Placeholder 3"/>
          <p:cNvSpPr>
            <a:spLocks noGrp="1"/>
          </p:cNvSpPr>
          <p:nvPr>
            <p:ph type="sldNum" sz="quarter" idx="5"/>
          </p:nvPr>
        </p:nvSpPr>
        <p:spPr/>
        <p:txBody>
          <a:bodyPr/>
          <a:lstStyle/>
          <a:p>
            <a:fld id="{C04F54E5-6730-4F6F-80F0-BE59B09622D2}" type="slidenum">
              <a:rPr lang="en-US" smtClean="0"/>
              <a:t>26</a:t>
            </a:fld>
            <a:endParaRPr lang="en-US"/>
          </a:p>
        </p:txBody>
      </p:sp>
    </p:spTree>
    <p:extLst>
      <p:ext uri="{BB962C8B-B14F-4D97-AF65-F5344CB8AC3E}">
        <p14:creationId xmlns:p14="http://schemas.microsoft.com/office/powerpoint/2010/main" val="9718181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Microsoft, in my opinion, has the best organized pattern catalog. It’s relatively comprehensive and pattern descriptions are close to the template we saw. They do a really good job talking about context and trade off.</a:t>
            </a:r>
          </a:p>
          <a:p>
            <a:r>
              <a:rPr lang="en-US" sz="1200" kern="1200" dirty="0">
                <a:solidFill>
                  <a:schemeClr val="tx1"/>
                </a:solidFill>
                <a:effectLst/>
                <a:latin typeface="+mn-lt"/>
                <a:ea typeface="+mn-ea"/>
                <a:cs typeface="+mn-cs"/>
              </a:rPr>
              <a:t>Amazon has these solution architectures. They are good but approach from the implementation perspective. They don’t really cover the why, the context</a:t>
            </a:r>
          </a:p>
          <a:p>
            <a:r>
              <a:rPr lang="en-US" sz="1200" kern="1200" dirty="0">
                <a:solidFill>
                  <a:schemeClr val="tx1"/>
                </a:solidFill>
                <a:effectLst/>
                <a:latin typeface="+mn-lt"/>
                <a:ea typeface="+mn-ea"/>
                <a:cs typeface="+mn-cs"/>
              </a:rPr>
              <a:t>The trade-offs they talk about are primarily non-functional trade-offs: TTL, Network, Computation, Cost, Latency</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27</a:t>
            </a:fld>
            <a:endParaRPr lang="en-US"/>
          </a:p>
        </p:txBody>
      </p:sp>
    </p:spTree>
    <p:extLst>
      <p:ext uri="{BB962C8B-B14F-4D97-AF65-F5344CB8AC3E}">
        <p14:creationId xmlns:p14="http://schemas.microsoft.com/office/powerpoint/2010/main" val="1829096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28</a:t>
            </a:fld>
            <a:endParaRPr lang="en-US"/>
          </a:p>
        </p:txBody>
      </p:sp>
    </p:spTree>
    <p:extLst>
      <p:ext uri="{BB962C8B-B14F-4D97-AF65-F5344CB8AC3E}">
        <p14:creationId xmlns:p14="http://schemas.microsoft.com/office/powerpoint/2010/main" val="21010342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Nothing that follows is accounting advice, nor legal advice, nor technology implementation advice. Always consult your accountant, lawyer, engineer as appropriate</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29</a:t>
            </a:fld>
            <a:endParaRPr lang="en-US"/>
          </a:p>
        </p:txBody>
      </p:sp>
    </p:spTree>
    <p:extLst>
      <p:ext uri="{BB962C8B-B14F-4D97-AF65-F5344CB8AC3E}">
        <p14:creationId xmlns:p14="http://schemas.microsoft.com/office/powerpoint/2010/main" val="2365018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30</a:t>
            </a:fld>
            <a:endParaRPr lang="en-US"/>
          </a:p>
        </p:txBody>
      </p:sp>
    </p:spTree>
    <p:extLst>
      <p:ext uri="{BB962C8B-B14F-4D97-AF65-F5344CB8AC3E}">
        <p14:creationId xmlns:p14="http://schemas.microsoft.com/office/powerpoint/2010/main" val="37585037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Let’s say we did not observe the FIFO order when we calculate cost basis. It means that when we previously declared profit, we can now declare loss. This is really great from tax point of view. </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31</a:t>
            </a:fld>
            <a:endParaRPr lang="en-US"/>
          </a:p>
        </p:txBody>
      </p:sp>
    </p:spTree>
    <p:extLst>
      <p:ext uri="{BB962C8B-B14F-4D97-AF65-F5344CB8AC3E}">
        <p14:creationId xmlns:p14="http://schemas.microsoft.com/office/powerpoint/2010/main" val="26124095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Instead of owing taxes we can write off our losses (this is not accounting advice!)</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32</a:t>
            </a:fld>
            <a:endParaRPr lang="en-US"/>
          </a:p>
        </p:txBody>
      </p:sp>
    </p:spTree>
    <p:extLst>
      <p:ext uri="{BB962C8B-B14F-4D97-AF65-F5344CB8AC3E}">
        <p14:creationId xmlns:p14="http://schemas.microsoft.com/office/powerpoint/2010/main" val="22878313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Of course, if you do that, you may get into a lot of trouble for tax fraud. So maintaining the FIFO processing order is really critical.</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33</a:t>
            </a:fld>
            <a:endParaRPr lang="en-US"/>
          </a:p>
        </p:txBody>
      </p:sp>
    </p:spTree>
    <p:extLst>
      <p:ext uri="{BB962C8B-B14F-4D97-AF65-F5344CB8AC3E}">
        <p14:creationId xmlns:p14="http://schemas.microsoft.com/office/powerpoint/2010/main" val="19310867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Let’s look at this high-level requirement document. Obviously, we are skipping over a lot of details, and we are not specifying what the processing actually entails, but this is not really that important for this example, where care only about the architecture we are keeping things high level.</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34</a:t>
            </a:fld>
            <a:endParaRPr lang="en-US"/>
          </a:p>
        </p:txBody>
      </p:sp>
    </p:spTree>
    <p:extLst>
      <p:ext uri="{BB962C8B-B14F-4D97-AF65-F5344CB8AC3E}">
        <p14:creationId xmlns:p14="http://schemas.microsoft.com/office/powerpoint/2010/main" val="37655964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At the super high level we have a system that looks something like this. We have the system boundary and we are building things that are in the boundary, and we are not building things outside the boundary, but we need to interact with them.</a:t>
            </a:r>
          </a:p>
          <a:p>
            <a:r>
              <a:rPr lang="en-US" dirty="0"/>
              <a:t>Functional architecture – tells us what and not how. What should be inside our system, what outside, what data comes in and comes out.</a:t>
            </a:r>
          </a:p>
        </p:txBody>
      </p:sp>
      <p:sp>
        <p:nvSpPr>
          <p:cNvPr id="4" name="Slide Number Placeholder 3"/>
          <p:cNvSpPr>
            <a:spLocks noGrp="1"/>
          </p:cNvSpPr>
          <p:nvPr>
            <p:ph type="sldNum" sz="quarter" idx="5"/>
          </p:nvPr>
        </p:nvSpPr>
        <p:spPr/>
        <p:txBody>
          <a:bodyPr/>
          <a:lstStyle/>
          <a:p>
            <a:fld id="{C04F54E5-6730-4F6F-80F0-BE59B09622D2}" type="slidenum">
              <a:rPr lang="en-US" smtClean="0"/>
              <a:t>35</a:t>
            </a:fld>
            <a:endParaRPr lang="en-US"/>
          </a:p>
        </p:txBody>
      </p:sp>
    </p:spTree>
    <p:extLst>
      <p:ext uri="{BB962C8B-B14F-4D97-AF65-F5344CB8AC3E}">
        <p14:creationId xmlns:p14="http://schemas.microsoft.com/office/powerpoint/2010/main" val="10405827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let’s add some context. We have outside systems we need to communicate with, and this imposes constraints on what we are building. </a:t>
            </a:r>
          </a:p>
          <a:p>
            <a:r>
              <a:rPr lang="en-US" sz="1200" kern="1200" dirty="0">
                <a:solidFill>
                  <a:schemeClr val="tx1"/>
                </a:solidFill>
                <a:effectLst/>
                <a:latin typeface="+mn-lt"/>
                <a:ea typeface="+mn-ea"/>
                <a:cs typeface="+mn-cs"/>
              </a:rPr>
              <a:t>We also need to understand the business process enough to figure out how the data can be partitioned.</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36</a:t>
            </a:fld>
            <a:endParaRPr lang="en-US"/>
          </a:p>
        </p:txBody>
      </p:sp>
    </p:spTree>
    <p:extLst>
      <p:ext uri="{BB962C8B-B14F-4D97-AF65-F5344CB8AC3E}">
        <p14:creationId xmlns:p14="http://schemas.microsoft.com/office/powerpoint/2010/main" val="8533030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And now we introduce patterns. How do we know we need these patterns and not any others, which may possibly solve this problem? Because of the context, and the tradeoffs. This is all in our pattern catalog. We can explain why we chose these patterns based on our problem.</a:t>
            </a:r>
          </a:p>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38</a:t>
            </a:fld>
            <a:endParaRPr lang="en-US"/>
          </a:p>
        </p:txBody>
      </p:sp>
    </p:spTree>
    <p:extLst>
      <p:ext uri="{BB962C8B-B14F-4D97-AF65-F5344CB8AC3E}">
        <p14:creationId xmlns:p14="http://schemas.microsoft.com/office/powerpoint/2010/main" val="24377916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4F54E5-6730-4F6F-80F0-BE59B09622D2}" type="slidenum">
              <a:rPr lang="en-US" smtClean="0"/>
              <a:t>43</a:t>
            </a:fld>
            <a:endParaRPr lang="en-US"/>
          </a:p>
        </p:txBody>
      </p:sp>
    </p:spTree>
    <p:extLst>
      <p:ext uri="{BB962C8B-B14F-4D97-AF65-F5344CB8AC3E}">
        <p14:creationId xmlns:p14="http://schemas.microsoft.com/office/powerpoint/2010/main" val="1221276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D8A63-FED7-D6D3-24B9-5733498A1D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E77231-90EF-7E53-CA59-A14D785196C4}"/>
              </a:ext>
            </a:extLst>
          </p:cNvPr>
          <p:cNvSpPr>
            <a:spLocks noGrp="1"/>
          </p:cNvSpPr>
          <p:nvPr>
            <p:ph type="subTitle" idx="1"/>
          </p:nvPr>
        </p:nvSpPr>
        <p:spPr>
          <a:xfrm>
            <a:off x="1524000" y="3602038"/>
            <a:ext cx="9144000" cy="1655762"/>
          </a:xfrm>
        </p:spPr>
        <p:txBody>
          <a:bodyPr/>
          <a:lstStyle>
            <a:lvl1pPr marL="0" indent="0" algn="ctr">
              <a:buNone/>
              <a:defRPr sz="2400">
                <a:solidFill>
                  <a:srgbClr val="BA392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44B902D5-4DFC-15DE-B82D-DD6318694FE9}"/>
              </a:ext>
            </a:extLst>
          </p:cNvPr>
          <p:cNvSpPr>
            <a:spLocks noGrp="1"/>
          </p:cNvSpPr>
          <p:nvPr>
            <p:ph type="dt" sz="half" idx="10"/>
          </p:nvPr>
        </p:nvSpPr>
        <p:spPr/>
        <p:txBody>
          <a:bodyPr/>
          <a:lstStyle/>
          <a:p>
            <a:fld id="{77D6352B-BA5B-4A1D-AB49-5E743908BE91}" type="datetime1">
              <a:rPr lang="en-US" smtClean="0"/>
              <a:t>9/30/2025</a:t>
            </a:fld>
            <a:endParaRPr lang="en-US"/>
          </a:p>
        </p:txBody>
      </p:sp>
      <p:sp>
        <p:nvSpPr>
          <p:cNvPr id="5" name="Footer Placeholder 4">
            <a:extLst>
              <a:ext uri="{FF2B5EF4-FFF2-40B4-BE49-F238E27FC236}">
                <a16:creationId xmlns:a16="http://schemas.microsoft.com/office/drawing/2014/main" id="{35FFD2F2-171D-A3B3-8371-A8E183DDE7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62B0AF-91ED-FA64-15AE-41F661D318BD}"/>
              </a:ext>
            </a:extLst>
          </p:cNvPr>
          <p:cNvSpPr>
            <a:spLocks noGrp="1"/>
          </p:cNvSpPr>
          <p:nvPr>
            <p:ph type="sldNum" sz="quarter" idx="12"/>
          </p:nvPr>
        </p:nvSpPr>
        <p:spPr/>
        <p:txBody>
          <a:bodyPr/>
          <a:lstStyle/>
          <a:p>
            <a:fld id="{E6E087A0-8E33-4AD2-B40F-AC5841A95ADE}" type="slidenum">
              <a:rPr lang="en-US" smtClean="0"/>
              <a:t>‹#›</a:t>
            </a:fld>
            <a:endParaRPr lang="en-US"/>
          </a:p>
        </p:txBody>
      </p:sp>
    </p:spTree>
    <p:extLst>
      <p:ext uri="{BB962C8B-B14F-4D97-AF65-F5344CB8AC3E}">
        <p14:creationId xmlns:p14="http://schemas.microsoft.com/office/powerpoint/2010/main" val="2920789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FA861-D3FE-F3C2-D2F4-93C0DB4ECA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0C0DBC-9186-E42D-E5CB-91EBCC916F7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737867E-9436-0D03-CCEB-7E486ECE6383}"/>
              </a:ext>
            </a:extLst>
          </p:cNvPr>
          <p:cNvSpPr>
            <a:spLocks noGrp="1"/>
          </p:cNvSpPr>
          <p:nvPr>
            <p:ph type="dt" sz="half" idx="10"/>
          </p:nvPr>
        </p:nvSpPr>
        <p:spPr/>
        <p:txBody>
          <a:bodyPr/>
          <a:lstStyle/>
          <a:p>
            <a:fld id="{4A0F25C9-3C83-41D4-A617-4432F1E1E972}" type="datetime1">
              <a:rPr lang="en-US" smtClean="0"/>
              <a:t>9/30/2025</a:t>
            </a:fld>
            <a:endParaRPr lang="en-US"/>
          </a:p>
        </p:txBody>
      </p:sp>
      <p:sp>
        <p:nvSpPr>
          <p:cNvPr id="5" name="Footer Placeholder 4">
            <a:extLst>
              <a:ext uri="{FF2B5EF4-FFF2-40B4-BE49-F238E27FC236}">
                <a16:creationId xmlns:a16="http://schemas.microsoft.com/office/drawing/2014/main" id="{ABB02478-625C-F954-A0A6-A804A8DE8B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55E48E-C07A-B219-75DA-6AFABAC8CADB}"/>
              </a:ext>
            </a:extLst>
          </p:cNvPr>
          <p:cNvSpPr>
            <a:spLocks noGrp="1"/>
          </p:cNvSpPr>
          <p:nvPr>
            <p:ph type="sldNum" sz="quarter" idx="12"/>
          </p:nvPr>
        </p:nvSpPr>
        <p:spPr/>
        <p:txBody>
          <a:bodyPr/>
          <a:lstStyle/>
          <a:p>
            <a:fld id="{E6E087A0-8E33-4AD2-B40F-AC5841A95ADE}" type="slidenum">
              <a:rPr lang="en-US" smtClean="0"/>
              <a:t>‹#›</a:t>
            </a:fld>
            <a:endParaRPr lang="en-US"/>
          </a:p>
        </p:txBody>
      </p:sp>
    </p:spTree>
    <p:extLst>
      <p:ext uri="{BB962C8B-B14F-4D97-AF65-F5344CB8AC3E}">
        <p14:creationId xmlns:p14="http://schemas.microsoft.com/office/powerpoint/2010/main" val="1902064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4FF79-C977-BD4F-FA2C-ED3A9EEA28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C6FE4EA-80A7-35CB-2C26-275621FF5C3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EED5A0-B6DA-D957-BD62-5CFAC1EDC917}"/>
              </a:ext>
            </a:extLst>
          </p:cNvPr>
          <p:cNvSpPr>
            <a:spLocks noGrp="1"/>
          </p:cNvSpPr>
          <p:nvPr>
            <p:ph type="dt" sz="half" idx="10"/>
          </p:nvPr>
        </p:nvSpPr>
        <p:spPr/>
        <p:txBody>
          <a:bodyPr/>
          <a:lstStyle/>
          <a:p>
            <a:fld id="{6247C305-8E6B-457E-A3B0-A4C40E8A9C4F}" type="datetime1">
              <a:rPr lang="en-US" smtClean="0"/>
              <a:t>9/30/2025</a:t>
            </a:fld>
            <a:endParaRPr lang="en-US"/>
          </a:p>
        </p:txBody>
      </p:sp>
      <p:sp>
        <p:nvSpPr>
          <p:cNvPr id="5" name="Footer Placeholder 4">
            <a:extLst>
              <a:ext uri="{FF2B5EF4-FFF2-40B4-BE49-F238E27FC236}">
                <a16:creationId xmlns:a16="http://schemas.microsoft.com/office/drawing/2014/main" id="{D2E98134-BA8D-88D4-9E45-FFE97584C2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E5B0C1-2145-78EF-E25A-989F1A86DFF9}"/>
              </a:ext>
            </a:extLst>
          </p:cNvPr>
          <p:cNvSpPr>
            <a:spLocks noGrp="1"/>
          </p:cNvSpPr>
          <p:nvPr>
            <p:ph type="sldNum" sz="quarter" idx="12"/>
          </p:nvPr>
        </p:nvSpPr>
        <p:spPr/>
        <p:txBody>
          <a:bodyPr/>
          <a:lstStyle/>
          <a:p>
            <a:fld id="{E6E087A0-8E33-4AD2-B40F-AC5841A95ADE}" type="slidenum">
              <a:rPr lang="en-US" smtClean="0"/>
              <a:t>‹#›</a:t>
            </a:fld>
            <a:endParaRPr lang="en-US"/>
          </a:p>
        </p:txBody>
      </p:sp>
    </p:spTree>
    <p:extLst>
      <p:ext uri="{BB962C8B-B14F-4D97-AF65-F5344CB8AC3E}">
        <p14:creationId xmlns:p14="http://schemas.microsoft.com/office/powerpoint/2010/main" val="2154019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95386-3DB7-B5A7-451E-0C0E0A1686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49CC1E-9D41-A6B4-725C-1F3D430425AD}"/>
              </a:ext>
            </a:extLst>
          </p:cNvPr>
          <p:cNvSpPr>
            <a:spLocks noGrp="1"/>
          </p:cNvSpPr>
          <p:nvPr>
            <p:ph sz="half" idx="1"/>
          </p:nvPr>
        </p:nvSpPr>
        <p:spPr>
          <a:xfrm>
            <a:off x="838200" y="1089764"/>
            <a:ext cx="5181600" cy="50871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35C817-47AC-BBEC-DE72-B14433FBC6A9}"/>
              </a:ext>
            </a:extLst>
          </p:cNvPr>
          <p:cNvSpPr>
            <a:spLocks noGrp="1"/>
          </p:cNvSpPr>
          <p:nvPr>
            <p:ph sz="half" idx="2"/>
          </p:nvPr>
        </p:nvSpPr>
        <p:spPr>
          <a:xfrm>
            <a:off x="6172200" y="1089764"/>
            <a:ext cx="5181600" cy="50871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A6024C-E0EC-4A22-A797-72D5771D7403}"/>
              </a:ext>
            </a:extLst>
          </p:cNvPr>
          <p:cNvSpPr>
            <a:spLocks noGrp="1"/>
          </p:cNvSpPr>
          <p:nvPr>
            <p:ph type="dt" sz="half" idx="10"/>
          </p:nvPr>
        </p:nvSpPr>
        <p:spPr/>
        <p:txBody>
          <a:bodyPr/>
          <a:lstStyle/>
          <a:p>
            <a:fld id="{DB34D47D-A168-4B92-9A98-D5AA5A6A1FDF}" type="datetime1">
              <a:rPr lang="en-US" smtClean="0"/>
              <a:t>9/30/2025</a:t>
            </a:fld>
            <a:endParaRPr lang="en-US"/>
          </a:p>
        </p:txBody>
      </p:sp>
      <p:sp>
        <p:nvSpPr>
          <p:cNvPr id="6" name="Footer Placeholder 5">
            <a:extLst>
              <a:ext uri="{FF2B5EF4-FFF2-40B4-BE49-F238E27FC236}">
                <a16:creationId xmlns:a16="http://schemas.microsoft.com/office/drawing/2014/main" id="{0D652CCC-D1F7-3952-5F36-23FC10853F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13A3C8-F563-ABDA-4644-E8C8FAF33189}"/>
              </a:ext>
            </a:extLst>
          </p:cNvPr>
          <p:cNvSpPr>
            <a:spLocks noGrp="1"/>
          </p:cNvSpPr>
          <p:nvPr>
            <p:ph type="sldNum" sz="quarter" idx="12"/>
          </p:nvPr>
        </p:nvSpPr>
        <p:spPr/>
        <p:txBody>
          <a:bodyPr/>
          <a:lstStyle/>
          <a:p>
            <a:fld id="{E6E087A0-8E33-4AD2-B40F-AC5841A95ADE}" type="slidenum">
              <a:rPr lang="en-US" smtClean="0"/>
              <a:t>‹#›</a:t>
            </a:fld>
            <a:endParaRPr lang="en-US"/>
          </a:p>
        </p:txBody>
      </p:sp>
    </p:spTree>
    <p:extLst>
      <p:ext uri="{BB962C8B-B14F-4D97-AF65-F5344CB8AC3E}">
        <p14:creationId xmlns:p14="http://schemas.microsoft.com/office/powerpoint/2010/main" val="69435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0C6AC-CDA0-2F25-188A-DA1A801F1C1E}"/>
              </a:ext>
            </a:extLst>
          </p:cNvPr>
          <p:cNvSpPr>
            <a:spLocks noGrp="1"/>
          </p:cNvSpPr>
          <p:nvPr>
            <p:ph type="title"/>
          </p:nvPr>
        </p:nvSpPr>
        <p:spPr>
          <a:xfrm>
            <a:off x="839788" y="136525"/>
            <a:ext cx="10515600" cy="677667"/>
          </a:xfrm>
        </p:spPr>
        <p:txBody>
          <a:bodyPr/>
          <a:lstStyle/>
          <a:p>
            <a:r>
              <a:rPr lang="en-US"/>
              <a:t>Click to edit Master title style</a:t>
            </a:r>
          </a:p>
        </p:txBody>
      </p:sp>
      <p:sp>
        <p:nvSpPr>
          <p:cNvPr id="3" name="Text Placeholder 2">
            <a:extLst>
              <a:ext uri="{FF2B5EF4-FFF2-40B4-BE49-F238E27FC236}">
                <a16:creationId xmlns:a16="http://schemas.microsoft.com/office/drawing/2014/main" id="{391ED337-E71A-8954-B8E7-15197AF85D21}"/>
              </a:ext>
            </a:extLst>
          </p:cNvPr>
          <p:cNvSpPr>
            <a:spLocks noGrp="1"/>
          </p:cNvSpPr>
          <p:nvPr>
            <p:ph type="body" idx="1"/>
          </p:nvPr>
        </p:nvSpPr>
        <p:spPr>
          <a:xfrm>
            <a:off x="839788" y="979707"/>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99548E-4B94-A0FB-FE20-C2A29009FA86}"/>
              </a:ext>
            </a:extLst>
          </p:cNvPr>
          <p:cNvSpPr>
            <a:spLocks noGrp="1"/>
          </p:cNvSpPr>
          <p:nvPr>
            <p:ph sz="half" idx="2"/>
          </p:nvPr>
        </p:nvSpPr>
        <p:spPr>
          <a:xfrm>
            <a:off x="839788" y="1803619"/>
            <a:ext cx="5157787" cy="438604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F569A305-8520-18B0-9F30-75FF82ADE770}"/>
              </a:ext>
            </a:extLst>
          </p:cNvPr>
          <p:cNvSpPr>
            <a:spLocks noGrp="1"/>
          </p:cNvSpPr>
          <p:nvPr>
            <p:ph type="body" sz="quarter" idx="3"/>
          </p:nvPr>
        </p:nvSpPr>
        <p:spPr>
          <a:xfrm>
            <a:off x="6172200" y="979707"/>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5338DB-206C-E661-EA7A-360A3F95CB7E}"/>
              </a:ext>
            </a:extLst>
          </p:cNvPr>
          <p:cNvSpPr>
            <a:spLocks noGrp="1"/>
          </p:cNvSpPr>
          <p:nvPr>
            <p:ph sz="quarter" idx="4"/>
          </p:nvPr>
        </p:nvSpPr>
        <p:spPr>
          <a:xfrm>
            <a:off x="6172200" y="1803619"/>
            <a:ext cx="5183188" cy="438604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819364C8-501B-0D1B-E94B-8282405F6A94}"/>
              </a:ext>
            </a:extLst>
          </p:cNvPr>
          <p:cNvSpPr>
            <a:spLocks noGrp="1"/>
          </p:cNvSpPr>
          <p:nvPr>
            <p:ph type="dt" sz="half" idx="10"/>
          </p:nvPr>
        </p:nvSpPr>
        <p:spPr/>
        <p:txBody>
          <a:bodyPr/>
          <a:lstStyle/>
          <a:p>
            <a:fld id="{BCFBD965-401A-4C58-98FA-D36449B4F26B}" type="datetime1">
              <a:rPr lang="en-US" smtClean="0"/>
              <a:t>9/30/2025</a:t>
            </a:fld>
            <a:endParaRPr lang="en-US"/>
          </a:p>
        </p:txBody>
      </p:sp>
      <p:sp>
        <p:nvSpPr>
          <p:cNvPr id="8" name="Footer Placeholder 7">
            <a:extLst>
              <a:ext uri="{FF2B5EF4-FFF2-40B4-BE49-F238E27FC236}">
                <a16:creationId xmlns:a16="http://schemas.microsoft.com/office/drawing/2014/main" id="{02A999FF-B9DA-133D-2366-CD183611F08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74ED047-D2B1-B4A4-811F-CF114C864602}"/>
              </a:ext>
            </a:extLst>
          </p:cNvPr>
          <p:cNvSpPr>
            <a:spLocks noGrp="1"/>
          </p:cNvSpPr>
          <p:nvPr>
            <p:ph type="sldNum" sz="quarter" idx="12"/>
          </p:nvPr>
        </p:nvSpPr>
        <p:spPr/>
        <p:txBody>
          <a:bodyPr/>
          <a:lstStyle/>
          <a:p>
            <a:fld id="{E6E087A0-8E33-4AD2-B40F-AC5841A95ADE}" type="slidenum">
              <a:rPr lang="en-US" smtClean="0"/>
              <a:t>‹#›</a:t>
            </a:fld>
            <a:endParaRPr lang="en-US"/>
          </a:p>
        </p:txBody>
      </p:sp>
    </p:spTree>
    <p:extLst>
      <p:ext uri="{BB962C8B-B14F-4D97-AF65-F5344CB8AC3E}">
        <p14:creationId xmlns:p14="http://schemas.microsoft.com/office/powerpoint/2010/main" val="1937651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CAFC3-5C5F-FAAC-F2DA-290F18E54DA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82C51E-C26E-0C0A-DF21-267ADF6707E7}"/>
              </a:ext>
            </a:extLst>
          </p:cNvPr>
          <p:cNvSpPr>
            <a:spLocks noGrp="1"/>
          </p:cNvSpPr>
          <p:nvPr>
            <p:ph type="dt" sz="half" idx="10"/>
          </p:nvPr>
        </p:nvSpPr>
        <p:spPr/>
        <p:txBody>
          <a:bodyPr/>
          <a:lstStyle/>
          <a:p>
            <a:fld id="{518F2452-2226-43C0-A947-ED475BAE0B81}" type="datetime1">
              <a:rPr lang="en-US" smtClean="0"/>
              <a:t>9/30/2025</a:t>
            </a:fld>
            <a:endParaRPr lang="en-US"/>
          </a:p>
        </p:txBody>
      </p:sp>
      <p:sp>
        <p:nvSpPr>
          <p:cNvPr id="4" name="Footer Placeholder 3">
            <a:extLst>
              <a:ext uri="{FF2B5EF4-FFF2-40B4-BE49-F238E27FC236}">
                <a16:creationId xmlns:a16="http://schemas.microsoft.com/office/drawing/2014/main" id="{5BF78C68-4927-E680-B569-7BDD38B7C3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58D6317-7BCE-29E8-8876-24CD67203C2B}"/>
              </a:ext>
            </a:extLst>
          </p:cNvPr>
          <p:cNvSpPr>
            <a:spLocks noGrp="1"/>
          </p:cNvSpPr>
          <p:nvPr>
            <p:ph type="sldNum" sz="quarter" idx="12"/>
          </p:nvPr>
        </p:nvSpPr>
        <p:spPr/>
        <p:txBody>
          <a:bodyPr/>
          <a:lstStyle/>
          <a:p>
            <a:fld id="{E6E087A0-8E33-4AD2-B40F-AC5841A95ADE}" type="slidenum">
              <a:rPr lang="en-US" smtClean="0"/>
              <a:t>‹#›</a:t>
            </a:fld>
            <a:endParaRPr lang="en-US"/>
          </a:p>
        </p:txBody>
      </p:sp>
    </p:spTree>
    <p:extLst>
      <p:ext uri="{BB962C8B-B14F-4D97-AF65-F5344CB8AC3E}">
        <p14:creationId xmlns:p14="http://schemas.microsoft.com/office/powerpoint/2010/main" val="2998489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4FBE67-D701-CEB9-6FF1-DA414EAF38BC}"/>
              </a:ext>
            </a:extLst>
          </p:cNvPr>
          <p:cNvSpPr>
            <a:spLocks noGrp="1"/>
          </p:cNvSpPr>
          <p:nvPr>
            <p:ph type="dt" sz="half" idx="10"/>
          </p:nvPr>
        </p:nvSpPr>
        <p:spPr/>
        <p:txBody>
          <a:bodyPr/>
          <a:lstStyle/>
          <a:p>
            <a:fld id="{F5E85072-08C0-4B11-AF33-6811142FA32C}" type="datetime1">
              <a:rPr lang="en-US" smtClean="0"/>
              <a:t>9/30/2025</a:t>
            </a:fld>
            <a:endParaRPr lang="en-US"/>
          </a:p>
        </p:txBody>
      </p:sp>
      <p:sp>
        <p:nvSpPr>
          <p:cNvPr id="3" name="Footer Placeholder 2">
            <a:extLst>
              <a:ext uri="{FF2B5EF4-FFF2-40B4-BE49-F238E27FC236}">
                <a16:creationId xmlns:a16="http://schemas.microsoft.com/office/drawing/2014/main" id="{26E20009-822C-2266-3FA2-6D28EC8009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D35AA5-FB27-E25E-AC86-E6324FA7C9F3}"/>
              </a:ext>
            </a:extLst>
          </p:cNvPr>
          <p:cNvSpPr>
            <a:spLocks noGrp="1"/>
          </p:cNvSpPr>
          <p:nvPr>
            <p:ph type="sldNum" sz="quarter" idx="12"/>
          </p:nvPr>
        </p:nvSpPr>
        <p:spPr/>
        <p:txBody>
          <a:bodyPr/>
          <a:lstStyle/>
          <a:p>
            <a:fld id="{E6E087A0-8E33-4AD2-B40F-AC5841A95ADE}" type="slidenum">
              <a:rPr lang="en-US" smtClean="0"/>
              <a:t>‹#›</a:t>
            </a:fld>
            <a:endParaRPr lang="en-US"/>
          </a:p>
        </p:txBody>
      </p:sp>
    </p:spTree>
    <p:extLst>
      <p:ext uri="{BB962C8B-B14F-4D97-AF65-F5344CB8AC3E}">
        <p14:creationId xmlns:p14="http://schemas.microsoft.com/office/powerpoint/2010/main" val="273885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37168-7007-7091-1F6F-B1A74C61F0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0F5765-7F22-C102-5900-233D37691B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306A85-1DD4-560D-6939-D17C71083B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305A83-9BD0-D5AA-516A-FD68A4FEB788}"/>
              </a:ext>
            </a:extLst>
          </p:cNvPr>
          <p:cNvSpPr>
            <a:spLocks noGrp="1"/>
          </p:cNvSpPr>
          <p:nvPr>
            <p:ph type="dt" sz="half" idx="10"/>
          </p:nvPr>
        </p:nvSpPr>
        <p:spPr/>
        <p:txBody>
          <a:bodyPr/>
          <a:lstStyle/>
          <a:p>
            <a:fld id="{E58D1819-0C4A-4005-98BB-7C8D0306AE63}" type="datetime1">
              <a:rPr lang="en-US" smtClean="0"/>
              <a:t>9/30/2025</a:t>
            </a:fld>
            <a:endParaRPr lang="en-US"/>
          </a:p>
        </p:txBody>
      </p:sp>
      <p:sp>
        <p:nvSpPr>
          <p:cNvPr id="6" name="Footer Placeholder 5">
            <a:extLst>
              <a:ext uri="{FF2B5EF4-FFF2-40B4-BE49-F238E27FC236}">
                <a16:creationId xmlns:a16="http://schemas.microsoft.com/office/drawing/2014/main" id="{494D4BCC-0B2C-1B06-3378-F86E46EE26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04251E-E726-E605-BBE1-62C924A46744}"/>
              </a:ext>
            </a:extLst>
          </p:cNvPr>
          <p:cNvSpPr>
            <a:spLocks noGrp="1"/>
          </p:cNvSpPr>
          <p:nvPr>
            <p:ph type="sldNum" sz="quarter" idx="12"/>
          </p:nvPr>
        </p:nvSpPr>
        <p:spPr/>
        <p:txBody>
          <a:bodyPr/>
          <a:lstStyle/>
          <a:p>
            <a:fld id="{E6E087A0-8E33-4AD2-B40F-AC5841A95ADE}" type="slidenum">
              <a:rPr lang="en-US" smtClean="0"/>
              <a:t>‹#›</a:t>
            </a:fld>
            <a:endParaRPr lang="en-US"/>
          </a:p>
        </p:txBody>
      </p:sp>
    </p:spTree>
    <p:extLst>
      <p:ext uri="{BB962C8B-B14F-4D97-AF65-F5344CB8AC3E}">
        <p14:creationId xmlns:p14="http://schemas.microsoft.com/office/powerpoint/2010/main" val="480044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29F1D-170A-D077-8D82-DF97F4BFA6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226B906-B7CA-B549-5175-C0E4C303C5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A3B4357-F18D-7348-6182-ACCE1BD406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0132D9-A419-6D8C-5F63-3E3538604E21}"/>
              </a:ext>
            </a:extLst>
          </p:cNvPr>
          <p:cNvSpPr>
            <a:spLocks noGrp="1"/>
          </p:cNvSpPr>
          <p:nvPr>
            <p:ph type="dt" sz="half" idx="10"/>
          </p:nvPr>
        </p:nvSpPr>
        <p:spPr/>
        <p:txBody>
          <a:bodyPr/>
          <a:lstStyle/>
          <a:p>
            <a:fld id="{3CD9F770-7774-4F2F-BBCC-30A1B7F6EBC3}" type="datetime1">
              <a:rPr lang="en-US" smtClean="0"/>
              <a:t>9/30/2025</a:t>
            </a:fld>
            <a:endParaRPr lang="en-US"/>
          </a:p>
        </p:txBody>
      </p:sp>
      <p:sp>
        <p:nvSpPr>
          <p:cNvPr id="6" name="Footer Placeholder 5">
            <a:extLst>
              <a:ext uri="{FF2B5EF4-FFF2-40B4-BE49-F238E27FC236}">
                <a16:creationId xmlns:a16="http://schemas.microsoft.com/office/drawing/2014/main" id="{E38134AB-89A4-9790-9CF5-D5BD30DF16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E48D12-D1FD-812A-EFDA-9D6404DBBA45}"/>
              </a:ext>
            </a:extLst>
          </p:cNvPr>
          <p:cNvSpPr>
            <a:spLocks noGrp="1"/>
          </p:cNvSpPr>
          <p:nvPr>
            <p:ph type="sldNum" sz="quarter" idx="12"/>
          </p:nvPr>
        </p:nvSpPr>
        <p:spPr/>
        <p:txBody>
          <a:bodyPr/>
          <a:lstStyle/>
          <a:p>
            <a:fld id="{E6E087A0-8E33-4AD2-B40F-AC5841A95ADE}" type="slidenum">
              <a:rPr lang="en-US" smtClean="0"/>
              <a:t>‹#›</a:t>
            </a:fld>
            <a:endParaRPr lang="en-US"/>
          </a:p>
        </p:txBody>
      </p:sp>
    </p:spTree>
    <p:extLst>
      <p:ext uri="{BB962C8B-B14F-4D97-AF65-F5344CB8AC3E}">
        <p14:creationId xmlns:p14="http://schemas.microsoft.com/office/powerpoint/2010/main" val="74918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47EDE-6E26-FDED-61BC-C755F2D9ADB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232D71F-0E76-0A1F-9E96-C3B9643292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31C78B-0D60-59A1-9228-53C06A5B5952}"/>
              </a:ext>
            </a:extLst>
          </p:cNvPr>
          <p:cNvSpPr>
            <a:spLocks noGrp="1"/>
          </p:cNvSpPr>
          <p:nvPr>
            <p:ph type="dt" sz="half" idx="10"/>
          </p:nvPr>
        </p:nvSpPr>
        <p:spPr/>
        <p:txBody>
          <a:bodyPr/>
          <a:lstStyle/>
          <a:p>
            <a:fld id="{7D1B32DB-E79B-4763-868D-383441D6F614}" type="datetime1">
              <a:rPr lang="en-US" smtClean="0"/>
              <a:t>9/30/2025</a:t>
            </a:fld>
            <a:endParaRPr lang="en-US"/>
          </a:p>
        </p:txBody>
      </p:sp>
      <p:sp>
        <p:nvSpPr>
          <p:cNvPr id="5" name="Footer Placeholder 4">
            <a:extLst>
              <a:ext uri="{FF2B5EF4-FFF2-40B4-BE49-F238E27FC236}">
                <a16:creationId xmlns:a16="http://schemas.microsoft.com/office/drawing/2014/main" id="{205DA491-0600-FBB3-07D9-96F9172841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6FDEFF-1ABE-7287-7AD6-8661B321D0D5}"/>
              </a:ext>
            </a:extLst>
          </p:cNvPr>
          <p:cNvSpPr>
            <a:spLocks noGrp="1"/>
          </p:cNvSpPr>
          <p:nvPr>
            <p:ph type="sldNum" sz="quarter" idx="12"/>
          </p:nvPr>
        </p:nvSpPr>
        <p:spPr/>
        <p:txBody>
          <a:bodyPr/>
          <a:lstStyle/>
          <a:p>
            <a:fld id="{E6E087A0-8E33-4AD2-B40F-AC5841A95ADE}" type="slidenum">
              <a:rPr lang="en-US" smtClean="0"/>
              <a:t>‹#›</a:t>
            </a:fld>
            <a:endParaRPr lang="en-US"/>
          </a:p>
        </p:txBody>
      </p:sp>
    </p:spTree>
    <p:extLst>
      <p:ext uri="{BB962C8B-B14F-4D97-AF65-F5344CB8AC3E}">
        <p14:creationId xmlns:p14="http://schemas.microsoft.com/office/powerpoint/2010/main" val="2345820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756929-5CDE-A1BA-6BE6-180D2968812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BEC1942-AD47-487D-5032-C8279B077D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065CE2-C105-8A33-4295-D92A184F7EDD}"/>
              </a:ext>
            </a:extLst>
          </p:cNvPr>
          <p:cNvSpPr>
            <a:spLocks noGrp="1"/>
          </p:cNvSpPr>
          <p:nvPr>
            <p:ph type="dt" sz="half" idx="10"/>
          </p:nvPr>
        </p:nvSpPr>
        <p:spPr/>
        <p:txBody>
          <a:bodyPr/>
          <a:lstStyle/>
          <a:p>
            <a:fld id="{E23E7544-3EB1-47BD-A462-F9BF7255A2BF}" type="datetime1">
              <a:rPr lang="en-US" smtClean="0"/>
              <a:t>9/30/2025</a:t>
            </a:fld>
            <a:endParaRPr lang="en-US"/>
          </a:p>
        </p:txBody>
      </p:sp>
      <p:sp>
        <p:nvSpPr>
          <p:cNvPr id="5" name="Footer Placeholder 4">
            <a:extLst>
              <a:ext uri="{FF2B5EF4-FFF2-40B4-BE49-F238E27FC236}">
                <a16:creationId xmlns:a16="http://schemas.microsoft.com/office/drawing/2014/main" id="{6B844D71-89D2-455C-4249-9272377FC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40B1EE-04C9-E5D9-B6F3-B5783AF64EB8}"/>
              </a:ext>
            </a:extLst>
          </p:cNvPr>
          <p:cNvSpPr>
            <a:spLocks noGrp="1"/>
          </p:cNvSpPr>
          <p:nvPr>
            <p:ph type="sldNum" sz="quarter" idx="12"/>
          </p:nvPr>
        </p:nvSpPr>
        <p:spPr/>
        <p:txBody>
          <a:bodyPr/>
          <a:lstStyle/>
          <a:p>
            <a:fld id="{E6E087A0-8E33-4AD2-B40F-AC5841A95ADE}" type="slidenum">
              <a:rPr lang="en-US" smtClean="0"/>
              <a:t>‹#›</a:t>
            </a:fld>
            <a:endParaRPr lang="en-US"/>
          </a:p>
        </p:txBody>
      </p:sp>
    </p:spTree>
    <p:extLst>
      <p:ext uri="{BB962C8B-B14F-4D97-AF65-F5344CB8AC3E}">
        <p14:creationId xmlns:p14="http://schemas.microsoft.com/office/powerpoint/2010/main" val="718057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548D3-49E2-C339-620F-CF2385D9100A}"/>
              </a:ext>
            </a:extLst>
          </p:cNvPr>
          <p:cNvSpPr>
            <a:spLocks noGrp="1"/>
          </p:cNvSpPr>
          <p:nvPr>
            <p:ph type="title"/>
          </p:nvPr>
        </p:nvSpPr>
        <p:spPr>
          <a:xfrm>
            <a:off x="838200" y="177235"/>
            <a:ext cx="10515600" cy="774743"/>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dirty="0"/>
              <a:t>Click to edit Master title styl</a:t>
            </a:r>
            <a:r>
              <a:rPr lang="en-US" b="0" i="0" dirty="0">
                <a:solidFill>
                  <a:srgbClr val="BA3925"/>
                </a:solidFill>
                <a:effectLst/>
                <a:highlight>
                  <a:srgbClr val="FFFFFF"/>
                </a:highlight>
                <a:latin typeface="Open Sans" panose="020B0606030504020204" pitchFamily="34" charset="0"/>
              </a:rPr>
              <a:t>e</a:t>
            </a:r>
            <a:endParaRPr lang="en-US" dirty="0"/>
          </a:p>
        </p:txBody>
      </p:sp>
      <p:sp>
        <p:nvSpPr>
          <p:cNvPr id="3" name="Text Placeholder 2">
            <a:extLst>
              <a:ext uri="{FF2B5EF4-FFF2-40B4-BE49-F238E27FC236}">
                <a16:creationId xmlns:a16="http://schemas.microsoft.com/office/drawing/2014/main" id="{A6FFE56D-45E9-8BB4-B80F-1A432B1BAB88}"/>
              </a:ext>
            </a:extLst>
          </p:cNvPr>
          <p:cNvSpPr>
            <a:spLocks noGrp="1"/>
          </p:cNvSpPr>
          <p:nvPr>
            <p:ph type="body" idx="1"/>
          </p:nvPr>
        </p:nvSpPr>
        <p:spPr>
          <a:xfrm>
            <a:off x="838200" y="1164922"/>
            <a:ext cx="10515600" cy="50120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8DCF36D-554C-E936-4957-82EFF432CD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29F136A-9756-4F3B-9689-7316B3691752}" type="datetime1">
              <a:rPr lang="en-US" smtClean="0"/>
              <a:t>9/30/2025</a:t>
            </a:fld>
            <a:endParaRPr lang="en-US"/>
          </a:p>
        </p:txBody>
      </p:sp>
      <p:sp>
        <p:nvSpPr>
          <p:cNvPr id="5" name="Footer Placeholder 4">
            <a:extLst>
              <a:ext uri="{FF2B5EF4-FFF2-40B4-BE49-F238E27FC236}">
                <a16:creationId xmlns:a16="http://schemas.microsoft.com/office/drawing/2014/main" id="{6F1D6DD9-DE01-5EAE-7042-76FEE1CA76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57CACD0-EFA2-05A4-D248-2A9A2ED00F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E087A0-8E33-4AD2-B40F-AC5841A95ADE}" type="slidenum">
              <a:rPr lang="en-US" smtClean="0"/>
              <a:t>‹#›</a:t>
            </a:fld>
            <a:endParaRPr lang="en-US"/>
          </a:p>
        </p:txBody>
      </p:sp>
    </p:spTree>
    <p:extLst>
      <p:ext uri="{BB962C8B-B14F-4D97-AF65-F5344CB8AC3E}">
        <p14:creationId xmlns:p14="http://schemas.microsoft.com/office/powerpoint/2010/main" val="3321522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lnSpc>
          <a:spcPct val="90000"/>
        </a:lnSpc>
        <a:spcBef>
          <a:spcPct val="0"/>
        </a:spcBef>
        <a:buNone/>
        <a:defRPr sz="4400" kern="1200">
          <a:solidFill>
            <a:srgbClr val="BA3925"/>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bakesaleflyers.com/"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learn.microsoft.com/en-us/azure/architecture/patterns/sequential-convoy"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learn.microsoft.com/en-us/azure/architecture/patterns/"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s://cloud.google.com/architecture" TargetMode="External"/><Relationship Id="rId5" Type="http://schemas.openxmlformats.org/officeDocument/2006/relationships/hyperlink" Target="https://aws.amazon.com/blogs/compute/understanding-asynchronous-messaging-for-microservices/" TargetMode="External"/><Relationship Id="rId4" Type="http://schemas.openxmlformats.org/officeDocument/2006/relationships/hyperlink" Target="https://docs.aws.amazon.com/prescriptive-guidance/latest/cloud-design-patterns/introduction.html"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hyperlink" Target="https://hillside.net/patterns-definition" TargetMode="External"/><Relationship Id="rId2" Type="http://schemas.openxmlformats.org/officeDocument/2006/relationships/hyperlink" Target="https://en.wikipedia.org/wiki/Software_architecture"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Cartoon of a tower with a person in the middle&#10;&#10;AI-generated content may be incorrect.">
            <a:extLst>
              <a:ext uri="{FF2B5EF4-FFF2-40B4-BE49-F238E27FC236}">
                <a16:creationId xmlns:a16="http://schemas.microsoft.com/office/drawing/2014/main" id="{5CFEBE94-F78F-A815-EB1E-3A9C2FBEAC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81368" y="325332"/>
            <a:ext cx="4085603" cy="6218842"/>
          </a:xfrm>
          <a:prstGeom prst="rect">
            <a:avLst/>
          </a:prstGeom>
        </p:spPr>
      </p:pic>
      <p:sp>
        <p:nvSpPr>
          <p:cNvPr id="2" name="Title 1">
            <a:extLst>
              <a:ext uri="{FF2B5EF4-FFF2-40B4-BE49-F238E27FC236}">
                <a16:creationId xmlns:a16="http://schemas.microsoft.com/office/drawing/2014/main" id="{2B7CA3C0-7C3A-D0A0-07D6-FACE96A7CDF2}"/>
              </a:ext>
            </a:extLst>
          </p:cNvPr>
          <p:cNvSpPr>
            <a:spLocks noGrp="1"/>
          </p:cNvSpPr>
          <p:nvPr>
            <p:ph type="ctrTitle"/>
          </p:nvPr>
        </p:nvSpPr>
        <p:spPr>
          <a:xfrm>
            <a:off x="820808" y="575249"/>
            <a:ext cx="6004560" cy="3878702"/>
          </a:xfrm>
        </p:spPr>
        <p:txBody>
          <a:bodyPr>
            <a:normAutofit fontScale="90000"/>
          </a:bodyPr>
          <a:lstStyle/>
          <a:p>
            <a:r>
              <a:rPr lang="en-US" dirty="0"/>
              <a:t>Escaping Architecture Ivory Tower with Architecture Pattern Catalog</a:t>
            </a:r>
          </a:p>
        </p:txBody>
      </p:sp>
      <p:sp>
        <p:nvSpPr>
          <p:cNvPr id="4" name="Subtitle 2">
            <a:extLst>
              <a:ext uri="{FF2B5EF4-FFF2-40B4-BE49-F238E27FC236}">
                <a16:creationId xmlns:a16="http://schemas.microsoft.com/office/drawing/2014/main" id="{4876B692-E4B4-4258-6DA1-215189FD9E4C}"/>
              </a:ext>
            </a:extLst>
          </p:cNvPr>
          <p:cNvSpPr txBox="1">
            <a:spLocks/>
          </p:cNvSpPr>
          <p:nvPr/>
        </p:nvSpPr>
        <p:spPr>
          <a:xfrm>
            <a:off x="1042416" y="4881488"/>
            <a:ext cx="6004560" cy="52871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rgbClr val="BA3925"/>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800" dirty="0">
              <a:highlight>
                <a:srgbClr val="FFFFFF"/>
              </a:highlight>
            </a:endParaRPr>
          </a:p>
        </p:txBody>
      </p:sp>
      <p:sp>
        <p:nvSpPr>
          <p:cNvPr id="11" name="TextBox 10">
            <a:extLst>
              <a:ext uri="{FF2B5EF4-FFF2-40B4-BE49-F238E27FC236}">
                <a16:creationId xmlns:a16="http://schemas.microsoft.com/office/drawing/2014/main" id="{E301C207-4141-53AE-D899-552F203D50E0}"/>
              </a:ext>
            </a:extLst>
          </p:cNvPr>
          <p:cNvSpPr txBox="1"/>
          <p:nvPr/>
        </p:nvSpPr>
        <p:spPr>
          <a:xfrm>
            <a:off x="602809" y="5332339"/>
            <a:ext cx="6440558" cy="1200329"/>
          </a:xfrm>
          <a:prstGeom prst="rect">
            <a:avLst/>
          </a:prstGeom>
          <a:noFill/>
        </p:spPr>
        <p:txBody>
          <a:bodyPr wrap="square" rtlCol="0">
            <a:spAutoFit/>
          </a:bodyPr>
          <a:lstStyle/>
          <a:p>
            <a:pPr algn="ctr">
              <a:defRPr sz="3200">
                <a:solidFill>
                  <a:srgbClr val="808080"/>
                </a:solidFill>
              </a:defRPr>
            </a:pPr>
            <a:r>
              <a:rPr lang="en-US" sz="2400" dirty="0">
                <a:solidFill>
                  <a:srgbClr val="808080"/>
                </a:solidFill>
                <a:latin typeface="Aptos" panose="020B0004020202020204" pitchFamily="34" charset="0"/>
              </a:rPr>
              <a:t>dev2next</a:t>
            </a:r>
          </a:p>
          <a:p>
            <a:pPr algn="ctr">
              <a:defRPr sz="3200">
                <a:solidFill>
                  <a:srgbClr val="808080"/>
                </a:solidFill>
              </a:defRPr>
            </a:pPr>
            <a:r>
              <a:rPr lang="en-US" sz="2400" dirty="0">
                <a:solidFill>
                  <a:srgbClr val="808080"/>
                </a:solidFill>
                <a:latin typeface="Aptos" panose="020B0004020202020204" pitchFamily="34" charset="0"/>
              </a:rPr>
              <a:t>Colorado Springs, CO</a:t>
            </a:r>
            <a:br>
              <a:rPr lang="en-US" sz="2400" dirty="0">
                <a:solidFill>
                  <a:srgbClr val="808080"/>
                </a:solidFill>
                <a:latin typeface="Aptos" panose="020B0004020202020204" pitchFamily="34" charset="0"/>
              </a:rPr>
            </a:br>
            <a:r>
              <a:rPr lang="en-US" sz="2400" dirty="0">
                <a:solidFill>
                  <a:srgbClr val="808080"/>
                </a:solidFill>
                <a:latin typeface="Aptos" panose="020B0004020202020204" pitchFamily="34" charset="0"/>
              </a:rPr>
              <a:t>September 29 - October 2, 2025</a:t>
            </a:r>
          </a:p>
        </p:txBody>
      </p:sp>
    </p:spTree>
    <p:extLst>
      <p:ext uri="{BB962C8B-B14F-4D97-AF65-F5344CB8AC3E}">
        <p14:creationId xmlns:p14="http://schemas.microsoft.com/office/powerpoint/2010/main" val="2209440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tick figure holding a computer&#10;&#10;AI-generated content may be incorrect.">
            <a:extLst>
              <a:ext uri="{FF2B5EF4-FFF2-40B4-BE49-F238E27FC236}">
                <a16:creationId xmlns:a16="http://schemas.microsoft.com/office/drawing/2014/main" id="{0311C380-9CDB-F100-1AFF-1A08B5AF62FF}"/>
              </a:ext>
            </a:extLst>
          </p:cNvPr>
          <p:cNvPicPr>
            <a:picLocks noChangeAspect="1"/>
          </p:cNvPicPr>
          <p:nvPr/>
        </p:nvPicPr>
        <p:blipFill>
          <a:blip r:embed="rId3">
            <a:extLst>
              <a:ext uri="{28A0092B-C50C-407E-A947-70E740481C1C}">
                <a14:useLocalDpi xmlns:a14="http://schemas.microsoft.com/office/drawing/2010/main" val="0"/>
              </a:ext>
            </a:extLst>
          </a:blip>
          <a:srcRect l="27556" t="36000" r="32444" b="12000"/>
          <a:stretch>
            <a:fillRect/>
          </a:stretch>
        </p:blipFill>
        <p:spPr>
          <a:xfrm>
            <a:off x="9227820" y="2610804"/>
            <a:ext cx="2743200" cy="3566160"/>
          </a:xfrm>
          <a:prstGeom prst="rect">
            <a:avLst/>
          </a:prstGeom>
        </p:spPr>
      </p:pic>
      <p:sp>
        <p:nvSpPr>
          <p:cNvPr id="2" name="Title 1">
            <a:extLst>
              <a:ext uri="{FF2B5EF4-FFF2-40B4-BE49-F238E27FC236}">
                <a16:creationId xmlns:a16="http://schemas.microsoft.com/office/drawing/2014/main" id="{EC2DCA83-9E3C-3144-4ABC-6BEE422334C6}"/>
              </a:ext>
            </a:extLst>
          </p:cNvPr>
          <p:cNvSpPr>
            <a:spLocks noGrp="1"/>
          </p:cNvSpPr>
          <p:nvPr>
            <p:ph type="title"/>
          </p:nvPr>
        </p:nvSpPr>
        <p:spPr/>
        <p:txBody>
          <a:bodyPr/>
          <a:lstStyle/>
          <a:p>
            <a:r>
              <a:rPr lang="en-US" dirty="0"/>
              <a:t>What Is Architecture?</a:t>
            </a:r>
          </a:p>
        </p:txBody>
      </p:sp>
      <p:sp>
        <p:nvSpPr>
          <p:cNvPr id="3" name="Content Placeholder 2">
            <a:extLst>
              <a:ext uri="{FF2B5EF4-FFF2-40B4-BE49-F238E27FC236}">
                <a16:creationId xmlns:a16="http://schemas.microsoft.com/office/drawing/2014/main" id="{921C393D-E42A-18B3-1AB1-79E692EA892A}"/>
              </a:ext>
            </a:extLst>
          </p:cNvPr>
          <p:cNvSpPr>
            <a:spLocks noGrp="1"/>
          </p:cNvSpPr>
          <p:nvPr>
            <p:ph idx="1"/>
          </p:nvPr>
        </p:nvSpPr>
        <p:spPr/>
        <p:txBody>
          <a:bodyPr>
            <a:normAutofit/>
          </a:bodyPr>
          <a:lstStyle/>
          <a:p>
            <a:pPr marL="0" indent="0" algn="ctr">
              <a:buNone/>
            </a:pPr>
            <a:br>
              <a:rPr lang="en-US" dirty="0"/>
            </a:br>
            <a:br>
              <a:rPr lang="en-US" dirty="0"/>
            </a:br>
            <a:endParaRPr lang="en-US" dirty="0"/>
          </a:p>
          <a:p>
            <a:pPr marL="0" indent="0" algn="ctr">
              <a:buNone/>
            </a:pPr>
            <a:endParaRPr lang="en-US" dirty="0"/>
          </a:p>
          <a:p>
            <a:pPr marL="0" indent="0" algn="ctr">
              <a:buNone/>
            </a:pPr>
            <a:r>
              <a:rPr lang="en-US" dirty="0"/>
              <a:t>Unsatisfying attempts at defining Architecture to follow</a:t>
            </a:r>
          </a:p>
        </p:txBody>
      </p:sp>
      <p:sp>
        <p:nvSpPr>
          <p:cNvPr id="4" name="Slide Number Placeholder 3">
            <a:extLst>
              <a:ext uri="{FF2B5EF4-FFF2-40B4-BE49-F238E27FC236}">
                <a16:creationId xmlns:a16="http://schemas.microsoft.com/office/drawing/2014/main" id="{62CB93B0-6A1D-9A1F-438C-46DFE262A4A0}"/>
              </a:ext>
            </a:extLst>
          </p:cNvPr>
          <p:cNvSpPr>
            <a:spLocks noGrp="1"/>
          </p:cNvSpPr>
          <p:nvPr>
            <p:ph type="sldNum" sz="quarter" idx="12"/>
          </p:nvPr>
        </p:nvSpPr>
        <p:spPr/>
        <p:txBody>
          <a:bodyPr/>
          <a:lstStyle/>
          <a:p>
            <a:fld id="{E6E087A0-8E33-4AD2-B40F-AC5841A95ADE}" type="slidenum">
              <a:rPr lang="en-US" smtClean="0"/>
              <a:t>2</a:t>
            </a:fld>
            <a:endParaRPr lang="en-US"/>
          </a:p>
        </p:txBody>
      </p:sp>
    </p:spTree>
    <p:extLst>
      <p:ext uri="{BB962C8B-B14F-4D97-AF65-F5344CB8AC3E}">
        <p14:creationId xmlns:p14="http://schemas.microsoft.com/office/powerpoint/2010/main" val="2609470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AE279-C6AD-7F3D-09A3-23052F9603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529F0C-B084-DE85-8E8F-DE9E32672F64}"/>
              </a:ext>
            </a:extLst>
          </p:cNvPr>
          <p:cNvSpPr>
            <a:spLocks noGrp="1"/>
          </p:cNvSpPr>
          <p:nvPr>
            <p:ph type="title"/>
          </p:nvPr>
        </p:nvSpPr>
        <p:spPr/>
        <p:txBody>
          <a:bodyPr>
            <a:normAutofit/>
          </a:bodyPr>
          <a:lstStyle/>
          <a:p>
            <a:r>
              <a:rPr lang="en-US" dirty="0"/>
              <a:t>What Is Architecture? [Wikipedia]</a:t>
            </a:r>
          </a:p>
        </p:txBody>
      </p:sp>
      <p:sp>
        <p:nvSpPr>
          <p:cNvPr id="3" name="Content Placeholder 2">
            <a:extLst>
              <a:ext uri="{FF2B5EF4-FFF2-40B4-BE49-F238E27FC236}">
                <a16:creationId xmlns:a16="http://schemas.microsoft.com/office/drawing/2014/main" id="{292FBCAA-2C7F-1EB5-C2DA-C711F3715C3A}"/>
              </a:ext>
            </a:extLst>
          </p:cNvPr>
          <p:cNvSpPr>
            <a:spLocks noGrp="1"/>
          </p:cNvSpPr>
          <p:nvPr>
            <p:ph idx="1"/>
          </p:nvPr>
        </p:nvSpPr>
        <p:spPr/>
        <p:txBody>
          <a:bodyPr anchor="ctr">
            <a:normAutofit/>
          </a:bodyPr>
          <a:lstStyle/>
          <a:p>
            <a:pPr marL="0" indent="0">
              <a:buNone/>
            </a:pPr>
            <a:r>
              <a:rPr lang="en-US" dirty="0"/>
              <a:t>Software architecture is the set of structures needed to reason about a software system and the discipline of creating such structures and systems. Each structure comprises software elements, relations among them, and properties of both elements and relations.</a:t>
            </a:r>
          </a:p>
        </p:txBody>
      </p:sp>
      <p:sp>
        <p:nvSpPr>
          <p:cNvPr id="4" name="Slide Number Placeholder 3">
            <a:extLst>
              <a:ext uri="{FF2B5EF4-FFF2-40B4-BE49-F238E27FC236}">
                <a16:creationId xmlns:a16="http://schemas.microsoft.com/office/drawing/2014/main" id="{A5B09D5A-AA5C-7C85-E0AC-CAE84571F1DE}"/>
              </a:ext>
            </a:extLst>
          </p:cNvPr>
          <p:cNvSpPr>
            <a:spLocks noGrp="1"/>
          </p:cNvSpPr>
          <p:nvPr>
            <p:ph type="sldNum" sz="quarter" idx="12"/>
          </p:nvPr>
        </p:nvSpPr>
        <p:spPr/>
        <p:txBody>
          <a:bodyPr/>
          <a:lstStyle/>
          <a:p>
            <a:fld id="{E6E087A0-8E33-4AD2-B40F-AC5841A95ADE}" type="slidenum">
              <a:rPr lang="en-US" smtClean="0"/>
              <a:t>3</a:t>
            </a:fld>
            <a:endParaRPr lang="en-US"/>
          </a:p>
        </p:txBody>
      </p:sp>
    </p:spTree>
    <p:extLst>
      <p:ext uri="{BB962C8B-B14F-4D97-AF65-F5344CB8AC3E}">
        <p14:creationId xmlns:p14="http://schemas.microsoft.com/office/powerpoint/2010/main" val="2062836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42AEC-566E-0C89-1871-A7766DE7EA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8EC175-7549-AE38-7D47-BBDB9078155B}"/>
              </a:ext>
            </a:extLst>
          </p:cNvPr>
          <p:cNvSpPr>
            <a:spLocks noGrp="1"/>
          </p:cNvSpPr>
          <p:nvPr>
            <p:ph type="title"/>
          </p:nvPr>
        </p:nvSpPr>
        <p:spPr/>
        <p:txBody>
          <a:bodyPr>
            <a:normAutofit/>
          </a:bodyPr>
          <a:lstStyle/>
          <a:p>
            <a:r>
              <a:rPr lang="en-US" dirty="0"/>
              <a:t>What Is Architecture? [Martin Fowler]</a:t>
            </a:r>
          </a:p>
        </p:txBody>
      </p:sp>
      <p:sp>
        <p:nvSpPr>
          <p:cNvPr id="3" name="Content Placeholder 2">
            <a:extLst>
              <a:ext uri="{FF2B5EF4-FFF2-40B4-BE49-F238E27FC236}">
                <a16:creationId xmlns:a16="http://schemas.microsoft.com/office/drawing/2014/main" id="{44205FE3-E092-5B0C-B34B-C1E2886734B6}"/>
              </a:ext>
            </a:extLst>
          </p:cNvPr>
          <p:cNvSpPr>
            <a:spLocks noGrp="1"/>
          </p:cNvSpPr>
          <p:nvPr>
            <p:ph idx="1"/>
          </p:nvPr>
        </p:nvSpPr>
        <p:spPr/>
        <p:txBody>
          <a:bodyPr anchor="ctr">
            <a:normAutofit/>
          </a:bodyPr>
          <a:lstStyle/>
          <a:p>
            <a:pPr marL="0" indent="0">
              <a:buNone/>
            </a:pPr>
            <a:r>
              <a:rPr lang="en-US" dirty="0"/>
              <a:t>[A] hazily defined notion of the most important aspects of the internal design of a software system.</a:t>
            </a:r>
          </a:p>
        </p:txBody>
      </p:sp>
      <p:sp>
        <p:nvSpPr>
          <p:cNvPr id="4" name="Slide Number Placeholder 3">
            <a:extLst>
              <a:ext uri="{FF2B5EF4-FFF2-40B4-BE49-F238E27FC236}">
                <a16:creationId xmlns:a16="http://schemas.microsoft.com/office/drawing/2014/main" id="{6CC70973-0D8E-8E26-2A5D-9E105365F9FB}"/>
              </a:ext>
            </a:extLst>
          </p:cNvPr>
          <p:cNvSpPr>
            <a:spLocks noGrp="1"/>
          </p:cNvSpPr>
          <p:nvPr>
            <p:ph type="sldNum" sz="quarter" idx="12"/>
          </p:nvPr>
        </p:nvSpPr>
        <p:spPr/>
        <p:txBody>
          <a:bodyPr/>
          <a:lstStyle/>
          <a:p>
            <a:fld id="{E6E087A0-8E33-4AD2-B40F-AC5841A95ADE}" type="slidenum">
              <a:rPr lang="en-US" smtClean="0"/>
              <a:t>4</a:t>
            </a:fld>
            <a:endParaRPr lang="en-US"/>
          </a:p>
        </p:txBody>
      </p:sp>
    </p:spTree>
    <p:extLst>
      <p:ext uri="{BB962C8B-B14F-4D97-AF65-F5344CB8AC3E}">
        <p14:creationId xmlns:p14="http://schemas.microsoft.com/office/powerpoint/2010/main" val="275796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F7A02-8FB7-8781-1745-BF204872E87D}"/>
              </a:ext>
            </a:extLst>
          </p:cNvPr>
          <p:cNvSpPr>
            <a:spLocks noGrp="1"/>
          </p:cNvSpPr>
          <p:nvPr>
            <p:ph type="title"/>
          </p:nvPr>
        </p:nvSpPr>
        <p:spPr/>
        <p:txBody>
          <a:bodyPr/>
          <a:lstStyle/>
          <a:p>
            <a:r>
              <a:rPr lang="en-US" dirty="0"/>
              <a:t>What Is Architecture? [Grady Booch]</a:t>
            </a:r>
          </a:p>
        </p:txBody>
      </p:sp>
      <p:sp>
        <p:nvSpPr>
          <p:cNvPr id="3" name="Content Placeholder 2">
            <a:extLst>
              <a:ext uri="{FF2B5EF4-FFF2-40B4-BE49-F238E27FC236}">
                <a16:creationId xmlns:a16="http://schemas.microsoft.com/office/drawing/2014/main" id="{CA0F2BE5-297E-EFFA-9CEE-FB33DAE7DA35}"/>
              </a:ext>
            </a:extLst>
          </p:cNvPr>
          <p:cNvSpPr>
            <a:spLocks noGrp="1"/>
          </p:cNvSpPr>
          <p:nvPr>
            <p:ph idx="1"/>
          </p:nvPr>
        </p:nvSpPr>
        <p:spPr/>
        <p:txBody>
          <a:bodyPr>
            <a:normAutofit fontScale="92500" lnSpcReduction="20000"/>
          </a:bodyPr>
          <a:lstStyle/>
          <a:p>
            <a:pPr>
              <a:lnSpc>
                <a:spcPct val="120000"/>
              </a:lnSpc>
            </a:pPr>
            <a:r>
              <a:rPr lang="en-US" dirty="0"/>
              <a:t>“Architecture is just a collective hunch, a </a:t>
            </a:r>
            <a:r>
              <a:rPr lang="en-US" b="1" dirty="0"/>
              <a:t>shared hallucination</a:t>
            </a:r>
            <a:r>
              <a:rPr lang="en-US" dirty="0"/>
              <a:t>, an assertion by a set of stakeholders on the nature of their observable world, be it a world that is or a world as they wish it to be”</a:t>
            </a:r>
          </a:p>
          <a:p>
            <a:pPr>
              <a:lnSpc>
                <a:spcPct val="120000"/>
              </a:lnSpc>
            </a:pPr>
            <a:r>
              <a:rPr lang="en-US" dirty="0"/>
              <a:t>Represented by a </a:t>
            </a:r>
            <a:r>
              <a:rPr lang="en-US" b="1" dirty="0"/>
              <a:t>set of interlocking models</a:t>
            </a:r>
          </a:p>
          <a:p>
            <a:pPr>
              <a:lnSpc>
                <a:spcPct val="120000"/>
              </a:lnSpc>
            </a:pPr>
            <a:r>
              <a:rPr lang="en-US" dirty="0"/>
              <a:t>Architecture captures</a:t>
            </a:r>
          </a:p>
          <a:p>
            <a:pPr lvl="1">
              <a:lnSpc>
                <a:spcPct val="120000"/>
              </a:lnSpc>
            </a:pPr>
            <a:r>
              <a:rPr lang="en-US" dirty="0"/>
              <a:t>Significant design decisions</a:t>
            </a:r>
          </a:p>
          <a:p>
            <a:pPr lvl="1">
              <a:lnSpc>
                <a:spcPct val="120000"/>
              </a:lnSpc>
            </a:pPr>
            <a:r>
              <a:rPr lang="en-US" dirty="0"/>
              <a:t>Rationale</a:t>
            </a:r>
          </a:p>
          <a:p>
            <a:pPr lvl="1">
              <a:lnSpc>
                <a:spcPct val="120000"/>
              </a:lnSpc>
            </a:pPr>
            <a:r>
              <a:rPr lang="en-US" dirty="0"/>
              <a:t>Patterns </a:t>
            </a:r>
          </a:p>
          <a:p>
            <a:pPr lvl="1">
              <a:lnSpc>
                <a:spcPct val="120000"/>
              </a:lnSpc>
            </a:pPr>
            <a:r>
              <a:rPr lang="en-US" dirty="0"/>
              <a:t>Cross cutting concerns</a:t>
            </a:r>
          </a:p>
          <a:p>
            <a:pPr lvl="1">
              <a:lnSpc>
                <a:spcPct val="120000"/>
              </a:lnSpc>
            </a:pPr>
            <a:r>
              <a:rPr lang="en-US" dirty="0"/>
              <a:t>Tribal memory</a:t>
            </a:r>
          </a:p>
          <a:p>
            <a:pPr marL="0" indent="0" algn="r">
              <a:lnSpc>
                <a:spcPct val="120000"/>
              </a:lnSpc>
              <a:buNone/>
            </a:pPr>
            <a:endParaRPr lang="en-US" sz="2100" b="1" i="1" dirty="0"/>
          </a:p>
        </p:txBody>
      </p:sp>
      <p:sp>
        <p:nvSpPr>
          <p:cNvPr id="4" name="Slide Number Placeholder 3">
            <a:extLst>
              <a:ext uri="{FF2B5EF4-FFF2-40B4-BE49-F238E27FC236}">
                <a16:creationId xmlns:a16="http://schemas.microsoft.com/office/drawing/2014/main" id="{80945353-B922-AC41-E8CA-5EA617728132}"/>
              </a:ext>
            </a:extLst>
          </p:cNvPr>
          <p:cNvSpPr>
            <a:spLocks noGrp="1"/>
          </p:cNvSpPr>
          <p:nvPr>
            <p:ph type="sldNum" sz="quarter" idx="12"/>
          </p:nvPr>
        </p:nvSpPr>
        <p:spPr/>
        <p:txBody>
          <a:bodyPr/>
          <a:lstStyle/>
          <a:p>
            <a:fld id="{E6E087A0-8E33-4AD2-B40F-AC5841A95ADE}" type="slidenum">
              <a:rPr lang="en-US" smtClean="0"/>
              <a:t>5</a:t>
            </a:fld>
            <a:endParaRPr lang="en-US"/>
          </a:p>
        </p:txBody>
      </p:sp>
    </p:spTree>
    <p:extLst>
      <p:ext uri="{BB962C8B-B14F-4D97-AF65-F5344CB8AC3E}">
        <p14:creationId xmlns:p14="http://schemas.microsoft.com/office/powerpoint/2010/main" val="4030236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6D364-7362-7648-51BD-575AA185EF59}"/>
              </a:ext>
            </a:extLst>
          </p:cNvPr>
          <p:cNvSpPr>
            <a:spLocks noGrp="1"/>
          </p:cNvSpPr>
          <p:nvPr>
            <p:ph type="title"/>
          </p:nvPr>
        </p:nvSpPr>
        <p:spPr/>
        <p:txBody>
          <a:bodyPr/>
          <a:lstStyle/>
          <a:p>
            <a:r>
              <a:rPr lang="en-US" dirty="0"/>
              <a:t>What They* Say About Models</a:t>
            </a:r>
          </a:p>
        </p:txBody>
      </p:sp>
      <p:sp>
        <p:nvSpPr>
          <p:cNvPr id="3" name="Content Placeholder 2">
            <a:extLst>
              <a:ext uri="{FF2B5EF4-FFF2-40B4-BE49-F238E27FC236}">
                <a16:creationId xmlns:a16="http://schemas.microsoft.com/office/drawing/2014/main" id="{906EEF52-EE6F-6BFC-0CF0-64DF3B363096}"/>
              </a:ext>
            </a:extLst>
          </p:cNvPr>
          <p:cNvSpPr>
            <a:spLocks noGrp="1"/>
          </p:cNvSpPr>
          <p:nvPr>
            <p:ph idx="1"/>
          </p:nvPr>
        </p:nvSpPr>
        <p:spPr>
          <a:xfrm>
            <a:off x="838200" y="1164922"/>
            <a:ext cx="5918200" cy="5012042"/>
          </a:xfrm>
        </p:spPr>
        <p:txBody>
          <a:bodyPr/>
          <a:lstStyle/>
          <a:p>
            <a:r>
              <a:rPr lang="en-US" dirty="0"/>
              <a:t>All models are wrong, but some are useful</a:t>
            </a:r>
          </a:p>
          <a:p>
            <a:endParaRPr lang="en-US" dirty="0"/>
          </a:p>
          <a:p>
            <a:r>
              <a:rPr lang="en-US" dirty="0"/>
              <a:t>Comprehensiveness is the enemy of comprehensibility</a:t>
            </a:r>
          </a:p>
          <a:p>
            <a:endParaRPr lang="en-US" dirty="0"/>
          </a:p>
          <a:p>
            <a:r>
              <a:rPr lang="en-US" dirty="0"/>
              <a:t>Achieve amplification through simplification</a:t>
            </a:r>
          </a:p>
          <a:p>
            <a:endParaRPr lang="en-US" dirty="0"/>
          </a:p>
        </p:txBody>
      </p:sp>
      <p:sp>
        <p:nvSpPr>
          <p:cNvPr id="4" name="Slide Number Placeholder 3">
            <a:extLst>
              <a:ext uri="{FF2B5EF4-FFF2-40B4-BE49-F238E27FC236}">
                <a16:creationId xmlns:a16="http://schemas.microsoft.com/office/drawing/2014/main" id="{2E4B0227-15C1-C107-E3F4-E63DC681F8AA}"/>
              </a:ext>
            </a:extLst>
          </p:cNvPr>
          <p:cNvSpPr>
            <a:spLocks noGrp="1"/>
          </p:cNvSpPr>
          <p:nvPr>
            <p:ph type="sldNum" sz="quarter" idx="12"/>
          </p:nvPr>
        </p:nvSpPr>
        <p:spPr/>
        <p:txBody>
          <a:bodyPr/>
          <a:lstStyle/>
          <a:p>
            <a:fld id="{E6E087A0-8E33-4AD2-B40F-AC5841A95ADE}" type="slidenum">
              <a:rPr lang="en-US" smtClean="0"/>
              <a:t>6</a:t>
            </a:fld>
            <a:endParaRPr lang="en-US"/>
          </a:p>
        </p:txBody>
      </p:sp>
      <p:sp>
        <p:nvSpPr>
          <p:cNvPr id="5" name="Rectangle 4">
            <a:extLst>
              <a:ext uri="{FF2B5EF4-FFF2-40B4-BE49-F238E27FC236}">
                <a16:creationId xmlns:a16="http://schemas.microsoft.com/office/drawing/2014/main" id="{A9A8FE3F-846F-7063-4A25-91C4B4914C72}"/>
              </a:ext>
            </a:extLst>
          </p:cNvPr>
          <p:cNvSpPr/>
          <p:nvPr/>
        </p:nvSpPr>
        <p:spPr>
          <a:xfrm>
            <a:off x="6604000" y="1164922"/>
            <a:ext cx="5092700" cy="5012042"/>
          </a:xfrm>
          <a:prstGeom prst="rect">
            <a:avLst/>
          </a:prstGeom>
          <a:solidFill>
            <a:srgbClr val="FFFF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52D65A11-41F3-D9EA-3FEE-C0A7E91D5E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72640" y="1412669"/>
            <a:ext cx="2507953" cy="175158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ボード「Topology」のピン">
            <a:extLst>
              <a:ext uri="{FF2B5EF4-FFF2-40B4-BE49-F238E27FC236}">
                <a16:creationId xmlns:a16="http://schemas.microsoft.com/office/drawing/2014/main" id="{ED51D8AF-E1DB-C9D6-AE7F-1119EEE08C8B}"/>
              </a:ext>
            </a:extLst>
          </p:cNvPr>
          <p:cNvPicPr>
            <a:picLocks noChangeAspect="1" noChangeArrowheads="1"/>
          </p:cNvPicPr>
          <p:nvPr/>
        </p:nvPicPr>
        <p:blipFill rotWithShape="1">
          <a:blip r:embed="rId4">
            <a:clrChange>
              <a:clrFrom>
                <a:srgbClr val="282828"/>
              </a:clrFrom>
              <a:clrTo>
                <a:srgbClr val="282828">
                  <a:alpha val="0"/>
                </a:srgbClr>
              </a:clrTo>
            </a:clrChange>
            <a:extLst>
              <a:ext uri="{28A0092B-C50C-407E-A947-70E740481C1C}">
                <a14:useLocalDpi xmlns:a14="http://schemas.microsoft.com/office/drawing/2010/main" val="0"/>
              </a:ext>
            </a:extLst>
          </a:blip>
          <a:srcRect t="5180" b="3154"/>
          <a:stretch/>
        </p:blipFill>
        <p:spPr bwMode="auto">
          <a:xfrm>
            <a:off x="6845712" y="2728259"/>
            <a:ext cx="1910822" cy="175158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a:extLst>
              <a:ext uri="{FF2B5EF4-FFF2-40B4-BE49-F238E27FC236}">
                <a16:creationId xmlns:a16="http://schemas.microsoft.com/office/drawing/2014/main" id="{5EFBC4C4-44BF-762F-AE98-82DF7F4F17CB}"/>
              </a:ext>
            </a:extLst>
          </p:cNvPr>
          <p:cNvPicPr preferRelativeResize="0">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78689" y="4129741"/>
            <a:ext cx="3720204" cy="17535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BFD0AC4-3AA2-1B39-B1C1-45FBA3796DDE}"/>
              </a:ext>
            </a:extLst>
          </p:cNvPr>
          <p:cNvSpPr txBox="1"/>
          <p:nvPr/>
        </p:nvSpPr>
        <p:spPr>
          <a:xfrm>
            <a:off x="838200" y="5992298"/>
            <a:ext cx="2284664" cy="369332"/>
          </a:xfrm>
          <a:prstGeom prst="rect">
            <a:avLst/>
          </a:prstGeom>
          <a:noFill/>
        </p:spPr>
        <p:txBody>
          <a:bodyPr wrap="none" rtlCol="0">
            <a:spAutoFit/>
          </a:bodyPr>
          <a:lstStyle/>
          <a:p>
            <a:r>
              <a:rPr lang="en-US" dirty="0"/>
              <a:t>* The sayers of things</a:t>
            </a:r>
          </a:p>
        </p:txBody>
      </p:sp>
    </p:spTree>
    <p:extLst>
      <p:ext uri="{BB962C8B-B14F-4D97-AF65-F5344CB8AC3E}">
        <p14:creationId xmlns:p14="http://schemas.microsoft.com/office/powerpoint/2010/main" val="2052145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02E5D-E884-BB7E-EE64-71479F6676A8}"/>
              </a:ext>
            </a:extLst>
          </p:cNvPr>
          <p:cNvSpPr>
            <a:spLocks noGrp="1"/>
          </p:cNvSpPr>
          <p:nvPr>
            <p:ph type="title"/>
          </p:nvPr>
        </p:nvSpPr>
        <p:spPr/>
        <p:txBody>
          <a:bodyPr/>
          <a:lstStyle/>
          <a:p>
            <a:r>
              <a:rPr lang="en-US" dirty="0"/>
              <a:t>“…a set of interlocking models…”</a:t>
            </a:r>
          </a:p>
        </p:txBody>
      </p:sp>
      <p:sp>
        <p:nvSpPr>
          <p:cNvPr id="3" name="Content Placeholder 2">
            <a:extLst>
              <a:ext uri="{FF2B5EF4-FFF2-40B4-BE49-F238E27FC236}">
                <a16:creationId xmlns:a16="http://schemas.microsoft.com/office/drawing/2014/main" id="{1B6FA5AF-F988-4B20-EF95-73834E63778D}"/>
              </a:ext>
            </a:extLst>
          </p:cNvPr>
          <p:cNvSpPr>
            <a:spLocks noGrp="1"/>
          </p:cNvSpPr>
          <p:nvPr>
            <p:ph idx="1"/>
          </p:nvPr>
        </p:nvSpPr>
        <p:spPr>
          <a:xfrm>
            <a:off x="838200" y="1298567"/>
            <a:ext cx="10515600" cy="2199541"/>
          </a:xfrm>
        </p:spPr>
        <p:txBody>
          <a:bodyPr>
            <a:normAutofit/>
          </a:bodyPr>
          <a:lstStyle/>
          <a:p>
            <a:pPr marL="0" indent="0">
              <a:lnSpc>
                <a:spcPct val="120000"/>
              </a:lnSpc>
              <a:buNone/>
            </a:pPr>
            <a:r>
              <a:rPr lang="en-US" sz="2400" dirty="0"/>
              <a:t>There are always models. If there is no explicit modeling activity, there will be many implicit models, likely incorrect and inconsistent</a:t>
            </a:r>
          </a:p>
          <a:p>
            <a:pPr marL="0" indent="0">
              <a:lnSpc>
                <a:spcPct val="120000"/>
              </a:lnSpc>
              <a:buNone/>
            </a:pPr>
            <a:endParaRPr lang="en-US" sz="800" dirty="0"/>
          </a:p>
          <a:p>
            <a:pPr marL="0" indent="0">
              <a:lnSpc>
                <a:spcPct val="120000"/>
              </a:lnSpc>
              <a:buNone/>
            </a:pPr>
            <a:r>
              <a:rPr lang="en-US" sz="2400" b="1" dirty="0"/>
              <a:t>	   Explicit Modeling:		   Implicit (No) Modeling:</a:t>
            </a:r>
          </a:p>
        </p:txBody>
      </p:sp>
      <p:sp>
        <p:nvSpPr>
          <p:cNvPr id="4" name="Slide Number Placeholder 3">
            <a:extLst>
              <a:ext uri="{FF2B5EF4-FFF2-40B4-BE49-F238E27FC236}">
                <a16:creationId xmlns:a16="http://schemas.microsoft.com/office/drawing/2014/main" id="{027BAA2E-1254-B223-97B9-621C1112EF44}"/>
              </a:ext>
            </a:extLst>
          </p:cNvPr>
          <p:cNvSpPr>
            <a:spLocks noGrp="1"/>
          </p:cNvSpPr>
          <p:nvPr>
            <p:ph type="sldNum" sz="quarter" idx="12"/>
          </p:nvPr>
        </p:nvSpPr>
        <p:spPr/>
        <p:txBody>
          <a:bodyPr/>
          <a:lstStyle/>
          <a:p>
            <a:fld id="{E6E087A0-8E33-4AD2-B40F-AC5841A95ADE}" type="slidenum">
              <a:rPr lang="en-US" smtClean="0"/>
              <a:t>7</a:t>
            </a:fld>
            <a:endParaRPr lang="en-US"/>
          </a:p>
        </p:txBody>
      </p:sp>
      <p:sp>
        <p:nvSpPr>
          <p:cNvPr id="5" name="Cloud 82">
            <a:extLst>
              <a:ext uri="{FF2B5EF4-FFF2-40B4-BE49-F238E27FC236}">
                <a16:creationId xmlns:a16="http://schemas.microsoft.com/office/drawing/2014/main" id="{89F2BAC9-319C-B1BA-03DA-08AA261BACFC}"/>
              </a:ext>
            </a:extLst>
          </p:cNvPr>
          <p:cNvSpPr/>
          <p:nvPr/>
        </p:nvSpPr>
        <p:spPr>
          <a:xfrm>
            <a:off x="9491175" y="3293953"/>
            <a:ext cx="1197024" cy="1103827"/>
          </a:xfrm>
          <a:custGeom>
            <a:avLst/>
            <a:gdLst>
              <a:gd name="connsiteX0" fmla="*/ 3900 w 43200"/>
              <a:gd name="connsiteY0" fmla="*/ 14370 h 43200"/>
              <a:gd name="connsiteX1" fmla="*/ 5623 w 43200"/>
              <a:gd name="connsiteY1" fmla="*/ 6907 h 43200"/>
              <a:gd name="connsiteX2" fmla="*/ 14005 w 43200"/>
              <a:gd name="connsiteY2" fmla="*/ 5202 h 43200"/>
              <a:gd name="connsiteX3" fmla="*/ 22456 w 43200"/>
              <a:gd name="connsiteY3" fmla="*/ 3432 h 43200"/>
              <a:gd name="connsiteX4" fmla="*/ 25749 w 43200"/>
              <a:gd name="connsiteY4" fmla="*/ 200 h 43200"/>
              <a:gd name="connsiteX5" fmla="*/ 29833 w 43200"/>
              <a:gd name="connsiteY5" fmla="*/ 2481 h 43200"/>
              <a:gd name="connsiteX6" fmla="*/ 35463 w 43200"/>
              <a:gd name="connsiteY6" fmla="*/ 690 h 43200"/>
              <a:gd name="connsiteX7" fmla="*/ 38318 w 43200"/>
              <a:gd name="connsiteY7" fmla="*/ 5576 h 43200"/>
              <a:gd name="connsiteX8" fmla="*/ 41982 w 43200"/>
              <a:gd name="connsiteY8" fmla="*/ 10318 h 43200"/>
              <a:gd name="connsiteX9" fmla="*/ 41818 w 43200"/>
              <a:gd name="connsiteY9" fmla="*/ 15460 h 43200"/>
              <a:gd name="connsiteX10" fmla="*/ 43016 w 43200"/>
              <a:gd name="connsiteY10" fmla="*/ 23322 h 43200"/>
              <a:gd name="connsiteX11" fmla="*/ 37404 w 43200"/>
              <a:gd name="connsiteY11" fmla="*/ 30204 h 43200"/>
              <a:gd name="connsiteX12" fmla="*/ 35395 w 43200"/>
              <a:gd name="connsiteY12" fmla="*/ 36101 h 43200"/>
              <a:gd name="connsiteX13" fmla="*/ 28555 w 43200"/>
              <a:gd name="connsiteY13" fmla="*/ 36815 h 43200"/>
              <a:gd name="connsiteX14" fmla="*/ 23667 w 43200"/>
              <a:gd name="connsiteY14" fmla="*/ 43106 h 43200"/>
              <a:gd name="connsiteX15" fmla="*/ 16480 w 43200"/>
              <a:gd name="connsiteY15" fmla="*/ 39266 h 43200"/>
              <a:gd name="connsiteX16" fmla="*/ 5804 w 43200"/>
              <a:gd name="connsiteY16" fmla="*/ 35472 h 43200"/>
              <a:gd name="connsiteX17" fmla="*/ 1110 w 43200"/>
              <a:gd name="connsiteY17" fmla="*/ 31250 h 43200"/>
              <a:gd name="connsiteX18" fmla="*/ 2113 w 43200"/>
              <a:gd name="connsiteY18" fmla="*/ 25551 h 43200"/>
              <a:gd name="connsiteX19" fmla="*/ -5 w 43200"/>
              <a:gd name="connsiteY19" fmla="*/ 19704 h 43200"/>
              <a:gd name="connsiteX20" fmla="*/ 3863 w 43200"/>
              <a:gd name="connsiteY20" fmla="*/ 14507 h 43200"/>
              <a:gd name="connsiteX21" fmla="*/ 3900 w 43200"/>
              <a:gd name="connsiteY21" fmla="*/ 14370 h 43200"/>
              <a:gd name="connsiteX0" fmla="*/ 4693 w 43200"/>
              <a:gd name="connsiteY0" fmla="*/ 26177 h 43200"/>
              <a:gd name="connsiteX1" fmla="*/ 2160 w 43200"/>
              <a:gd name="connsiteY1" fmla="*/ 25380 h 43200"/>
              <a:gd name="connsiteX2" fmla="*/ 6928 w 43200"/>
              <a:gd name="connsiteY2" fmla="*/ 34899 h 43200"/>
              <a:gd name="connsiteX3" fmla="*/ 5820 w 43200"/>
              <a:gd name="connsiteY3" fmla="*/ 35280 h 43200"/>
              <a:gd name="connsiteX4" fmla="*/ 16478 w 43200"/>
              <a:gd name="connsiteY4" fmla="*/ 39090 h 43200"/>
              <a:gd name="connsiteX5" fmla="*/ 15810 w 43200"/>
              <a:gd name="connsiteY5" fmla="*/ 37350 h 43200"/>
              <a:gd name="connsiteX6" fmla="*/ 28827 w 43200"/>
              <a:gd name="connsiteY6" fmla="*/ 34751 h 43200"/>
              <a:gd name="connsiteX7" fmla="*/ 28560 w 43200"/>
              <a:gd name="connsiteY7" fmla="*/ 36660 h 43200"/>
              <a:gd name="connsiteX8" fmla="*/ 34129 w 43200"/>
              <a:gd name="connsiteY8" fmla="*/ 22954 h 43200"/>
              <a:gd name="connsiteX9" fmla="*/ 37380 w 43200"/>
              <a:gd name="connsiteY9" fmla="*/ 30090 h 43200"/>
              <a:gd name="connsiteX10" fmla="*/ 41798 w 43200"/>
              <a:gd name="connsiteY10" fmla="*/ 15354 h 43200"/>
              <a:gd name="connsiteX11" fmla="*/ 40350 w 43200"/>
              <a:gd name="connsiteY11" fmla="*/ 18030 h 43200"/>
              <a:gd name="connsiteX12" fmla="*/ 38324 w 43200"/>
              <a:gd name="connsiteY12" fmla="*/ 5426 h 43200"/>
              <a:gd name="connsiteX13" fmla="*/ 38400 w 43200"/>
              <a:gd name="connsiteY13" fmla="*/ 6690 h 43200"/>
              <a:gd name="connsiteX14" fmla="*/ 29078 w 43200"/>
              <a:gd name="connsiteY14" fmla="*/ 3952 h 43200"/>
              <a:gd name="connsiteX15" fmla="*/ 29820 w 43200"/>
              <a:gd name="connsiteY15" fmla="*/ 2340 h 43200"/>
              <a:gd name="connsiteX16" fmla="*/ 22141 w 43200"/>
              <a:gd name="connsiteY16" fmla="*/ 4720 h 43200"/>
              <a:gd name="connsiteX17" fmla="*/ 22500 w 43200"/>
              <a:gd name="connsiteY17" fmla="*/ 3330 h 43200"/>
              <a:gd name="connsiteX18" fmla="*/ 14000 w 43200"/>
              <a:gd name="connsiteY18" fmla="*/ 5192 h 43200"/>
              <a:gd name="connsiteX19" fmla="*/ 15300 w 43200"/>
              <a:gd name="connsiteY19" fmla="*/ 6540 h 43200"/>
              <a:gd name="connsiteX20" fmla="*/ 4127 w 43200"/>
              <a:gd name="connsiteY20" fmla="*/ 15789 h 43200"/>
              <a:gd name="connsiteX21" fmla="*/ 3900 w 43200"/>
              <a:gd name="connsiteY21" fmla="*/ 14370 h 43200"/>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6683 w 43256"/>
              <a:gd name="connsiteY8" fmla="*/ 27139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9114 w 43256"/>
              <a:gd name="connsiteY14" fmla="*/ 3811 h 43219"/>
              <a:gd name="connsiteX15" fmla="*/ 29856 w 43256"/>
              <a:gd name="connsiteY15" fmla="*/ 2199 h 43219"/>
              <a:gd name="connsiteX16" fmla="*/ 22177 w 43256"/>
              <a:gd name="connsiteY16" fmla="*/ 4579 h 43219"/>
              <a:gd name="connsiteX17" fmla="*/ 22536 w 43256"/>
              <a:gd name="connsiteY17" fmla="*/ 3189 h 43219"/>
              <a:gd name="connsiteX18" fmla="*/ 14036 w 43256"/>
              <a:gd name="connsiteY18" fmla="*/ 5051 h 43219"/>
              <a:gd name="connsiteX19" fmla="*/ 15336 w 43256"/>
              <a:gd name="connsiteY19" fmla="*/ 6399 h 43219"/>
              <a:gd name="connsiteX20" fmla="*/ 4163 w 43256"/>
              <a:gd name="connsiteY20" fmla="*/ 15648 h 43219"/>
              <a:gd name="connsiteX21" fmla="*/ 3936 w 43256"/>
              <a:gd name="connsiteY21"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6683 w 43256"/>
              <a:gd name="connsiteY8" fmla="*/ 27139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9114 w 43256"/>
              <a:gd name="connsiteY14" fmla="*/ 3811 h 43219"/>
              <a:gd name="connsiteX15" fmla="*/ 29856 w 43256"/>
              <a:gd name="connsiteY15" fmla="*/ 2199 h 43219"/>
              <a:gd name="connsiteX16" fmla="*/ 22177 w 43256"/>
              <a:gd name="connsiteY16" fmla="*/ 4579 h 43219"/>
              <a:gd name="connsiteX17" fmla="*/ 22536 w 43256"/>
              <a:gd name="connsiteY17" fmla="*/ 3189 h 43219"/>
              <a:gd name="connsiteX18" fmla="*/ 14036 w 43256"/>
              <a:gd name="connsiteY18" fmla="*/ 5051 h 43219"/>
              <a:gd name="connsiteX19" fmla="*/ 15336 w 43256"/>
              <a:gd name="connsiteY19" fmla="*/ 6399 h 43219"/>
              <a:gd name="connsiteX20" fmla="*/ 4163 w 43256"/>
              <a:gd name="connsiteY20" fmla="*/ 15648 h 43219"/>
              <a:gd name="connsiteX21" fmla="*/ 3936 w 43256"/>
              <a:gd name="connsiteY21"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6683 w 43256"/>
              <a:gd name="connsiteY8" fmla="*/ 27139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9114 w 43256"/>
              <a:gd name="connsiteY14" fmla="*/ 3811 h 43219"/>
              <a:gd name="connsiteX15" fmla="*/ 29856 w 43256"/>
              <a:gd name="connsiteY15" fmla="*/ 2199 h 43219"/>
              <a:gd name="connsiteX16" fmla="*/ 22177 w 43256"/>
              <a:gd name="connsiteY16" fmla="*/ 4579 h 43219"/>
              <a:gd name="connsiteX17" fmla="*/ 22536 w 43256"/>
              <a:gd name="connsiteY17" fmla="*/ 3189 h 43219"/>
              <a:gd name="connsiteX18" fmla="*/ 14036 w 43256"/>
              <a:gd name="connsiteY18" fmla="*/ 5051 h 43219"/>
              <a:gd name="connsiteX19" fmla="*/ 15336 w 43256"/>
              <a:gd name="connsiteY19" fmla="*/ 6399 h 43219"/>
              <a:gd name="connsiteX20" fmla="*/ 4163 w 43256"/>
              <a:gd name="connsiteY20" fmla="*/ 15648 h 43219"/>
              <a:gd name="connsiteX21" fmla="*/ 3936 w 43256"/>
              <a:gd name="connsiteY21" fmla="*/ 14229 h 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3256" h="43219">
                <a:moveTo>
                  <a:pt x="3936" y="14229"/>
                </a:moveTo>
                <a:cubicBezTo>
                  <a:pt x="3665" y="11516"/>
                  <a:pt x="4297" y="8780"/>
                  <a:pt x="5659" y="6766"/>
                </a:cubicBezTo>
                <a:cubicBezTo>
                  <a:pt x="7811" y="3585"/>
                  <a:pt x="11300" y="2876"/>
                  <a:pt x="14041" y="5061"/>
                </a:cubicBezTo>
                <a:cubicBezTo>
                  <a:pt x="15714" y="768"/>
                  <a:pt x="19950" y="-119"/>
                  <a:pt x="22492" y="3291"/>
                </a:cubicBezTo>
                <a:cubicBezTo>
                  <a:pt x="23133" y="1542"/>
                  <a:pt x="24364" y="333"/>
                  <a:pt x="25785" y="59"/>
                </a:cubicBezTo>
                <a:cubicBezTo>
                  <a:pt x="27349" y="-243"/>
                  <a:pt x="28911" y="629"/>
                  <a:pt x="29869" y="2340"/>
                </a:cubicBezTo>
                <a:cubicBezTo>
                  <a:pt x="31251" y="126"/>
                  <a:pt x="33537" y="-601"/>
                  <a:pt x="35499" y="549"/>
                </a:cubicBezTo>
                <a:cubicBezTo>
                  <a:pt x="36994" y="1425"/>
                  <a:pt x="38066" y="3259"/>
                  <a:pt x="38354" y="5435"/>
                </a:cubicBezTo>
                <a:cubicBezTo>
                  <a:pt x="40082" y="6077"/>
                  <a:pt x="41458" y="7857"/>
                  <a:pt x="42018" y="10177"/>
                </a:cubicBezTo>
                <a:cubicBezTo>
                  <a:pt x="42425" y="11861"/>
                  <a:pt x="42367" y="13690"/>
                  <a:pt x="41854" y="15319"/>
                </a:cubicBezTo>
                <a:cubicBezTo>
                  <a:pt x="43115" y="17553"/>
                  <a:pt x="43556" y="20449"/>
                  <a:pt x="43052" y="23181"/>
                </a:cubicBezTo>
                <a:cubicBezTo>
                  <a:pt x="42382" y="26813"/>
                  <a:pt x="40164" y="29533"/>
                  <a:pt x="37440" y="30063"/>
                </a:cubicBezTo>
                <a:cubicBezTo>
                  <a:pt x="37427" y="32330"/>
                  <a:pt x="36694" y="34480"/>
                  <a:pt x="35431" y="35960"/>
                </a:cubicBezTo>
                <a:cubicBezTo>
                  <a:pt x="33512" y="38209"/>
                  <a:pt x="30740" y="38498"/>
                  <a:pt x="28591" y="36674"/>
                </a:cubicBezTo>
                <a:cubicBezTo>
                  <a:pt x="27896" y="39807"/>
                  <a:pt x="26035" y="42202"/>
                  <a:pt x="23703" y="42965"/>
                </a:cubicBezTo>
                <a:cubicBezTo>
                  <a:pt x="20955" y="43864"/>
                  <a:pt x="18087" y="42332"/>
                  <a:pt x="16516" y="39125"/>
                </a:cubicBezTo>
                <a:cubicBezTo>
                  <a:pt x="12808" y="42169"/>
                  <a:pt x="7992" y="40458"/>
                  <a:pt x="5840" y="35331"/>
                </a:cubicBezTo>
                <a:cubicBezTo>
                  <a:pt x="3726" y="35668"/>
                  <a:pt x="1741" y="33883"/>
                  <a:pt x="1146" y="31109"/>
                </a:cubicBezTo>
                <a:cubicBezTo>
                  <a:pt x="715" y="29102"/>
                  <a:pt x="1096" y="26936"/>
                  <a:pt x="2149" y="25410"/>
                </a:cubicBezTo>
                <a:cubicBezTo>
                  <a:pt x="655" y="24213"/>
                  <a:pt x="-177" y="21916"/>
                  <a:pt x="31" y="19563"/>
                </a:cubicBezTo>
                <a:cubicBezTo>
                  <a:pt x="275" y="16808"/>
                  <a:pt x="1881" y="14650"/>
                  <a:pt x="3899" y="14366"/>
                </a:cubicBezTo>
                <a:cubicBezTo>
                  <a:pt x="3911" y="14320"/>
                  <a:pt x="3924" y="14275"/>
                  <a:pt x="3936" y="14229"/>
                </a:cubicBezTo>
                <a:close/>
              </a:path>
              <a:path w="43256" h="43219" fill="none" extrusionOk="0">
                <a:moveTo>
                  <a:pt x="4729" y="26036"/>
                </a:moveTo>
                <a:cubicBezTo>
                  <a:pt x="3845" y="26130"/>
                  <a:pt x="2961" y="25852"/>
                  <a:pt x="2196" y="25239"/>
                </a:cubicBezTo>
                <a:moveTo>
                  <a:pt x="6964" y="34758"/>
                </a:moveTo>
                <a:cubicBezTo>
                  <a:pt x="6609" y="34951"/>
                  <a:pt x="6236" y="35079"/>
                  <a:pt x="5856" y="35139"/>
                </a:cubicBezTo>
                <a:moveTo>
                  <a:pt x="16514" y="38949"/>
                </a:moveTo>
                <a:cubicBezTo>
                  <a:pt x="16247" y="38403"/>
                  <a:pt x="16023" y="37820"/>
                  <a:pt x="15846" y="37209"/>
                </a:cubicBezTo>
                <a:moveTo>
                  <a:pt x="28863" y="34610"/>
                </a:moveTo>
                <a:cubicBezTo>
                  <a:pt x="28824" y="35257"/>
                  <a:pt x="28734" y="35897"/>
                  <a:pt x="28596" y="36519"/>
                </a:cubicBezTo>
                <a:moveTo>
                  <a:pt x="36683" y="27139"/>
                </a:moveTo>
                <a:cubicBezTo>
                  <a:pt x="37314" y="29660"/>
                  <a:pt x="36747" y="26917"/>
                  <a:pt x="37416" y="29949"/>
                </a:cubicBezTo>
                <a:moveTo>
                  <a:pt x="41834" y="15213"/>
                </a:moveTo>
                <a:cubicBezTo>
                  <a:pt x="41509" y="16245"/>
                  <a:pt x="41014" y="17161"/>
                  <a:pt x="40386" y="17889"/>
                </a:cubicBezTo>
                <a:moveTo>
                  <a:pt x="38360" y="5285"/>
                </a:moveTo>
                <a:cubicBezTo>
                  <a:pt x="38415" y="5702"/>
                  <a:pt x="38441" y="6125"/>
                  <a:pt x="38436" y="6549"/>
                </a:cubicBezTo>
                <a:moveTo>
                  <a:pt x="29114" y="3811"/>
                </a:moveTo>
                <a:cubicBezTo>
                  <a:pt x="29303" y="3228"/>
                  <a:pt x="29552" y="2685"/>
                  <a:pt x="29856" y="2199"/>
                </a:cubicBezTo>
                <a:moveTo>
                  <a:pt x="22177" y="4579"/>
                </a:moveTo>
                <a:cubicBezTo>
                  <a:pt x="22254" y="4097"/>
                  <a:pt x="22375" y="3630"/>
                  <a:pt x="22536" y="3189"/>
                </a:cubicBezTo>
                <a:moveTo>
                  <a:pt x="14036" y="5051"/>
                </a:moveTo>
                <a:cubicBezTo>
                  <a:pt x="14508" y="5427"/>
                  <a:pt x="14944" y="5880"/>
                  <a:pt x="15336" y="6399"/>
                </a:cubicBezTo>
                <a:moveTo>
                  <a:pt x="4163" y="15648"/>
                </a:moveTo>
                <a:cubicBezTo>
                  <a:pt x="4060" y="15184"/>
                  <a:pt x="3984" y="14710"/>
                  <a:pt x="3936" y="14229"/>
                </a:cubicBezTo>
              </a:path>
            </a:pathLst>
          </a:cu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loud 82">
            <a:extLst>
              <a:ext uri="{FF2B5EF4-FFF2-40B4-BE49-F238E27FC236}">
                <a16:creationId xmlns:a16="http://schemas.microsoft.com/office/drawing/2014/main" id="{4D2161BB-A5EE-6638-7449-4A964A14EBEA}"/>
              </a:ext>
            </a:extLst>
          </p:cNvPr>
          <p:cNvSpPr/>
          <p:nvPr/>
        </p:nvSpPr>
        <p:spPr>
          <a:xfrm>
            <a:off x="2924117" y="3228711"/>
            <a:ext cx="1440071" cy="1103827"/>
          </a:xfrm>
          <a:custGeom>
            <a:avLst/>
            <a:gdLst>
              <a:gd name="connsiteX0" fmla="*/ 3900 w 43200"/>
              <a:gd name="connsiteY0" fmla="*/ 14370 h 43200"/>
              <a:gd name="connsiteX1" fmla="*/ 5623 w 43200"/>
              <a:gd name="connsiteY1" fmla="*/ 6907 h 43200"/>
              <a:gd name="connsiteX2" fmla="*/ 14005 w 43200"/>
              <a:gd name="connsiteY2" fmla="*/ 5202 h 43200"/>
              <a:gd name="connsiteX3" fmla="*/ 22456 w 43200"/>
              <a:gd name="connsiteY3" fmla="*/ 3432 h 43200"/>
              <a:gd name="connsiteX4" fmla="*/ 25749 w 43200"/>
              <a:gd name="connsiteY4" fmla="*/ 200 h 43200"/>
              <a:gd name="connsiteX5" fmla="*/ 29833 w 43200"/>
              <a:gd name="connsiteY5" fmla="*/ 2481 h 43200"/>
              <a:gd name="connsiteX6" fmla="*/ 35463 w 43200"/>
              <a:gd name="connsiteY6" fmla="*/ 690 h 43200"/>
              <a:gd name="connsiteX7" fmla="*/ 38318 w 43200"/>
              <a:gd name="connsiteY7" fmla="*/ 5576 h 43200"/>
              <a:gd name="connsiteX8" fmla="*/ 41982 w 43200"/>
              <a:gd name="connsiteY8" fmla="*/ 10318 h 43200"/>
              <a:gd name="connsiteX9" fmla="*/ 41818 w 43200"/>
              <a:gd name="connsiteY9" fmla="*/ 15460 h 43200"/>
              <a:gd name="connsiteX10" fmla="*/ 43016 w 43200"/>
              <a:gd name="connsiteY10" fmla="*/ 23322 h 43200"/>
              <a:gd name="connsiteX11" fmla="*/ 37404 w 43200"/>
              <a:gd name="connsiteY11" fmla="*/ 30204 h 43200"/>
              <a:gd name="connsiteX12" fmla="*/ 35395 w 43200"/>
              <a:gd name="connsiteY12" fmla="*/ 36101 h 43200"/>
              <a:gd name="connsiteX13" fmla="*/ 28555 w 43200"/>
              <a:gd name="connsiteY13" fmla="*/ 36815 h 43200"/>
              <a:gd name="connsiteX14" fmla="*/ 23667 w 43200"/>
              <a:gd name="connsiteY14" fmla="*/ 43106 h 43200"/>
              <a:gd name="connsiteX15" fmla="*/ 16480 w 43200"/>
              <a:gd name="connsiteY15" fmla="*/ 39266 h 43200"/>
              <a:gd name="connsiteX16" fmla="*/ 5804 w 43200"/>
              <a:gd name="connsiteY16" fmla="*/ 35472 h 43200"/>
              <a:gd name="connsiteX17" fmla="*/ 1110 w 43200"/>
              <a:gd name="connsiteY17" fmla="*/ 31250 h 43200"/>
              <a:gd name="connsiteX18" fmla="*/ 2113 w 43200"/>
              <a:gd name="connsiteY18" fmla="*/ 25551 h 43200"/>
              <a:gd name="connsiteX19" fmla="*/ -5 w 43200"/>
              <a:gd name="connsiteY19" fmla="*/ 19704 h 43200"/>
              <a:gd name="connsiteX20" fmla="*/ 3863 w 43200"/>
              <a:gd name="connsiteY20" fmla="*/ 14507 h 43200"/>
              <a:gd name="connsiteX21" fmla="*/ 3900 w 43200"/>
              <a:gd name="connsiteY21" fmla="*/ 14370 h 43200"/>
              <a:gd name="connsiteX0" fmla="*/ 4693 w 43200"/>
              <a:gd name="connsiteY0" fmla="*/ 26177 h 43200"/>
              <a:gd name="connsiteX1" fmla="*/ 2160 w 43200"/>
              <a:gd name="connsiteY1" fmla="*/ 25380 h 43200"/>
              <a:gd name="connsiteX2" fmla="*/ 6928 w 43200"/>
              <a:gd name="connsiteY2" fmla="*/ 34899 h 43200"/>
              <a:gd name="connsiteX3" fmla="*/ 5820 w 43200"/>
              <a:gd name="connsiteY3" fmla="*/ 35280 h 43200"/>
              <a:gd name="connsiteX4" fmla="*/ 16478 w 43200"/>
              <a:gd name="connsiteY4" fmla="*/ 39090 h 43200"/>
              <a:gd name="connsiteX5" fmla="*/ 15810 w 43200"/>
              <a:gd name="connsiteY5" fmla="*/ 37350 h 43200"/>
              <a:gd name="connsiteX6" fmla="*/ 28827 w 43200"/>
              <a:gd name="connsiteY6" fmla="*/ 34751 h 43200"/>
              <a:gd name="connsiteX7" fmla="*/ 28560 w 43200"/>
              <a:gd name="connsiteY7" fmla="*/ 36660 h 43200"/>
              <a:gd name="connsiteX8" fmla="*/ 34129 w 43200"/>
              <a:gd name="connsiteY8" fmla="*/ 22954 h 43200"/>
              <a:gd name="connsiteX9" fmla="*/ 37380 w 43200"/>
              <a:gd name="connsiteY9" fmla="*/ 30090 h 43200"/>
              <a:gd name="connsiteX10" fmla="*/ 41798 w 43200"/>
              <a:gd name="connsiteY10" fmla="*/ 15354 h 43200"/>
              <a:gd name="connsiteX11" fmla="*/ 40350 w 43200"/>
              <a:gd name="connsiteY11" fmla="*/ 18030 h 43200"/>
              <a:gd name="connsiteX12" fmla="*/ 38324 w 43200"/>
              <a:gd name="connsiteY12" fmla="*/ 5426 h 43200"/>
              <a:gd name="connsiteX13" fmla="*/ 38400 w 43200"/>
              <a:gd name="connsiteY13" fmla="*/ 6690 h 43200"/>
              <a:gd name="connsiteX14" fmla="*/ 29078 w 43200"/>
              <a:gd name="connsiteY14" fmla="*/ 3952 h 43200"/>
              <a:gd name="connsiteX15" fmla="*/ 29820 w 43200"/>
              <a:gd name="connsiteY15" fmla="*/ 2340 h 43200"/>
              <a:gd name="connsiteX16" fmla="*/ 22141 w 43200"/>
              <a:gd name="connsiteY16" fmla="*/ 4720 h 43200"/>
              <a:gd name="connsiteX17" fmla="*/ 22500 w 43200"/>
              <a:gd name="connsiteY17" fmla="*/ 3330 h 43200"/>
              <a:gd name="connsiteX18" fmla="*/ 14000 w 43200"/>
              <a:gd name="connsiteY18" fmla="*/ 5192 h 43200"/>
              <a:gd name="connsiteX19" fmla="*/ 15300 w 43200"/>
              <a:gd name="connsiteY19" fmla="*/ 6540 h 43200"/>
              <a:gd name="connsiteX20" fmla="*/ 4127 w 43200"/>
              <a:gd name="connsiteY20" fmla="*/ 15789 h 43200"/>
              <a:gd name="connsiteX21" fmla="*/ 3900 w 43200"/>
              <a:gd name="connsiteY21" fmla="*/ 14370 h 43200"/>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6683 w 43256"/>
              <a:gd name="connsiteY8" fmla="*/ 27139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9114 w 43256"/>
              <a:gd name="connsiteY14" fmla="*/ 3811 h 43219"/>
              <a:gd name="connsiteX15" fmla="*/ 29856 w 43256"/>
              <a:gd name="connsiteY15" fmla="*/ 2199 h 43219"/>
              <a:gd name="connsiteX16" fmla="*/ 22177 w 43256"/>
              <a:gd name="connsiteY16" fmla="*/ 4579 h 43219"/>
              <a:gd name="connsiteX17" fmla="*/ 22536 w 43256"/>
              <a:gd name="connsiteY17" fmla="*/ 3189 h 43219"/>
              <a:gd name="connsiteX18" fmla="*/ 14036 w 43256"/>
              <a:gd name="connsiteY18" fmla="*/ 5051 h 43219"/>
              <a:gd name="connsiteX19" fmla="*/ 15336 w 43256"/>
              <a:gd name="connsiteY19" fmla="*/ 6399 h 43219"/>
              <a:gd name="connsiteX20" fmla="*/ 4163 w 43256"/>
              <a:gd name="connsiteY20" fmla="*/ 15648 h 43219"/>
              <a:gd name="connsiteX21" fmla="*/ 3936 w 43256"/>
              <a:gd name="connsiteY21"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6683 w 43256"/>
              <a:gd name="connsiteY8" fmla="*/ 27139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9114 w 43256"/>
              <a:gd name="connsiteY14" fmla="*/ 3811 h 43219"/>
              <a:gd name="connsiteX15" fmla="*/ 29856 w 43256"/>
              <a:gd name="connsiteY15" fmla="*/ 2199 h 43219"/>
              <a:gd name="connsiteX16" fmla="*/ 22177 w 43256"/>
              <a:gd name="connsiteY16" fmla="*/ 4579 h 43219"/>
              <a:gd name="connsiteX17" fmla="*/ 22536 w 43256"/>
              <a:gd name="connsiteY17" fmla="*/ 3189 h 43219"/>
              <a:gd name="connsiteX18" fmla="*/ 14036 w 43256"/>
              <a:gd name="connsiteY18" fmla="*/ 5051 h 43219"/>
              <a:gd name="connsiteX19" fmla="*/ 15336 w 43256"/>
              <a:gd name="connsiteY19" fmla="*/ 6399 h 43219"/>
              <a:gd name="connsiteX20" fmla="*/ 4163 w 43256"/>
              <a:gd name="connsiteY20" fmla="*/ 15648 h 43219"/>
              <a:gd name="connsiteX21" fmla="*/ 3936 w 43256"/>
              <a:gd name="connsiteY21"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6683 w 43256"/>
              <a:gd name="connsiteY8" fmla="*/ 27139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9114 w 43256"/>
              <a:gd name="connsiteY14" fmla="*/ 3811 h 43219"/>
              <a:gd name="connsiteX15" fmla="*/ 29856 w 43256"/>
              <a:gd name="connsiteY15" fmla="*/ 2199 h 43219"/>
              <a:gd name="connsiteX16" fmla="*/ 22177 w 43256"/>
              <a:gd name="connsiteY16" fmla="*/ 4579 h 43219"/>
              <a:gd name="connsiteX17" fmla="*/ 22536 w 43256"/>
              <a:gd name="connsiteY17" fmla="*/ 3189 h 43219"/>
              <a:gd name="connsiteX18" fmla="*/ 14036 w 43256"/>
              <a:gd name="connsiteY18" fmla="*/ 5051 h 43219"/>
              <a:gd name="connsiteX19" fmla="*/ 15336 w 43256"/>
              <a:gd name="connsiteY19" fmla="*/ 6399 h 43219"/>
              <a:gd name="connsiteX20" fmla="*/ 4163 w 43256"/>
              <a:gd name="connsiteY20" fmla="*/ 15648 h 43219"/>
              <a:gd name="connsiteX21" fmla="*/ 3936 w 43256"/>
              <a:gd name="connsiteY21" fmla="*/ 14229 h 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3256" h="43219">
                <a:moveTo>
                  <a:pt x="3936" y="14229"/>
                </a:moveTo>
                <a:cubicBezTo>
                  <a:pt x="3665" y="11516"/>
                  <a:pt x="4297" y="8780"/>
                  <a:pt x="5659" y="6766"/>
                </a:cubicBezTo>
                <a:cubicBezTo>
                  <a:pt x="7811" y="3585"/>
                  <a:pt x="11300" y="2876"/>
                  <a:pt x="14041" y="5061"/>
                </a:cubicBezTo>
                <a:cubicBezTo>
                  <a:pt x="15714" y="768"/>
                  <a:pt x="19950" y="-119"/>
                  <a:pt x="22492" y="3291"/>
                </a:cubicBezTo>
                <a:cubicBezTo>
                  <a:pt x="23133" y="1542"/>
                  <a:pt x="24364" y="333"/>
                  <a:pt x="25785" y="59"/>
                </a:cubicBezTo>
                <a:cubicBezTo>
                  <a:pt x="27349" y="-243"/>
                  <a:pt x="28911" y="629"/>
                  <a:pt x="29869" y="2340"/>
                </a:cubicBezTo>
                <a:cubicBezTo>
                  <a:pt x="31251" y="126"/>
                  <a:pt x="33537" y="-601"/>
                  <a:pt x="35499" y="549"/>
                </a:cubicBezTo>
                <a:cubicBezTo>
                  <a:pt x="36994" y="1425"/>
                  <a:pt x="38066" y="3259"/>
                  <a:pt x="38354" y="5435"/>
                </a:cubicBezTo>
                <a:cubicBezTo>
                  <a:pt x="40082" y="6077"/>
                  <a:pt x="41458" y="7857"/>
                  <a:pt x="42018" y="10177"/>
                </a:cubicBezTo>
                <a:cubicBezTo>
                  <a:pt x="42425" y="11861"/>
                  <a:pt x="42367" y="13690"/>
                  <a:pt x="41854" y="15319"/>
                </a:cubicBezTo>
                <a:cubicBezTo>
                  <a:pt x="43115" y="17553"/>
                  <a:pt x="43556" y="20449"/>
                  <a:pt x="43052" y="23181"/>
                </a:cubicBezTo>
                <a:cubicBezTo>
                  <a:pt x="42382" y="26813"/>
                  <a:pt x="40164" y="29533"/>
                  <a:pt x="37440" y="30063"/>
                </a:cubicBezTo>
                <a:cubicBezTo>
                  <a:pt x="37427" y="32330"/>
                  <a:pt x="36694" y="34480"/>
                  <a:pt x="35431" y="35960"/>
                </a:cubicBezTo>
                <a:cubicBezTo>
                  <a:pt x="33512" y="38209"/>
                  <a:pt x="30740" y="38498"/>
                  <a:pt x="28591" y="36674"/>
                </a:cubicBezTo>
                <a:cubicBezTo>
                  <a:pt x="27896" y="39807"/>
                  <a:pt x="26035" y="42202"/>
                  <a:pt x="23703" y="42965"/>
                </a:cubicBezTo>
                <a:cubicBezTo>
                  <a:pt x="20955" y="43864"/>
                  <a:pt x="18087" y="42332"/>
                  <a:pt x="16516" y="39125"/>
                </a:cubicBezTo>
                <a:cubicBezTo>
                  <a:pt x="12808" y="42169"/>
                  <a:pt x="7992" y="40458"/>
                  <a:pt x="5840" y="35331"/>
                </a:cubicBezTo>
                <a:cubicBezTo>
                  <a:pt x="3726" y="35668"/>
                  <a:pt x="1741" y="33883"/>
                  <a:pt x="1146" y="31109"/>
                </a:cubicBezTo>
                <a:cubicBezTo>
                  <a:pt x="715" y="29102"/>
                  <a:pt x="1096" y="26936"/>
                  <a:pt x="2149" y="25410"/>
                </a:cubicBezTo>
                <a:cubicBezTo>
                  <a:pt x="655" y="24213"/>
                  <a:pt x="-177" y="21916"/>
                  <a:pt x="31" y="19563"/>
                </a:cubicBezTo>
                <a:cubicBezTo>
                  <a:pt x="275" y="16808"/>
                  <a:pt x="1881" y="14650"/>
                  <a:pt x="3899" y="14366"/>
                </a:cubicBezTo>
                <a:cubicBezTo>
                  <a:pt x="3911" y="14320"/>
                  <a:pt x="3924" y="14275"/>
                  <a:pt x="3936" y="14229"/>
                </a:cubicBezTo>
                <a:close/>
              </a:path>
              <a:path w="43256" h="43219" fill="none" extrusionOk="0">
                <a:moveTo>
                  <a:pt x="4729" y="26036"/>
                </a:moveTo>
                <a:cubicBezTo>
                  <a:pt x="3845" y="26130"/>
                  <a:pt x="2961" y="25852"/>
                  <a:pt x="2196" y="25239"/>
                </a:cubicBezTo>
                <a:moveTo>
                  <a:pt x="6964" y="34758"/>
                </a:moveTo>
                <a:cubicBezTo>
                  <a:pt x="6609" y="34951"/>
                  <a:pt x="6236" y="35079"/>
                  <a:pt x="5856" y="35139"/>
                </a:cubicBezTo>
                <a:moveTo>
                  <a:pt x="16514" y="38949"/>
                </a:moveTo>
                <a:cubicBezTo>
                  <a:pt x="16247" y="38403"/>
                  <a:pt x="16023" y="37820"/>
                  <a:pt x="15846" y="37209"/>
                </a:cubicBezTo>
                <a:moveTo>
                  <a:pt x="28863" y="34610"/>
                </a:moveTo>
                <a:cubicBezTo>
                  <a:pt x="28824" y="35257"/>
                  <a:pt x="28734" y="35897"/>
                  <a:pt x="28596" y="36519"/>
                </a:cubicBezTo>
                <a:moveTo>
                  <a:pt x="36683" y="27139"/>
                </a:moveTo>
                <a:cubicBezTo>
                  <a:pt x="37314" y="29660"/>
                  <a:pt x="36747" y="26917"/>
                  <a:pt x="37416" y="29949"/>
                </a:cubicBezTo>
                <a:moveTo>
                  <a:pt x="41834" y="15213"/>
                </a:moveTo>
                <a:cubicBezTo>
                  <a:pt x="41509" y="16245"/>
                  <a:pt x="41014" y="17161"/>
                  <a:pt x="40386" y="17889"/>
                </a:cubicBezTo>
                <a:moveTo>
                  <a:pt x="38360" y="5285"/>
                </a:moveTo>
                <a:cubicBezTo>
                  <a:pt x="38415" y="5702"/>
                  <a:pt x="38441" y="6125"/>
                  <a:pt x="38436" y="6549"/>
                </a:cubicBezTo>
                <a:moveTo>
                  <a:pt x="29114" y="3811"/>
                </a:moveTo>
                <a:cubicBezTo>
                  <a:pt x="29303" y="3228"/>
                  <a:pt x="29552" y="2685"/>
                  <a:pt x="29856" y="2199"/>
                </a:cubicBezTo>
                <a:moveTo>
                  <a:pt x="22177" y="4579"/>
                </a:moveTo>
                <a:cubicBezTo>
                  <a:pt x="22254" y="4097"/>
                  <a:pt x="22375" y="3630"/>
                  <a:pt x="22536" y="3189"/>
                </a:cubicBezTo>
                <a:moveTo>
                  <a:pt x="14036" y="5051"/>
                </a:moveTo>
                <a:cubicBezTo>
                  <a:pt x="14508" y="5427"/>
                  <a:pt x="14944" y="5880"/>
                  <a:pt x="15336" y="6399"/>
                </a:cubicBezTo>
                <a:moveTo>
                  <a:pt x="4163" y="15648"/>
                </a:moveTo>
                <a:cubicBezTo>
                  <a:pt x="4060" y="15184"/>
                  <a:pt x="3984" y="14710"/>
                  <a:pt x="3936" y="14229"/>
                </a:cubicBezTo>
              </a:path>
            </a:pathLst>
          </a:cu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97D17641-34F3-1028-25C3-4D331A270CE5}"/>
              </a:ext>
            </a:extLst>
          </p:cNvPr>
          <p:cNvGrpSpPr/>
          <p:nvPr/>
        </p:nvGrpSpPr>
        <p:grpSpPr>
          <a:xfrm>
            <a:off x="2363492" y="4890507"/>
            <a:ext cx="388603" cy="895350"/>
            <a:chOff x="3170682" y="3146298"/>
            <a:chExt cx="511302" cy="1178052"/>
          </a:xfrm>
        </p:grpSpPr>
        <p:sp>
          <p:nvSpPr>
            <p:cNvPr id="8" name="Oval 7">
              <a:extLst>
                <a:ext uri="{FF2B5EF4-FFF2-40B4-BE49-F238E27FC236}">
                  <a16:creationId xmlns:a16="http://schemas.microsoft.com/office/drawing/2014/main" id="{5F55AC44-BE26-335A-C35F-597936F4A625}"/>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A436594B-B055-88A4-E017-050FC254EA52}"/>
                </a:ext>
              </a:extLst>
            </p:cNvPr>
            <p:cNvCxnSpPr>
              <a:stCxn id="8"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B961C0D-FF0D-AFE6-070E-794F75275893}"/>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F378B3C-33F7-09F8-A134-611C1F2CBC7B}"/>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67F6E5-0DDC-E420-2378-6508873FE9C1}"/>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8AEF612-AF18-322E-98B0-5A4D3347CC88}"/>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8ACEAC6C-AEB3-7E13-2227-8E40E43B8AC8}"/>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55B418F-C19B-1D08-9757-E4C9F7AE847D}"/>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2D3D448-BEA5-2F67-835A-DF408E57076A}"/>
                </a:ext>
              </a:extLst>
            </p:cNvPr>
            <p:cNvSpPr/>
            <p:nvPr/>
          </p:nvSpPr>
          <p:spPr>
            <a:xfrm rot="21414188">
              <a:off x="3343272" y="3390900"/>
              <a:ext cx="158115"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51967C13-E18A-12E3-0D27-4B62406F903E}"/>
              </a:ext>
            </a:extLst>
          </p:cNvPr>
          <p:cNvGrpSpPr/>
          <p:nvPr/>
        </p:nvGrpSpPr>
        <p:grpSpPr>
          <a:xfrm>
            <a:off x="2979656" y="5005192"/>
            <a:ext cx="388603" cy="895350"/>
            <a:chOff x="3170682" y="3146298"/>
            <a:chExt cx="511302" cy="1178052"/>
          </a:xfrm>
        </p:grpSpPr>
        <p:sp>
          <p:nvSpPr>
            <p:cNvPr id="18" name="Oval 17">
              <a:extLst>
                <a:ext uri="{FF2B5EF4-FFF2-40B4-BE49-F238E27FC236}">
                  <a16:creationId xmlns:a16="http://schemas.microsoft.com/office/drawing/2014/main" id="{E81411C2-5419-AB57-5929-58BE0CABC18A}"/>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6BB877AA-94D4-6B0A-B40F-7DA48F5E8C72}"/>
                </a:ext>
              </a:extLst>
            </p:cNvPr>
            <p:cNvCxnSpPr>
              <a:stCxn id="18"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E7501C5-A331-300B-5DB0-54FAC8070D94}"/>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5365F1B-F2D5-4FB4-FE99-60DFFFA9D45A}"/>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E1CB5E7-6491-493A-90E1-DAF8D27CB4DE}"/>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901D0EA-1C36-738A-D47C-0E84B76BEA1E}"/>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865A73FD-AA8F-A691-46C9-C3BCB125CE5A}"/>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574AAE3-15B9-B4B3-1AEC-82BA6F30B7E9}"/>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7F43C269-AACA-81D8-5F5B-74284DA3D7C7}"/>
                </a:ext>
              </a:extLst>
            </p:cNvPr>
            <p:cNvSpPr/>
            <p:nvPr/>
          </p:nvSpPr>
          <p:spPr>
            <a:xfrm rot="21414188">
              <a:off x="3343272" y="3390900"/>
              <a:ext cx="158115"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63F0990F-5CD8-2309-A0A6-9D9B449DE0B2}"/>
              </a:ext>
            </a:extLst>
          </p:cNvPr>
          <p:cNvGrpSpPr/>
          <p:nvPr/>
        </p:nvGrpSpPr>
        <p:grpSpPr>
          <a:xfrm>
            <a:off x="3620568" y="5249504"/>
            <a:ext cx="388603" cy="895350"/>
            <a:chOff x="3170682" y="3146298"/>
            <a:chExt cx="511302" cy="1178052"/>
          </a:xfrm>
        </p:grpSpPr>
        <p:sp>
          <p:nvSpPr>
            <p:cNvPr id="28" name="Oval 27">
              <a:extLst>
                <a:ext uri="{FF2B5EF4-FFF2-40B4-BE49-F238E27FC236}">
                  <a16:creationId xmlns:a16="http://schemas.microsoft.com/office/drawing/2014/main" id="{BFCF8D33-02E9-2CFA-8C52-EA7DD15FFAD8}"/>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7D8174C1-F955-E298-C046-FDBFFDF397A3}"/>
                </a:ext>
              </a:extLst>
            </p:cNvPr>
            <p:cNvCxnSpPr>
              <a:stCxn id="28"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60B5764-1F2E-1BEF-63F5-7A6D175D349E}"/>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9ECFBBE-DA9C-40F1-5559-9669D651F413}"/>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C4C1272-EBB2-F43E-E769-1008EDF67419}"/>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819A6BA-3E70-DAD3-7AE0-5ADAD302F2F5}"/>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032E1C4A-5132-BEE8-383F-4BD91034F9FE}"/>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54EC490B-65F3-4287-5109-14784E974B4B}"/>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DFFDEDC2-E38A-17B4-DE5B-D7CFFE12232B}"/>
                </a:ext>
              </a:extLst>
            </p:cNvPr>
            <p:cNvSpPr/>
            <p:nvPr/>
          </p:nvSpPr>
          <p:spPr>
            <a:xfrm rot="21414188">
              <a:off x="3343272" y="3390900"/>
              <a:ext cx="158115"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76F3E4B9-0252-2E53-A770-739C1AF9C5B6}"/>
              </a:ext>
            </a:extLst>
          </p:cNvPr>
          <p:cNvGrpSpPr/>
          <p:nvPr/>
        </p:nvGrpSpPr>
        <p:grpSpPr>
          <a:xfrm>
            <a:off x="4474088" y="4781319"/>
            <a:ext cx="388603" cy="895350"/>
            <a:chOff x="3170682" y="3146298"/>
            <a:chExt cx="511302" cy="1178052"/>
          </a:xfrm>
        </p:grpSpPr>
        <p:sp>
          <p:nvSpPr>
            <p:cNvPr id="38" name="Oval 37">
              <a:extLst>
                <a:ext uri="{FF2B5EF4-FFF2-40B4-BE49-F238E27FC236}">
                  <a16:creationId xmlns:a16="http://schemas.microsoft.com/office/drawing/2014/main" id="{B137F22A-5BE2-3D06-B943-8322886597EE}"/>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a:extLst>
                <a:ext uri="{FF2B5EF4-FFF2-40B4-BE49-F238E27FC236}">
                  <a16:creationId xmlns:a16="http://schemas.microsoft.com/office/drawing/2014/main" id="{F5F03FF9-C319-94D1-D383-7DC5BE76A918}"/>
                </a:ext>
              </a:extLst>
            </p:cNvPr>
            <p:cNvCxnSpPr>
              <a:stCxn id="38"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65ED68C-EDA9-D889-D8FD-DB8C8230BFDC}"/>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05F9F2C-14A0-908D-9CB4-41961F59F1A6}"/>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891272F-F693-E612-6B96-2B5428318230}"/>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15241BE-D86C-DF19-45A1-5FFED0ABC9D0}"/>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A290F1B8-44A9-434E-DD6C-C3866041FB3D}"/>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CE26C5F1-5DCB-4D53-E225-8CACAE995B9F}"/>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7C37DBF4-36E3-D123-3611-6E4B3E7AB4A8}"/>
                </a:ext>
              </a:extLst>
            </p:cNvPr>
            <p:cNvSpPr/>
            <p:nvPr/>
          </p:nvSpPr>
          <p:spPr>
            <a:xfrm rot="21414188">
              <a:off x="3343272" y="3390900"/>
              <a:ext cx="158115"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46">
            <a:extLst>
              <a:ext uri="{FF2B5EF4-FFF2-40B4-BE49-F238E27FC236}">
                <a16:creationId xmlns:a16="http://schemas.microsoft.com/office/drawing/2014/main" id="{DD093D3F-C035-7A4A-16EA-F8E2E6450076}"/>
              </a:ext>
            </a:extLst>
          </p:cNvPr>
          <p:cNvGrpSpPr/>
          <p:nvPr/>
        </p:nvGrpSpPr>
        <p:grpSpPr>
          <a:xfrm>
            <a:off x="3323289" y="3446225"/>
            <a:ext cx="687367" cy="678693"/>
            <a:chOff x="5775960" y="5415136"/>
            <a:chExt cx="743761" cy="734375"/>
          </a:xfrm>
        </p:grpSpPr>
        <p:sp>
          <p:nvSpPr>
            <p:cNvPr id="48" name="Rectangle 47">
              <a:extLst>
                <a:ext uri="{FF2B5EF4-FFF2-40B4-BE49-F238E27FC236}">
                  <a16:creationId xmlns:a16="http://schemas.microsoft.com/office/drawing/2014/main" id="{EAFC3ADC-F6A2-F1FF-644A-736C7D77BF0D}"/>
                </a:ext>
              </a:extLst>
            </p:cNvPr>
            <p:cNvSpPr/>
            <p:nvPr/>
          </p:nvSpPr>
          <p:spPr>
            <a:xfrm>
              <a:off x="5775960" y="5415136"/>
              <a:ext cx="251001" cy="261935"/>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8C17B8A5-00B5-9351-581B-FA282977C621}"/>
                </a:ext>
              </a:extLst>
            </p:cNvPr>
            <p:cNvSpPr/>
            <p:nvPr/>
          </p:nvSpPr>
          <p:spPr>
            <a:xfrm>
              <a:off x="5775960" y="5887576"/>
              <a:ext cx="251001" cy="261935"/>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06952E32-940C-4ED6-EF01-50D95A208397}"/>
                </a:ext>
              </a:extLst>
            </p:cNvPr>
            <p:cNvSpPr/>
            <p:nvPr/>
          </p:nvSpPr>
          <p:spPr>
            <a:xfrm>
              <a:off x="6268720" y="5415136"/>
              <a:ext cx="251001" cy="261935"/>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a:extLst>
                <a:ext uri="{FF2B5EF4-FFF2-40B4-BE49-F238E27FC236}">
                  <a16:creationId xmlns:a16="http://schemas.microsoft.com/office/drawing/2014/main" id="{6E90A9E3-FC02-A25C-F956-EE4C7B5011D2}"/>
                </a:ext>
              </a:extLst>
            </p:cNvPr>
            <p:cNvCxnSpPr>
              <a:stCxn id="48" idx="3"/>
              <a:endCxn id="50" idx="1"/>
            </p:cNvCxnSpPr>
            <p:nvPr/>
          </p:nvCxnSpPr>
          <p:spPr>
            <a:xfrm>
              <a:off x="6026961" y="5546104"/>
              <a:ext cx="24175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C9475054-F9A5-4A95-B6AE-6F812145C6B1}"/>
                </a:ext>
              </a:extLst>
            </p:cNvPr>
            <p:cNvCxnSpPr>
              <a:cxnSpLocks/>
              <a:stCxn id="48" idx="2"/>
              <a:endCxn id="49" idx="0"/>
            </p:cNvCxnSpPr>
            <p:nvPr/>
          </p:nvCxnSpPr>
          <p:spPr>
            <a:xfrm>
              <a:off x="5901461" y="5677071"/>
              <a:ext cx="0" cy="210505"/>
            </a:xfrm>
            <a:prstGeom prst="line">
              <a:avLst/>
            </a:prstGeom>
            <a:ln>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848D8AC-744E-2493-9E08-4B89F364C7CB}"/>
                </a:ext>
              </a:extLst>
            </p:cNvPr>
            <p:cNvCxnSpPr>
              <a:cxnSpLocks/>
            </p:cNvCxnSpPr>
            <p:nvPr/>
          </p:nvCxnSpPr>
          <p:spPr>
            <a:xfrm>
              <a:off x="5775960" y="5497844"/>
              <a:ext cx="251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2A990DD-0E26-4820-FE42-52803B2C821A}"/>
                </a:ext>
              </a:extLst>
            </p:cNvPr>
            <p:cNvCxnSpPr>
              <a:cxnSpLocks/>
            </p:cNvCxnSpPr>
            <p:nvPr/>
          </p:nvCxnSpPr>
          <p:spPr>
            <a:xfrm>
              <a:off x="6268720" y="5497844"/>
              <a:ext cx="251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0C28536-0F61-8C18-073E-AD61FF94A84F}"/>
                </a:ext>
              </a:extLst>
            </p:cNvPr>
            <p:cNvCxnSpPr>
              <a:cxnSpLocks/>
            </p:cNvCxnSpPr>
            <p:nvPr/>
          </p:nvCxnSpPr>
          <p:spPr>
            <a:xfrm>
              <a:off x="5775960" y="5972824"/>
              <a:ext cx="251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6" name="Oval 55">
            <a:extLst>
              <a:ext uri="{FF2B5EF4-FFF2-40B4-BE49-F238E27FC236}">
                <a16:creationId xmlns:a16="http://schemas.microsoft.com/office/drawing/2014/main" id="{63009B70-8452-296F-7E29-7CBD5EDAFFE8}"/>
              </a:ext>
            </a:extLst>
          </p:cNvPr>
          <p:cNvSpPr/>
          <p:nvPr/>
        </p:nvSpPr>
        <p:spPr>
          <a:xfrm>
            <a:off x="2988347" y="4278169"/>
            <a:ext cx="221092" cy="221092"/>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228ECF84-3592-4BDF-9602-AB67869583FA}"/>
              </a:ext>
            </a:extLst>
          </p:cNvPr>
          <p:cNvSpPr/>
          <p:nvPr/>
        </p:nvSpPr>
        <p:spPr>
          <a:xfrm>
            <a:off x="2802047" y="4489581"/>
            <a:ext cx="128097" cy="12809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166AC891-E422-0B11-7689-3649BFDC7337}"/>
              </a:ext>
            </a:extLst>
          </p:cNvPr>
          <p:cNvSpPr/>
          <p:nvPr/>
        </p:nvSpPr>
        <p:spPr>
          <a:xfrm>
            <a:off x="2664066" y="4694143"/>
            <a:ext cx="77181" cy="77181"/>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93C2D68C-92E9-6E5F-BB46-C87AA5691EBE}"/>
              </a:ext>
            </a:extLst>
          </p:cNvPr>
          <p:cNvSpPr/>
          <p:nvPr/>
        </p:nvSpPr>
        <p:spPr>
          <a:xfrm>
            <a:off x="3286426" y="4379035"/>
            <a:ext cx="221092" cy="221092"/>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824A1639-5591-2FCA-0708-94457537B536}"/>
              </a:ext>
            </a:extLst>
          </p:cNvPr>
          <p:cNvSpPr/>
          <p:nvPr/>
        </p:nvSpPr>
        <p:spPr>
          <a:xfrm>
            <a:off x="3673579" y="4439629"/>
            <a:ext cx="221092" cy="221092"/>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B9E9A4E2-DC0A-E79A-045F-849B043C8DD9}"/>
              </a:ext>
            </a:extLst>
          </p:cNvPr>
          <p:cNvSpPr/>
          <p:nvPr/>
        </p:nvSpPr>
        <p:spPr>
          <a:xfrm>
            <a:off x="4252996" y="4069935"/>
            <a:ext cx="221092" cy="221092"/>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53C81936-4634-B741-1146-D4A4747F3C01}"/>
              </a:ext>
            </a:extLst>
          </p:cNvPr>
          <p:cNvSpPr/>
          <p:nvPr/>
        </p:nvSpPr>
        <p:spPr>
          <a:xfrm>
            <a:off x="3218852" y="4653222"/>
            <a:ext cx="128097" cy="12809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Oval 62">
            <a:extLst>
              <a:ext uri="{FF2B5EF4-FFF2-40B4-BE49-F238E27FC236}">
                <a16:creationId xmlns:a16="http://schemas.microsoft.com/office/drawing/2014/main" id="{4803B1C5-0CC1-0DA9-D5A6-F59CE8AD8B6C}"/>
              </a:ext>
            </a:extLst>
          </p:cNvPr>
          <p:cNvSpPr/>
          <p:nvPr/>
        </p:nvSpPr>
        <p:spPr>
          <a:xfrm>
            <a:off x="3752915" y="4794534"/>
            <a:ext cx="128097" cy="12809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Oval 63">
            <a:extLst>
              <a:ext uri="{FF2B5EF4-FFF2-40B4-BE49-F238E27FC236}">
                <a16:creationId xmlns:a16="http://schemas.microsoft.com/office/drawing/2014/main" id="{B97E86B9-0C7A-37A1-A97B-37E18E352B96}"/>
              </a:ext>
            </a:extLst>
          </p:cNvPr>
          <p:cNvSpPr/>
          <p:nvPr/>
        </p:nvSpPr>
        <p:spPr>
          <a:xfrm>
            <a:off x="4433304" y="4366415"/>
            <a:ext cx="128097" cy="12809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Oval 64">
            <a:extLst>
              <a:ext uri="{FF2B5EF4-FFF2-40B4-BE49-F238E27FC236}">
                <a16:creationId xmlns:a16="http://schemas.microsoft.com/office/drawing/2014/main" id="{97A8F814-0CD8-5BD8-1D1E-692BC1664236}"/>
              </a:ext>
            </a:extLst>
          </p:cNvPr>
          <p:cNvSpPr/>
          <p:nvPr/>
        </p:nvSpPr>
        <p:spPr>
          <a:xfrm>
            <a:off x="3183799" y="4863439"/>
            <a:ext cx="77181" cy="77181"/>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024E0F7A-871B-5314-1CF3-0C9B4242B753}"/>
              </a:ext>
            </a:extLst>
          </p:cNvPr>
          <p:cNvSpPr/>
          <p:nvPr/>
        </p:nvSpPr>
        <p:spPr>
          <a:xfrm>
            <a:off x="3771513" y="5049267"/>
            <a:ext cx="77181" cy="77181"/>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376423DE-B498-D4B8-3020-30F73EF77073}"/>
              </a:ext>
            </a:extLst>
          </p:cNvPr>
          <p:cNvSpPr/>
          <p:nvPr/>
        </p:nvSpPr>
        <p:spPr>
          <a:xfrm>
            <a:off x="4548742" y="4607086"/>
            <a:ext cx="77181" cy="77181"/>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Cloud 82">
            <a:extLst>
              <a:ext uri="{FF2B5EF4-FFF2-40B4-BE49-F238E27FC236}">
                <a16:creationId xmlns:a16="http://schemas.microsoft.com/office/drawing/2014/main" id="{DC7A9212-9968-AA49-ED3A-FC06C64851FB}"/>
              </a:ext>
            </a:extLst>
          </p:cNvPr>
          <p:cNvSpPr/>
          <p:nvPr/>
        </p:nvSpPr>
        <p:spPr>
          <a:xfrm flipV="1">
            <a:off x="8373743" y="3439634"/>
            <a:ext cx="1321776" cy="1157609"/>
          </a:xfrm>
          <a:custGeom>
            <a:avLst/>
            <a:gdLst>
              <a:gd name="connsiteX0" fmla="*/ 3900 w 43200"/>
              <a:gd name="connsiteY0" fmla="*/ 14370 h 43200"/>
              <a:gd name="connsiteX1" fmla="*/ 5623 w 43200"/>
              <a:gd name="connsiteY1" fmla="*/ 6907 h 43200"/>
              <a:gd name="connsiteX2" fmla="*/ 14005 w 43200"/>
              <a:gd name="connsiteY2" fmla="*/ 5202 h 43200"/>
              <a:gd name="connsiteX3" fmla="*/ 22456 w 43200"/>
              <a:gd name="connsiteY3" fmla="*/ 3432 h 43200"/>
              <a:gd name="connsiteX4" fmla="*/ 25749 w 43200"/>
              <a:gd name="connsiteY4" fmla="*/ 200 h 43200"/>
              <a:gd name="connsiteX5" fmla="*/ 29833 w 43200"/>
              <a:gd name="connsiteY5" fmla="*/ 2481 h 43200"/>
              <a:gd name="connsiteX6" fmla="*/ 35463 w 43200"/>
              <a:gd name="connsiteY6" fmla="*/ 690 h 43200"/>
              <a:gd name="connsiteX7" fmla="*/ 38318 w 43200"/>
              <a:gd name="connsiteY7" fmla="*/ 5576 h 43200"/>
              <a:gd name="connsiteX8" fmla="*/ 41982 w 43200"/>
              <a:gd name="connsiteY8" fmla="*/ 10318 h 43200"/>
              <a:gd name="connsiteX9" fmla="*/ 41818 w 43200"/>
              <a:gd name="connsiteY9" fmla="*/ 15460 h 43200"/>
              <a:gd name="connsiteX10" fmla="*/ 43016 w 43200"/>
              <a:gd name="connsiteY10" fmla="*/ 23322 h 43200"/>
              <a:gd name="connsiteX11" fmla="*/ 37404 w 43200"/>
              <a:gd name="connsiteY11" fmla="*/ 30204 h 43200"/>
              <a:gd name="connsiteX12" fmla="*/ 35395 w 43200"/>
              <a:gd name="connsiteY12" fmla="*/ 36101 h 43200"/>
              <a:gd name="connsiteX13" fmla="*/ 28555 w 43200"/>
              <a:gd name="connsiteY13" fmla="*/ 36815 h 43200"/>
              <a:gd name="connsiteX14" fmla="*/ 23667 w 43200"/>
              <a:gd name="connsiteY14" fmla="*/ 43106 h 43200"/>
              <a:gd name="connsiteX15" fmla="*/ 16480 w 43200"/>
              <a:gd name="connsiteY15" fmla="*/ 39266 h 43200"/>
              <a:gd name="connsiteX16" fmla="*/ 5804 w 43200"/>
              <a:gd name="connsiteY16" fmla="*/ 35472 h 43200"/>
              <a:gd name="connsiteX17" fmla="*/ 1110 w 43200"/>
              <a:gd name="connsiteY17" fmla="*/ 31250 h 43200"/>
              <a:gd name="connsiteX18" fmla="*/ 2113 w 43200"/>
              <a:gd name="connsiteY18" fmla="*/ 25551 h 43200"/>
              <a:gd name="connsiteX19" fmla="*/ -5 w 43200"/>
              <a:gd name="connsiteY19" fmla="*/ 19704 h 43200"/>
              <a:gd name="connsiteX20" fmla="*/ 3863 w 43200"/>
              <a:gd name="connsiteY20" fmla="*/ 14507 h 43200"/>
              <a:gd name="connsiteX21" fmla="*/ 3900 w 43200"/>
              <a:gd name="connsiteY21" fmla="*/ 14370 h 43200"/>
              <a:gd name="connsiteX0" fmla="*/ 4693 w 43200"/>
              <a:gd name="connsiteY0" fmla="*/ 26177 h 43200"/>
              <a:gd name="connsiteX1" fmla="*/ 2160 w 43200"/>
              <a:gd name="connsiteY1" fmla="*/ 25380 h 43200"/>
              <a:gd name="connsiteX2" fmla="*/ 6928 w 43200"/>
              <a:gd name="connsiteY2" fmla="*/ 34899 h 43200"/>
              <a:gd name="connsiteX3" fmla="*/ 5820 w 43200"/>
              <a:gd name="connsiteY3" fmla="*/ 35280 h 43200"/>
              <a:gd name="connsiteX4" fmla="*/ 16478 w 43200"/>
              <a:gd name="connsiteY4" fmla="*/ 39090 h 43200"/>
              <a:gd name="connsiteX5" fmla="*/ 15810 w 43200"/>
              <a:gd name="connsiteY5" fmla="*/ 37350 h 43200"/>
              <a:gd name="connsiteX6" fmla="*/ 28827 w 43200"/>
              <a:gd name="connsiteY6" fmla="*/ 34751 h 43200"/>
              <a:gd name="connsiteX7" fmla="*/ 28560 w 43200"/>
              <a:gd name="connsiteY7" fmla="*/ 36660 h 43200"/>
              <a:gd name="connsiteX8" fmla="*/ 34129 w 43200"/>
              <a:gd name="connsiteY8" fmla="*/ 22954 h 43200"/>
              <a:gd name="connsiteX9" fmla="*/ 37380 w 43200"/>
              <a:gd name="connsiteY9" fmla="*/ 30090 h 43200"/>
              <a:gd name="connsiteX10" fmla="*/ 41798 w 43200"/>
              <a:gd name="connsiteY10" fmla="*/ 15354 h 43200"/>
              <a:gd name="connsiteX11" fmla="*/ 40350 w 43200"/>
              <a:gd name="connsiteY11" fmla="*/ 18030 h 43200"/>
              <a:gd name="connsiteX12" fmla="*/ 38324 w 43200"/>
              <a:gd name="connsiteY12" fmla="*/ 5426 h 43200"/>
              <a:gd name="connsiteX13" fmla="*/ 38400 w 43200"/>
              <a:gd name="connsiteY13" fmla="*/ 6690 h 43200"/>
              <a:gd name="connsiteX14" fmla="*/ 29078 w 43200"/>
              <a:gd name="connsiteY14" fmla="*/ 3952 h 43200"/>
              <a:gd name="connsiteX15" fmla="*/ 29820 w 43200"/>
              <a:gd name="connsiteY15" fmla="*/ 2340 h 43200"/>
              <a:gd name="connsiteX16" fmla="*/ 22141 w 43200"/>
              <a:gd name="connsiteY16" fmla="*/ 4720 h 43200"/>
              <a:gd name="connsiteX17" fmla="*/ 22500 w 43200"/>
              <a:gd name="connsiteY17" fmla="*/ 3330 h 43200"/>
              <a:gd name="connsiteX18" fmla="*/ 14000 w 43200"/>
              <a:gd name="connsiteY18" fmla="*/ 5192 h 43200"/>
              <a:gd name="connsiteX19" fmla="*/ 15300 w 43200"/>
              <a:gd name="connsiteY19" fmla="*/ 6540 h 43200"/>
              <a:gd name="connsiteX20" fmla="*/ 4127 w 43200"/>
              <a:gd name="connsiteY20" fmla="*/ 15789 h 43200"/>
              <a:gd name="connsiteX21" fmla="*/ 3900 w 43200"/>
              <a:gd name="connsiteY21" fmla="*/ 14370 h 43200"/>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6683 w 43256"/>
              <a:gd name="connsiteY8" fmla="*/ 27139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9114 w 43256"/>
              <a:gd name="connsiteY14" fmla="*/ 3811 h 43219"/>
              <a:gd name="connsiteX15" fmla="*/ 29856 w 43256"/>
              <a:gd name="connsiteY15" fmla="*/ 2199 h 43219"/>
              <a:gd name="connsiteX16" fmla="*/ 22177 w 43256"/>
              <a:gd name="connsiteY16" fmla="*/ 4579 h 43219"/>
              <a:gd name="connsiteX17" fmla="*/ 22536 w 43256"/>
              <a:gd name="connsiteY17" fmla="*/ 3189 h 43219"/>
              <a:gd name="connsiteX18" fmla="*/ 14036 w 43256"/>
              <a:gd name="connsiteY18" fmla="*/ 5051 h 43219"/>
              <a:gd name="connsiteX19" fmla="*/ 15336 w 43256"/>
              <a:gd name="connsiteY19" fmla="*/ 6399 h 43219"/>
              <a:gd name="connsiteX20" fmla="*/ 4163 w 43256"/>
              <a:gd name="connsiteY20" fmla="*/ 15648 h 43219"/>
              <a:gd name="connsiteX21" fmla="*/ 3936 w 43256"/>
              <a:gd name="connsiteY21"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6683 w 43256"/>
              <a:gd name="connsiteY8" fmla="*/ 27139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9114 w 43256"/>
              <a:gd name="connsiteY14" fmla="*/ 3811 h 43219"/>
              <a:gd name="connsiteX15" fmla="*/ 29856 w 43256"/>
              <a:gd name="connsiteY15" fmla="*/ 2199 h 43219"/>
              <a:gd name="connsiteX16" fmla="*/ 22177 w 43256"/>
              <a:gd name="connsiteY16" fmla="*/ 4579 h 43219"/>
              <a:gd name="connsiteX17" fmla="*/ 22536 w 43256"/>
              <a:gd name="connsiteY17" fmla="*/ 3189 h 43219"/>
              <a:gd name="connsiteX18" fmla="*/ 14036 w 43256"/>
              <a:gd name="connsiteY18" fmla="*/ 5051 h 43219"/>
              <a:gd name="connsiteX19" fmla="*/ 15336 w 43256"/>
              <a:gd name="connsiteY19" fmla="*/ 6399 h 43219"/>
              <a:gd name="connsiteX20" fmla="*/ 4163 w 43256"/>
              <a:gd name="connsiteY20" fmla="*/ 15648 h 43219"/>
              <a:gd name="connsiteX21" fmla="*/ 3936 w 43256"/>
              <a:gd name="connsiteY21"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6683 w 43256"/>
              <a:gd name="connsiteY8" fmla="*/ 27139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9114 w 43256"/>
              <a:gd name="connsiteY14" fmla="*/ 3811 h 43219"/>
              <a:gd name="connsiteX15" fmla="*/ 29856 w 43256"/>
              <a:gd name="connsiteY15" fmla="*/ 2199 h 43219"/>
              <a:gd name="connsiteX16" fmla="*/ 22177 w 43256"/>
              <a:gd name="connsiteY16" fmla="*/ 4579 h 43219"/>
              <a:gd name="connsiteX17" fmla="*/ 22536 w 43256"/>
              <a:gd name="connsiteY17" fmla="*/ 3189 h 43219"/>
              <a:gd name="connsiteX18" fmla="*/ 14036 w 43256"/>
              <a:gd name="connsiteY18" fmla="*/ 5051 h 43219"/>
              <a:gd name="connsiteX19" fmla="*/ 15336 w 43256"/>
              <a:gd name="connsiteY19" fmla="*/ 6399 h 43219"/>
              <a:gd name="connsiteX20" fmla="*/ 4163 w 43256"/>
              <a:gd name="connsiteY20" fmla="*/ 15648 h 43219"/>
              <a:gd name="connsiteX21" fmla="*/ 3936 w 43256"/>
              <a:gd name="connsiteY21" fmla="*/ 14229 h 43219"/>
              <a:gd name="connsiteX0" fmla="*/ 3936 w 43256"/>
              <a:gd name="connsiteY0" fmla="*/ 14229 h 41861"/>
              <a:gd name="connsiteX1" fmla="*/ 5659 w 43256"/>
              <a:gd name="connsiteY1" fmla="*/ 6766 h 41861"/>
              <a:gd name="connsiteX2" fmla="*/ 14041 w 43256"/>
              <a:gd name="connsiteY2" fmla="*/ 5061 h 41861"/>
              <a:gd name="connsiteX3" fmla="*/ 22492 w 43256"/>
              <a:gd name="connsiteY3" fmla="*/ 3291 h 41861"/>
              <a:gd name="connsiteX4" fmla="*/ 25785 w 43256"/>
              <a:gd name="connsiteY4" fmla="*/ 59 h 41861"/>
              <a:gd name="connsiteX5" fmla="*/ 29869 w 43256"/>
              <a:gd name="connsiteY5" fmla="*/ 2340 h 41861"/>
              <a:gd name="connsiteX6" fmla="*/ 35499 w 43256"/>
              <a:gd name="connsiteY6" fmla="*/ 549 h 41861"/>
              <a:gd name="connsiteX7" fmla="*/ 38354 w 43256"/>
              <a:gd name="connsiteY7" fmla="*/ 5435 h 41861"/>
              <a:gd name="connsiteX8" fmla="*/ 42018 w 43256"/>
              <a:gd name="connsiteY8" fmla="*/ 10177 h 41861"/>
              <a:gd name="connsiteX9" fmla="*/ 41854 w 43256"/>
              <a:gd name="connsiteY9" fmla="*/ 15319 h 41861"/>
              <a:gd name="connsiteX10" fmla="*/ 43052 w 43256"/>
              <a:gd name="connsiteY10" fmla="*/ 23181 h 41861"/>
              <a:gd name="connsiteX11" fmla="*/ 37440 w 43256"/>
              <a:gd name="connsiteY11" fmla="*/ 30063 h 41861"/>
              <a:gd name="connsiteX12" fmla="*/ 35431 w 43256"/>
              <a:gd name="connsiteY12" fmla="*/ 35960 h 41861"/>
              <a:gd name="connsiteX13" fmla="*/ 28591 w 43256"/>
              <a:gd name="connsiteY13" fmla="*/ 36674 h 41861"/>
              <a:gd name="connsiteX14" fmla="*/ 24035 w 43256"/>
              <a:gd name="connsiteY14" fmla="*/ 41312 h 41861"/>
              <a:gd name="connsiteX15" fmla="*/ 16516 w 43256"/>
              <a:gd name="connsiteY15" fmla="*/ 39125 h 41861"/>
              <a:gd name="connsiteX16" fmla="*/ 5840 w 43256"/>
              <a:gd name="connsiteY16" fmla="*/ 35331 h 41861"/>
              <a:gd name="connsiteX17" fmla="*/ 1146 w 43256"/>
              <a:gd name="connsiteY17" fmla="*/ 31109 h 41861"/>
              <a:gd name="connsiteX18" fmla="*/ 2149 w 43256"/>
              <a:gd name="connsiteY18" fmla="*/ 25410 h 41861"/>
              <a:gd name="connsiteX19" fmla="*/ 31 w 43256"/>
              <a:gd name="connsiteY19" fmla="*/ 19563 h 41861"/>
              <a:gd name="connsiteX20" fmla="*/ 3899 w 43256"/>
              <a:gd name="connsiteY20" fmla="*/ 14366 h 41861"/>
              <a:gd name="connsiteX21" fmla="*/ 3936 w 43256"/>
              <a:gd name="connsiteY21" fmla="*/ 14229 h 41861"/>
              <a:gd name="connsiteX0" fmla="*/ 4729 w 43256"/>
              <a:gd name="connsiteY0" fmla="*/ 26036 h 41861"/>
              <a:gd name="connsiteX1" fmla="*/ 2196 w 43256"/>
              <a:gd name="connsiteY1" fmla="*/ 25239 h 41861"/>
              <a:gd name="connsiteX2" fmla="*/ 6964 w 43256"/>
              <a:gd name="connsiteY2" fmla="*/ 34758 h 41861"/>
              <a:gd name="connsiteX3" fmla="*/ 5856 w 43256"/>
              <a:gd name="connsiteY3" fmla="*/ 35139 h 41861"/>
              <a:gd name="connsiteX4" fmla="*/ 16514 w 43256"/>
              <a:gd name="connsiteY4" fmla="*/ 38949 h 41861"/>
              <a:gd name="connsiteX5" fmla="*/ 15846 w 43256"/>
              <a:gd name="connsiteY5" fmla="*/ 37209 h 41861"/>
              <a:gd name="connsiteX6" fmla="*/ 28863 w 43256"/>
              <a:gd name="connsiteY6" fmla="*/ 34610 h 41861"/>
              <a:gd name="connsiteX7" fmla="*/ 28596 w 43256"/>
              <a:gd name="connsiteY7" fmla="*/ 36519 h 41861"/>
              <a:gd name="connsiteX8" fmla="*/ 36683 w 43256"/>
              <a:gd name="connsiteY8" fmla="*/ 27139 h 41861"/>
              <a:gd name="connsiteX9" fmla="*/ 37416 w 43256"/>
              <a:gd name="connsiteY9" fmla="*/ 29949 h 41861"/>
              <a:gd name="connsiteX10" fmla="*/ 41834 w 43256"/>
              <a:gd name="connsiteY10" fmla="*/ 15213 h 41861"/>
              <a:gd name="connsiteX11" fmla="*/ 40386 w 43256"/>
              <a:gd name="connsiteY11" fmla="*/ 17889 h 41861"/>
              <a:gd name="connsiteX12" fmla="*/ 38360 w 43256"/>
              <a:gd name="connsiteY12" fmla="*/ 5285 h 41861"/>
              <a:gd name="connsiteX13" fmla="*/ 38436 w 43256"/>
              <a:gd name="connsiteY13" fmla="*/ 6549 h 41861"/>
              <a:gd name="connsiteX14" fmla="*/ 29114 w 43256"/>
              <a:gd name="connsiteY14" fmla="*/ 3811 h 41861"/>
              <a:gd name="connsiteX15" fmla="*/ 29856 w 43256"/>
              <a:gd name="connsiteY15" fmla="*/ 2199 h 41861"/>
              <a:gd name="connsiteX16" fmla="*/ 22177 w 43256"/>
              <a:gd name="connsiteY16" fmla="*/ 4579 h 41861"/>
              <a:gd name="connsiteX17" fmla="*/ 22536 w 43256"/>
              <a:gd name="connsiteY17" fmla="*/ 3189 h 41861"/>
              <a:gd name="connsiteX18" fmla="*/ 14036 w 43256"/>
              <a:gd name="connsiteY18" fmla="*/ 5051 h 41861"/>
              <a:gd name="connsiteX19" fmla="*/ 15336 w 43256"/>
              <a:gd name="connsiteY19" fmla="*/ 6399 h 41861"/>
              <a:gd name="connsiteX20" fmla="*/ 4163 w 43256"/>
              <a:gd name="connsiteY20" fmla="*/ 15648 h 41861"/>
              <a:gd name="connsiteX21" fmla="*/ 3936 w 43256"/>
              <a:gd name="connsiteY21" fmla="*/ 14229 h 41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3256" h="41861">
                <a:moveTo>
                  <a:pt x="3936" y="14229"/>
                </a:moveTo>
                <a:cubicBezTo>
                  <a:pt x="3665" y="11516"/>
                  <a:pt x="4297" y="8780"/>
                  <a:pt x="5659" y="6766"/>
                </a:cubicBezTo>
                <a:cubicBezTo>
                  <a:pt x="7811" y="3585"/>
                  <a:pt x="11300" y="2876"/>
                  <a:pt x="14041" y="5061"/>
                </a:cubicBezTo>
                <a:cubicBezTo>
                  <a:pt x="15714" y="768"/>
                  <a:pt x="19950" y="-119"/>
                  <a:pt x="22492" y="3291"/>
                </a:cubicBezTo>
                <a:cubicBezTo>
                  <a:pt x="23133" y="1542"/>
                  <a:pt x="24364" y="333"/>
                  <a:pt x="25785" y="59"/>
                </a:cubicBezTo>
                <a:cubicBezTo>
                  <a:pt x="27349" y="-243"/>
                  <a:pt x="28911" y="629"/>
                  <a:pt x="29869" y="2340"/>
                </a:cubicBezTo>
                <a:cubicBezTo>
                  <a:pt x="31251" y="126"/>
                  <a:pt x="33537" y="-601"/>
                  <a:pt x="35499" y="549"/>
                </a:cubicBezTo>
                <a:cubicBezTo>
                  <a:pt x="36994" y="1425"/>
                  <a:pt x="38066" y="3259"/>
                  <a:pt x="38354" y="5435"/>
                </a:cubicBezTo>
                <a:cubicBezTo>
                  <a:pt x="40082" y="6077"/>
                  <a:pt x="41458" y="7857"/>
                  <a:pt x="42018" y="10177"/>
                </a:cubicBezTo>
                <a:cubicBezTo>
                  <a:pt x="42425" y="11861"/>
                  <a:pt x="42367" y="13690"/>
                  <a:pt x="41854" y="15319"/>
                </a:cubicBezTo>
                <a:cubicBezTo>
                  <a:pt x="43115" y="17553"/>
                  <a:pt x="43556" y="20449"/>
                  <a:pt x="43052" y="23181"/>
                </a:cubicBezTo>
                <a:cubicBezTo>
                  <a:pt x="42382" y="26813"/>
                  <a:pt x="40164" y="29533"/>
                  <a:pt x="37440" y="30063"/>
                </a:cubicBezTo>
                <a:cubicBezTo>
                  <a:pt x="37427" y="32330"/>
                  <a:pt x="36694" y="34480"/>
                  <a:pt x="35431" y="35960"/>
                </a:cubicBezTo>
                <a:cubicBezTo>
                  <a:pt x="33512" y="38209"/>
                  <a:pt x="30740" y="38498"/>
                  <a:pt x="28591" y="36674"/>
                </a:cubicBezTo>
                <a:cubicBezTo>
                  <a:pt x="27896" y="39807"/>
                  <a:pt x="26367" y="40549"/>
                  <a:pt x="24035" y="41312"/>
                </a:cubicBezTo>
                <a:cubicBezTo>
                  <a:pt x="21287" y="42211"/>
                  <a:pt x="18087" y="42332"/>
                  <a:pt x="16516" y="39125"/>
                </a:cubicBezTo>
                <a:cubicBezTo>
                  <a:pt x="12808" y="42169"/>
                  <a:pt x="7992" y="40458"/>
                  <a:pt x="5840" y="35331"/>
                </a:cubicBezTo>
                <a:cubicBezTo>
                  <a:pt x="3726" y="35668"/>
                  <a:pt x="1741" y="33883"/>
                  <a:pt x="1146" y="31109"/>
                </a:cubicBezTo>
                <a:cubicBezTo>
                  <a:pt x="715" y="29102"/>
                  <a:pt x="1096" y="26936"/>
                  <a:pt x="2149" y="25410"/>
                </a:cubicBezTo>
                <a:cubicBezTo>
                  <a:pt x="655" y="24213"/>
                  <a:pt x="-177" y="21916"/>
                  <a:pt x="31" y="19563"/>
                </a:cubicBezTo>
                <a:cubicBezTo>
                  <a:pt x="275" y="16808"/>
                  <a:pt x="1881" y="14650"/>
                  <a:pt x="3899" y="14366"/>
                </a:cubicBezTo>
                <a:cubicBezTo>
                  <a:pt x="3911" y="14320"/>
                  <a:pt x="3924" y="14275"/>
                  <a:pt x="3936" y="14229"/>
                </a:cubicBezTo>
                <a:close/>
              </a:path>
              <a:path w="43256" h="41861" fill="none" extrusionOk="0">
                <a:moveTo>
                  <a:pt x="4729" y="26036"/>
                </a:moveTo>
                <a:cubicBezTo>
                  <a:pt x="3845" y="26130"/>
                  <a:pt x="2961" y="25852"/>
                  <a:pt x="2196" y="25239"/>
                </a:cubicBezTo>
                <a:moveTo>
                  <a:pt x="6964" y="34758"/>
                </a:moveTo>
                <a:cubicBezTo>
                  <a:pt x="6609" y="34951"/>
                  <a:pt x="6236" y="35079"/>
                  <a:pt x="5856" y="35139"/>
                </a:cubicBezTo>
                <a:moveTo>
                  <a:pt x="16514" y="38949"/>
                </a:moveTo>
                <a:cubicBezTo>
                  <a:pt x="16247" y="38403"/>
                  <a:pt x="16023" y="37820"/>
                  <a:pt x="15846" y="37209"/>
                </a:cubicBezTo>
                <a:moveTo>
                  <a:pt x="28863" y="34610"/>
                </a:moveTo>
                <a:cubicBezTo>
                  <a:pt x="28824" y="35257"/>
                  <a:pt x="28734" y="35897"/>
                  <a:pt x="28596" y="36519"/>
                </a:cubicBezTo>
                <a:moveTo>
                  <a:pt x="36683" y="27139"/>
                </a:moveTo>
                <a:cubicBezTo>
                  <a:pt x="37314" y="29660"/>
                  <a:pt x="36747" y="26917"/>
                  <a:pt x="37416" y="29949"/>
                </a:cubicBezTo>
                <a:moveTo>
                  <a:pt x="41834" y="15213"/>
                </a:moveTo>
                <a:cubicBezTo>
                  <a:pt x="41509" y="16245"/>
                  <a:pt x="41014" y="17161"/>
                  <a:pt x="40386" y="17889"/>
                </a:cubicBezTo>
                <a:moveTo>
                  <a:pt x="38360" y="5285"/>
                </a:moveTo>
                <a:cubicBezTo>
                  <a:pt x="38415" y="5702"/>
                  <a:pt x="38441" y="6125"/>
                  <a:pt x="38436" y="6549"/>
                </a:cubicBezTo>
                <a:moveTo>
                  <a:pt x="29114" y="3811"/>
                </a:moveTo>
                <a:cubicBezTo>
                  <a:pt x="29303" y="3228"/>
                  <a:pt x="29552" y="2685"/>
                  <a:pt x="29856" y="2199"/>
                </a:cubicBezTo>
                <a:moveTo>
                  <a:pt x="22177" y="4579"/>
                </a:moveTo>
                <a:cubicBezTo>
                  <a:pt x="22254" y="4097"/>
                  <a:pt x="22375" y="3630"/>
                  <a:pt x="22536" y="3189"/>
                </a:cubicBezTo>
                <a:moveTo>
                  <a:pt x="14036" y="5051"/>
                </a:moveTo>
                <a:cubicBezTo>
                  <a:pt x="14508" y="5427"/>
                  <a:pt x="14944" y="5880"/>
                  <a:pt x="15336" y="6399"/>
                </a:cubicBezTo>
                <a:moveTo>
                  <a:pt x="4163" y="15648"/>
                </a:moveTo>
                <a:cubicBezTo>
                  <a:pt x="4060" y="15184"/>
                  <a:pt x="3984" y="14710"/>
                  <a:pt x="3936" y="14229"/>
                </a:cubicBezTo>
              </a:path>
            </a:pathLst>
          </a:cu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9" name="Group 68">
            <a:extLst>
              <a:ext uri="{FF2B5EF4-FFF2-40B4-BE49-F238E27FC236}">
                <a16:creationId xmlns:a16="http://schemas.microsoft.com/office/drawing/2014/main" id="{DF725F9B-1EB8-B92E-474A-6FA2A5DDB3FB}"/>
              </a:ext>
            </a:extLst>
          </p:cNvPr>
          <p:cNvGrpSpPr/>
          <p:nvPr/>
        </p:nvGrpSpPr>
        <p:grpSpPr>
          <a:xfrm>
            <a:off x="7256550" y="5070858"/>
            <a:ext cx="388603" cy="895350"/>
            <a:chOff x="3170682" y="3146298"/>
            <a:chExt cx="511302" cy="1178052"/>
          </a:xfrm>
        </p:grpSpPr>
        <p:sp>
          <p:nvSpPr>
            <p:cNvPr id="70" name="Oval 69">
              <a:extLst>
                <a:ext uri="{FF2B5EF4-FFF2-40B4-BE49-F238E27FC236}">
                  <a16:creationId xmlns:a16="http://schemas.microsoft.com/office/drawing/2014/main" id="{C78E90A5-8741-4242-D5A6-0E440EF6D1B3}"/>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Connector 70">
              <a:extLst>
                <a:ext uri="{FF2B5EF4-FFF2-40B4-BE49-F238E27FC236}">
                  <a16:creationId xmlns:a16="http://schemas.microsoft.com/office/drawing/2014/main" id="{756E5121-0186-00ED-9A95-3D9AA5E3D249}"/>
                </a:ext>
              </a:extLst>
            </p:cNvPr>
            <p:cNvCxnSpPr>
              <a:stCxn id="70"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5CA43B9B-AB76-CA66-3132-FD7C33B2DFE9}"/>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8ECA9AB1-5AC8-5851-04B7-A7B37D55F06B}"/>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C2946361-08CD-EA20-D709-D7EA0CDEDF33}"/>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B0BBE126-6C55-B6D3-9FF6-0B4382335BF8}"/>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Oval 75">
              <a:extLst>
                <a:ext uri="{FF2B5EF4-FFF2-40B4-BE49-F238E27FC236}">
                  <a16:creationId xmlns:a16="http://schemas.microsoft.com/office/drawing/2014/main" id="{5501EB13-587D-1A35-DDCA-B8006CD58F9A}"/>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513366ED-4640-1CB6-AC28-F02DF8D19B6C}"/>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8" name="Group 77">
            <a:extLst>
              <a:ext uri="{FF2B5EF4-FFF2-40B4-BE49-F238E27FC236}">
                <a16:creationId xmlns:a16="http://schemas.microsoft.com/office/drawing/2014/main" id="{AAEA0E94-8ECF-7156-6D3F-25AB129B1568}"/>
              </a:ext>
            </a:extLst>
          </p:cNvPr>
          <p:cNvGrpSpPr/>
          <p:nvPr/>
        </p:nvGrpSpPr>
        <p:grpSpPr>
          <a:xfrm>
            <a:off x="7872714" y="5185543"/>
            <a:ext cx="388603" cy="895350"/>
            <a:chOff x="3170682" y="3146298"/>
            <a:chExt cx="511302" cy="1178052"/>
          </a:xfrm>
        </p:grpSpPr>
        <p:sp>
          <p:nvSpPr>
            <p:cNvPr id="79" name="Oval 78">
              <a:extLst>
                <a:ext uri="{FF2B5EF4-FFF2-40B4-BE49-F238E27FC236}">
                  <a16:creationId xmlns:a16="http://schemas.microsoft.com/office/drawing/2014/main" id="{B3BF4C05-0F7C-EA6E-2154-02CA9FC05688}"/>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0" name="Straight Connector 79">
              <a:extLst>
                <a:ext uri="{FF2B5EF4-FFF2-40B4-BE49-F238E27FC236}">
                  <a16:creationId xmlns:a16="http://schemas.microsoft.com/office/drawing/2014/main" id="{5ED09067-9056-20D2-BCD2-14CEF74DF537}"/>
                </a:ext>
              </a:extLst>
            </p:cNvPr>
            <p:cNvCxnSpPr>
              <a:stCxn id="79"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FEAD7F3-884A-FD94-0A27-848CE18595FF}"/>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BC085C51-FB03-E3EA-3CE4-48BF9C12EE08}"/>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9B1910F6-4F85-9916-3EC6-B6F7CE6723A4}"/>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A87F912D-C296-B8DF-3D62-CC5B279C271F}"/>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5FC532A0-3C3E-0F3C-184E-6EDB75836940}"/>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080BBC05-4C4A-5B72-8F4D-BD5617080539}"/>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7" name="Group 86">
            <a:extLst>
              <a:ext uri="{FF2B5EF4-FFF2-40B4-BE49-F238E27FC236}">
                <a16:creationId xmlns:a16="http://schemas.microsoft.com/office/drawing/2014/main" id="{282DD627-8542-C910-C17F-5C479216A271}"/>
              </a:ext>
            </a:extLst>
          </p:cNvPr>
          <p:cNvGrpSpPr/>
          <p:nvPr/>
        </p:nvGrpSpPr>
        <p:grpSpPr>
          <a:xfrm>
            <a:off x="8513626" y="5429855"/>
            <a:ext cx="388603" cy="895350"/>
            <a:chOff x="3170682" y="3146298"/>
            <a:chExt cx="511302" cy="1178052"/>
          </a:xfrm>
        </p:grpSpPr>
        <p:sp>
          <p:nvSpPr>
            <p:cNvPr id="88" name="Oval 87">
              <a:extLst>
                <a:ext uri="{FF2B5EF4-FFF2-40B4-BE49-F238E27FC236}">
                  <a16:creationId xmlns:a16="http://schemas.microsoft.com/office/drawing/2014/main" id="{A682AD82-82A7-8D09-6B33-368C32363376}"/>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9" name="Straight Connector 88">
              <a:extLst>
                <a:ext uri="{FF2B5EF4-FFF2-40B4-BE49-F238E27FC236}">
                  <a16:creationId xmlns:a16="http://schemas.microsoft.com/office/drawing/2014/main" id="{1E5BE7A5-2D3E-C8B1-7318-8BF2E0D4A606}"/>
                </a:ext>
              </a:extLst>
            </p:cNvPr>
            <p:cNvCxnSpPr>
              <a:stCxn id="88"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753A9025-E5D5-3807-1669-8E5CE165E094}"/>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867F9781-AB3E-1DBE-1836-0B0F04CD51D0}"/>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BC43CBAB-8D6A-7CBC-84C4-541F4A2B83E3}"/>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79BCB108-FCC6-CCE2-0DDD-6CA97AA0CE8A}"/>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4" name="Oval 93">
              <a:extLst>
                <a:ext uri="{FF2B5EF4-FFF2-40B4-BE49-F238E27FC236}">
                  <a16:creationId xmlns:a16="http://schemas.microsoft.com/office/drawing/2014/main" id="{007E79A5-BF4B-06BC-AB62-2AF1CA02F664}"/>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96D5BEA5-FB61-FD42-A8D1-35C356109919}"/>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6" name="Group 95">
            <a:extLst>
              <a:ext uri="{FF2B5EF4-FFF2-40B4-BE49-F238E27FC236}">
                <a16:creationId xmlns:a16="http://schemas.microsoft.com/office/drawing/2014/main" id="{79B184A3-8C66-072E-7FC0-46DCCD1F0201}"/>
              </a:ext>
            </a:extLst>
          </p:cNvPr>
          <p:cNvGrpSpPr/>
          <p:nvPr/>
        </p:nvGrpSpPr>
        <p:grpSpPr>
          <a:xfrm>
            <a:off x="9367146" y="4961670"/>
            <a:ext cx="388603" cy="895350"/>
            <a:chOff x="3170682" y="3146298"/>
            <a:chExt cx="511302" cy="1178052"/>
          </a:xfrm>
        </p:grpSpPr>
        <p:sp>
          <p:nvSpPr>
            <p:cNvPr id="97" name="Oval 96">
              <a:extLst>
                <a:ext uri="{FF2B5EF4-FFF2-40B4-BE49-F238E27FC236}">
                  <a16:creationId xmlns:a16="http://schemas.microsoft.com/office/drawing/2014/main" id="{F1214EBD-270B-8E27-D8F3-4F8A8A9777AA}"/>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Straight Connector 97">
              <a:extLst>
                <a:ext uri="{FF2B5EF4-FFF2-40B4-BE49-F238E27FC236}">
                  <a16:creationId xmlns:a16="http://schemas.microsoft.com/office/drawing/2014/main" id="{C3475D80-BC2C-9905-BCAF-6B9A09B12A2A}"/>
                </a:ext>
              </a:extLst>
            </p:cNvPr>
            <p:cNvCxnSpPr>
              <a:stCxn id="97"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0CC691E4-4514-804C-F548-C5D24F630E8E}"/>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E2A6B9F9-CCE5-F0AA-9B15-FEAB4C48102E}"/>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F69AA006-4BCD-1E2C-9140-A5AC9BFFEEC8}"/>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E2D70E1F-F45E-F7A4-67BB-EBF2B48908AC}"/>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Oval 102">
              <a:extLst>
                <a:ext uri="{FF2B5EF4-FFF2-40B4-BE49-F238E27FC236}">
                  <a16:creationId xmlns:a16="http://schemas.microsoft.com/office/drawing/2014/main" id="{80894874-32B2-568B-2D3B-64E6CC2AD56F}"/>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7F619F31-1DB9-3BD5-E268-1C2BDACD068B}"/>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Freeform: Shape 104">
              <a:extLst>
                <a:ext uri="{FF2B5EF4-FFF2-40B4-BE49-F238E27FC236}">
                  <a16:creationId xmlns:a16="http://schemas.microsoft.com/office/drawing/2014/main" id="{3F2804A1-FC63-CEB2-D0B2-9211E16132B2}"/>
                </a:ext>
              </a:extLst>
            </p:cNvPr>
            <p:cNvSpPr/>
            <p:nvPr/>
          </p:nvSpPr>
          <p:spPr>
            <a:xfrm rot="21414188">
              <a:off x="3343272" y="3368342"/>
              <a:ext cx="158116"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6" name="Rectangle 105">
            <a:extLst>
              <a:ext uri="{FF2B5EF4-FFF2-40B4-BE49-F238E27FC236}">
                <a16:creationId xmlns:a16="http://schemas.microsoft.com/office/drawing/2014/main" id="{17487951-7503-6E4B-6FDA-CE4F01C67660}"/>
              </a:ext>
            </a:extLst>
          </p:cNvPr>
          <p:cNvSpPr/>
          <p:nvPr/>
        </p:nvSpPr>
        <p:spPr>
          <a:xfrm>
            <a:off x="8714850" y="3689075"/>
            <a:ext cx="231969" cy="24207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E8E4D9FD-E002-9D48-8C89-0B229F9886E1}"/>
              </a:ext>
            </a:extLst>
          </p:cNvPr>
          <p:cNvSpPr/>
          <p:nvPr/>
        </p:nvSpPr>
        <p:spPr>
          <a:xfrm>
            <a:off x="8714850" y="4125694"/>
            <a:ext cx="231969" cy="24207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791C145E-63A2-4509-E62A-927123406701}"/>
              </a:ext>
            </a:extLst>
          </p:cNvPr>
          <p:cNvSpPr/>
          <p:nvPr/>
        </p:nvSpPr>
        <p:spPr>
          <a:xfrm>
            <a:off x="9170248" y="3689075"/>
            <a:ext cx="231969" cy="24207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9" name="Straight Connector 108">
            <a:extLst>
              <a:ext uri="{FF2B5EF4-FFF2-40B4-BE49-F238E27FC236}">
                <a16:creationId xmlns:a16="http://schemas.microsoft.com/office/drawing/2014/main" id="{77DE39A3-C0F9-CCE7-75E4-20AEF34BD61A}"/>
              </a:ext>
            </a:extLst>
          </p:cNvPr>
          <p:cNvCxnSpPr>
            <a:stCxn id="106" idx="3"/>
            <a:endCxn id="108" idx="1"/>
          </p:cNvCxnSpPr>
          <p:nvPr/>
        </p:nvCxnSpPr>
        <p:spPr>
          <a:xfrm>
            <a:off x="8946819" y="3810113"/>
            <a:ext cx="2234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DB3FF369-2CD2-F72D-FABF-B06F90B91B7C}"/>
              </a:ext>
            </a:extLst>
          </p:cNvPr>
          <p:cNvCxnSpPr>
            <a:cxnSpLocks/>
          </p:cNvCxnSpPr>
          <p:nvPr/>
        </p:nvCxnSpPr>
        <p:spPr>
          <a:xfrm>
            <a:off x="8714850" y="3765512"/>
            <a:ext cx="2319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C5C45AAF-04E8-9D07-73F3-B40E96045859}"/>
              </a:ext>
            </a:extLst>
          </p:cNvPr>
          <p:cNvCxnSpPr>
            <a:cxnSpLocks/>
          </p:cNvCxnSpPr>
          <p:nvPr/>
        </p:nvCxnSpPr>
        <p:spPr>
          <a:xfrm>
            <a:off x="9170248" y="3765512"/>
            <a:ext cx="2319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5DEF0DC0-0B79-A77B-E0AB-2B769C5E105B}"/>
              </a:ext>
            </a:extLst>
          </p:cNvPr>
          <p:cNvCxnSpPr>
            <a:cxnSpLocks/>
          </p:cNvCxnSpPr>
          <p:nvPr/>
        </p:nvCxnSpPr>
        <p:spPr>
          <a:xfrm>
            <a:off x="8714850" y="4204478"/>
            <a:ext cx="23196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3" name="Oval 112">
            <a:extLst>
              <a:ext uri="{FF2B5EF4-FFF2-40B4-BE49-F238E27FC236}">
                <a16:creationId xmlns:a16="http://schemas.microsoft.com/office/drawing/2014/main" id="{BFDCED75-460F-5FDC-C453-92DA7AFB373F}"/>
              </a:ext>
            </a:extLst>
          </p:cNvPr>
          <p:cNvSpPr/>
          <p:nvPr/>
        </p:nvSpPr>
        <p:spPr>
          <a:xfrm>
            <a:off x="7154054" y="4328969"/>
            <a:ext cx="221092" cy="221092"/>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BA2307BA-CA4D-B088-2D61-FDEC0AD293C1}"/>
              </a:ext>
            </a:extLst>
          </p:cNvPr>
          <p:cNvSpPr/>
          <p:nvPr/>
        </p:nvSpPr>
        <p:spPr>
          <a:xfrm>
            <a:off x="7281856" y="4674522"/>
            <a:ext cx="128097" cy="12809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 name="Oval 114">
            <a:extLst>
              <a:ext uri="{FF2B5EF4-FFF2-40B4-BE49-F238E27FC236}">
                <a16:creationId xmlns:a16="http://schemas.microsoft.com/office/drawing/2014/main" id="{67E057AE-A59E-2100-EF89-95EC9A445CBF}"/>
              </a:ext>
            </a:extLst>
          </p:cNvPr>
          <p:cNvSpPr/>
          <p:nvPr/>
        </p:nvSpPr>
        <p:spPr>
          <a:xfrm>
            <a:off x="7341921" y="4891592"/>
            <a:ext cx="77181" cy="77181"/>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8DBDD4A1-CB8A-5A9E-B01B-CF60C81C74F7}"/>
              </a:ext>
            </a:extLst>
          </p:cNvPr>
          <p:cNvSpPr/>
          <p:nvPr/>
        </p:nvSpPr>
        <p:spPr>
          <a:xfrm>
            <a:off x="7865990" y="4528096"/>
            <a:ext cx="221092" cy="221092"/>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672E2053-0A9A-BEA0-2AF5-4B7820E7C935}"/>
              </a:ext>
            </a:extLst>
          </p:cNvPr>
          <p:cNvSpPr/>
          <p:nvPr/>
        </p:nvSpPr>
        <p:spPr>
          <a:xfrm>
            <a:off x="8566637" y="4619980"/>
            <a:ext cx="221092" cy="221092"/>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2E2934D1-13F9-CDEC-EDD8-83551360969A}"/>
              </a:ext>
            </a:extLst>
          </p:cNvPr>
          <p:cNvSpPr/>
          <p:nvPr/>
        </p:nvSpPr>
        <p:spPr>
          <a:xfrm>
            <a:off x="9964972" y="4453358"/>
            <a:ext cx="221092" cy="221092"/>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D5BF088C-F103-DAE8-000B-8F8C629DF8A2}"/>
              </a:ext>
            </a:extLst>
          </p:cNvPr>
          <p:cNvSpPr/>
          <p:nvPr/>
        </p:nvSpPr>
        <p:spPr>
          <a:xfrm>
            <a:off x="7950778" y="4821500"/>
            <a:ext cx="128097" cy="12809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0" name="Oval 119">
            <a:extLst>
              <a:ext uri="{FF2B5EF4-FFF2-40B4-BE49-F238E27FC236}">
                <a16:creationId xmlns:a16="http://schemas.microsoft.com/office/drawing/2014/main" id="{7933026A-DBC1-DD7F-3213-F43EE173D64C}"/>
              </a:ext>
            </a:extLst>
          </p:cNvPr>
          <p:cNvSpPr/>
          <p:nvPr/>
        </p:nvSpPr>
        <p:spPr>
          <a:xfrm>
            <a:off x="8645973" y="4974885"/>
            <a:ext cx="128097" cy="12809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1" name="Oval 120">
            <a:extLst>
              <a:ext uri="{FF2B5EF4-FFF2-40B4-BE49-F238E27FC236}">
                <a16:creationId xmlns:a16="http://schemas.microsoft.com/office/drawing/2014/main" id="{CA7DC6E0-9FA6-5564-9A85-740DA81A5090}"/>
              </a:ext>
            </a:extLst>
          </p:cNvPr>
          <p:cNvSpPr/>
          <p:nvPr/>
        </p:nvSpPr>
        <p:spPr>
          <a:xfrm>
            <a:off x="9836875" y="4665064"/>
            <a:ext cx="128097" cy="12809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Oval 121">
            <a:extLst>
              <a:ext uri="{FF2B5EF4-FFF2-40B4-BE49-F238E27FC236}">
                <a16:creationId xmlns:a16="http://schemas.microsoft.com/office/drawing/2014/main" id="{0955278F-4627-7ABC-E1C0-3428523F7A0F}"/>
              </a:ext>
            </a:extLst>
          </p:cNvPr>
          <p:cNvSpPr/>
          <p:nvPr/>
        </p:nvSpPr>
        <p:spPr>
          <a:xfrm>
            <a:off x="8009901" y="5013595"/>
            <a:ext cx="77181" cy="77181"/>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a:extLst>
              <a:ext uri="{FF2B5EF4-FFF2-40B4-BE49-F238E27FC236}">
                <a16:creationId xmlns:a16="http://schemas.microsoft.com/office/drawing/2014/main" id="{730087DC-FA26-3E81-1FA5-3298FEC7F89C}"/>
              </a:ext>
            </a:extLst>
          </p:cNvPr>
          <p:cNvSpPr/>
          <p:nvPr/>
        </p:nvSpPr>
        <p:spPr>
          <a:xfrm>
            <a:off x="8664571" y="5229618"/>
            <a:ext cx="77181" cy="77181"/>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Oval 123">
            <a:extLst>
              <a:ext uri="{FF2B5EF4-FFF2-40B4-BE49-F238E27FC236}">
                <a16:creationId xmlns:a16="http://schemas.microsoft.com/office/drawing/2014/main" id="{DCCFD51B-B20B-53D0-7AB7-25DAFF0BC00D}"/>
              </a:ext>
            </a:extLst>
          </p:cNvPr>
          <p:cNvSpPr/>
          <p:nvPr/>
        </p:nvSpPr>
        <p:spPr>
          <a:xfrm>
            <a:off x="9678380" y="4800054"/>
            <a:ext cx="77181" cy="77181"/>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Cloud 82">
            <a:extLst>
              <a:ext uri="{FF2B5EF4-FFF2-40B4-BE49-F238E27FC236}">
                <a16:creationId xmlns:a16="http://schemas.microsoft.com/office/drawing/2014/main" id="{E122F0B7-5BAC-6B29-D6D7-9B36BAF71E37}"/>
              </a:ext>
            </a:extLst>
          </p:cNvPr>
          <p:cNvSpPr/>
          <p:nvPr/>
        </p:nvSpPr>
        <p:spPr>
          <a:xfrm>
            <a:off x="6428599" y="3182029"/>
            <a:ext cx="1440071" cy="1103827"/>
          </a:xfrm>
          <a:custGeom>
            <a:avLst/>
            <a:gdLst>
              <a:gd name="connsiteX0" fmla="*/ 3900 w 43200"/>
              <a:gd name="connsiteY0" fmla="*/ 14370 h 43200"/>
              <a:gd name="connsiteX1" fmla="*/ 5623 w 43200"/>
              <a:gd name="connsiteY1" fmla="*/ 6907 h 43200"/>
              <a:gd name="connsiteX2" fmla="*/ 14005 w 43200"/>
              <a:gd name="connsiteY2" fmla="*/ 5202 h 43200"/>
              <a:gd name="connsiteX3" fmla="*/ 22456 w 43200"/>
              <a:gd name="connsiteY3" fmla="*/ 3432 h 43200"/>
              <a:gd name="connsiteX4" fmla="*/ 25749 w 43200"/>
              <a:gd name="connsiteY4" fmla="*/ 200 h 43200"/>
              <a:gd name="connsiteX5" fmla="*/ 29833 w 43200"/>
              <a:gd name="connsiteY5" fmla="*/ 2481 h 43200"/>
              <a:gd name="connsiteX6" fmla="*/ 35463 w 43200"/>
              <a:gd name="connsiteY6" fmla="*/ 690 h 43200"/>
              <a:gd name="connsiteX7" fmla="*/ 38318 w 43200"/>
              <a:gd name="connsiteY7" fmla="*/ 5576 h 43200"/>
              <a:gd name="connsiteX8" fmla="*/ 41982 w 43200"/>
              <a:gd name="connsiteY8" fmla="*/ 10318 h 43200"/>
              <a:gd name="connsiteX9" fmla="*/ 41818 w 43200"/>
              <a:gd name="connsiteY9" fmla="*/ 15460 h 43200"/>
              <a:gd name="connsiteX10" fmla="*/ 43016 w 43200"/>
              <a:gd name="connsiteY10" fmla="*/ 23322 h 43200"/>
              <a:gd name="connsiteX11" fmla="*/ 37404 w 43200"/>
              <a:gd name="connsiteY11" fmla="*/ 30204 h 43200"/>
              <a:gd name="connsiteX12" fmla="*/ 35395 w 43200"/>
              <a:gd name="connsiteY12" fmla="*/ 36101 h 43200"/>
              <a:gd name="connsiteX13" fmla="*/ 28555 w 43200"/>
              <a:gd name="connsiteY13" fmla="*/ 36815 h 43200"/>
              <a:gd name="connsiteX14" fmla="*/ 23667 w 43200"/>
              <a:gd name="connsiteY14" fmla="*/ 43106 h 43200"/>
              <a:gd name="connsiteX15" fmla="*/ 16480 w 43200"/>
              <a:gd name="connsiteY15" fmla="*/ 39266 h 43200"/>
              <a:gd name="connsiteX16" fmla="*/ 5804 w 43200"/>
              <a:gd name="connsiteY16" fmla="*/ 35472 h 43200"/>
              <a:gd name="connsiteX17" fmla="*/ 1110 w 43200"/>
              <a:gd name="connsiteY17" fmla="*/ 31250 h 43200"/>
              <a:gd name="connsiteX18" fmla="*/ 2113 w 43200"/>
              <a:gd name="connsiteY18" fmla="*/ 25551 h 43200"/>
              <a:gd name="connsiteX19" fmla="*/ -5 w 43200"/>
              <a:gd name="connsiteY19" fmla="*/ 19704 h 43200"/>
              <a:gd name="connsiteX20" fmla="*/ 3863 w 43200"/>
              <a:gd name="connsiteY20" fmla="*/ 14507 h 43200"/>
              <a:gd name="connsiteX21" fmla="*/ 3900 w 43200"/>
              <a:gd name="connsiteY21" fmla="*/ 14370 h 43200"/>
              <a:gd name="connsiteX0" fmla="*/ 4693 w 43200"/>
              <a:gd name="connsiteY0" fmla="*/ 26177 h 43200"/>
              <a:gd name="connsiteX1" fmla="*/ 2160 w 43200"/>
              <a:gd name="connsiteY1" fmla="*/ 25380 h 43200"/>
              <a:gd name="connsiteX2" fmla="*/ 6928 w 43200"/>
              <a:gd name="connsiteY2" fmla="*/ 34899 h 43200"/>
              <a:gd name="connsiteX3" fmla="*/ 5820 w 43200"/>
              <a:gd name="connsiteY3" fmla="*/ 35280 h 43200"/>
              <a:gd name="connsiteX4" fmla="*/ 16478 w 43200"/>
              <a:gd name="connsiteY4" fmla="*/ 39090 h 43200"/>
              <a:gd name="connsiteX5" fmla="*/ 15810 w 43200"/>
              <a:gd name="connsiteY5" fmla="*/ 37350 h 43200"/>
              <a:gd name="connsiteX6" fmla="*/ 28827 w 43200"/>
              <a:gd name="connsiteY6" fmla="*/ 34751 h 43200"/>
              <a:gd name="connsiteX7" fmla="*/ 28560 w 43200"/>
              <a:gd name="connsiteY7" fmla="*/ 36660 h 43200"/>
              <a:gd name="connsiteX8" fmla="*/ 34129 w 43200"/>
              <a:gd name="connsiteY8" fmla="*/ 22954 h 43200"/>
              <a:gd name="connsiteX9" fmla="*/ 37380 w 43200"/>
              <a:gd name="connsiteY9" fmla="*/ 30090 h 43200"/>
              <a:gd name="connsiteX10" fmla="*/ 41798 w 43200"/>
              <a:gd name="connsiteY10" fmla="*/ 15354 h 43200"/>
              <a:gd name="connsiteX11" fmla="*/ 40350 w 43200"/>
              <a:gd name="connsiteY11" fmla="*/ 18030 h 43200"/>
              <a:gd name="connsiteX12" fmla="*/ 38324 w 43200"/>
              <a:gd name="connsiteY12" fmla="*/ 5426 h 43200"/>
              <a:gd name="connsiteX13" fmla="*/ 38400 w 43200"/>
              <a:gd name="connsiteY13" fmla="*/ 6690 h 43200"/>
              <a:gd name="connsiteX14" fmla="*/ 29078 w 43200"/>
              <a:gd name="connsiteY14" fmla="*/ 3952 h 43200"/>
              <a:gd name="connsiteX15" fmla="*/ 29820 w 43200"/>
              <a:gd name="connsiteY15" fmla="*/ 2340 h 43200"/>
              <a:gd name="connsiteX16" fmla="*/ 22141 w 43200"/>
              <a:gd name="connsiteY16" fmla="*/ 4720 h 43200"/>
              <a:gd name="connsiteX17" fmla="*/ 22500 w 43200"/>
              <a:gd name="connsiteY17" fmla="*/ 3330 h 43200"/>
              <a:gd name="connsiteX18" fmla="*/ 14000 w 43200"/>
              <a:gd name="connsiteY18" fmla="*/ 5192 h 43200"/>
              <a:gd name="connsiteX19" fmla="*/ 15300 w 43200"/>
              <a:gd name="connsiteY19" fmla="*/ 6540 h 43200"/>
              <a:gd name="connsiteX20" fmla="*/ 4127 w 43200"/>
              <a:gd name="connsiteY20" fmla="*/ 15789 h 43200"/>
              <a:gd name="connsiteX21" fmla="*/ 3900 w 43200"/>
              <a:gd name="connsiteY21" fmla="*/ 14370 h 43200"/>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6683 w 43256"/>
              <a:gd name="connsiteY8" fmla="*/ 27139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9114 w 43256"/>
              <a:gd name="connsiteY14" fmla="*/ 3811 h 43219"/>
              <a:gd name="connsiteX15" fmla="*/ 29856 w 43256"/>
              <a:gd name="connsiteY15" fmla="*/ 2199 h 43219"/>
              <a:gd name="connsiteX16" fmla="*/ 22177 w 43256"/>
              <a:gd name="connsiteY16" fmla="*/ 4579 h 43219"/>
              <a:gd name="connsiteX17" fmla="*/ 22536 w 43256"/>
              <a:gd name="connsiteY17" fmla="*/ 3189 h 43219"/>
              <a:gd name="connsiteX18" fmla="*/ 14036 w 43256"/>
              <a:gd name="connsiteY18" fmla="*/ 5051 h 43219"/>
              <a:gd name="connsiteX19" fmla="*/ 15336 w 43256"/>
              <a:gd name="connsiteY19" fmla="*/ 6399 h 43219"/>
              <a:gd name="connsiteX20" fmla="*/ 4163 w 43256"/>
              <a:gd name="connsiteY20" fmla="*/ 15648 h 43219"/>
              <a:gd name="connsiteX21" fmla="*/ 3936 w 43256"/>
              <a:gd name="connsiteY21"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6683 w 43256"/>
              <a:gd name="connsiteY8" fmla="*/ 27139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9114 w 43256"/>
              <a:gd name="connsiteY14" fmla="*/ 3811 h 43219"/>
              <a:gd name="connsiteX15" fmla="*/ 29856 w 43256"/>
              <a:gd name="connsiteY15" fmla="*/ 2199 h 43219"/>
              <a:gd name="connsiteX16" fmla="*/ 22177 w 43256"/>
              <a:gd name="connsiteY16" fmla="*/ 4579 h 43219"/>
              <a:gd name="connsiteX17" fmla="*/ 22536 w 43256"/>
              <a:gd name="connsiteY17" fmla="*/ 3189 h 43219"/>
              <a:gd name="connsiteX18" fmla="*/ 14036 w 43256"/>
              <a:gd name="connsiteY18" fmla="*/ 5051 h 43219"/>
              <a:gd name="connsiteX19" fmla="*/ 15336 w 43256"/>
              <a:gd name="connsiteY19" fmla="*/ 6399 h 43219"/>
              <a:gd name="connsiteX20" fmla="*/ 4163 w 43256"/>
              <a:gd name="connsiteY20" fmla="*/ 15648 h 43219"/>
              <a:gd name="connsiteX21" fmla="*/ 3936 w 43256"/>
              <a:gd name="connsiteY21"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6683 w 43256"/>
              <a:gd name="connsiteY8" fmla="*/ 27139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9114 w 43256"/>
              <a:gd name="connsiteY14" fmla="*/ 3811 h 43219"/>
              <a:gd name="connsiteX15" fmla="*/ 29856 w 43256"/>
              <a:gd name="connsiteY15" fmla="*/ 2199 h 43219"/>
              <a:gd name="connsiteX16" fmla="*/ 22177 w 43256"/>
              <a:gd name="connsiteY16" fmla="*/ 4579 h 43219"/>
              <a:gd name="connsiteX17" fmla="*/ 22536 w 43256"/>
              <a:gd name="connsiteY17" fmla="*/ 3189 h 43219"/>
              <a:gd name="connsiteX18" fmla="*/ 14036 w 43256"/>
              <a:gd name="connsiteY18" fmla="*/ 5051 h 43219"/>
              <a:gd name="connsiteX19" fmla="*/ 15336 w 43256"/>
              <a:gd name="connsiteY19" fmla="*/ 6399 h 43219"/>
              <a:gd name="connsiteX20" fmla="*/ 4163 w 43256"/>
              <a:gd name="connsiteY20" fmla="*/ 15648 h 43219"/>
              <a:gd name="connsiteX21" fmla="*/ 3936 w 43256"/>
              <a:gd name="connsiteY21" fmla="*/ 14229 h 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3256" h="43219">
                <a:moveTo>
                  <a:pt x="3936" y="14229"/>
                </a:moveTo>
                <a:cubicBezTo>
                  <a:pt x="3665" y="11516"/>
                  <a:pt x="4297" y="8780"/>
                  <a:pt x="5659" y="6766"/>
                </a:cubicBezTo>
                <a:cubicBezTo>
                  <a:pt x="7811" y="3585"/>
                  <a:pt x="11300" y="2876"/>
                  <a:pt x="14041" y="5061"/>
                </a:cubicBezTo>
                <a:cubicBezTo>
                  <a:pt x="15714" y="768"/>
                  <a:pt x="19950" y="-119"/>
                  <a:pt x="22492" y="3291"/>
                </a:cubicBezTo>
                <a:cubicBezTo>
                  <a:pt x="23133" y="1542"/>
                  <a:pt x="24364" y="333"/>
                  <a:pt x="25785" y="59"/>
                </a:cubicBezTo>
                <a:cubicBezTo>
                  <a:pt x="27349" y="-243"/>
                  <a:pt x="28911" y="629"/>
                  <a:pt x="29869" y="2340"/>
                </a:cubicBezTo>
                <a:cubicBezTo>
                  <a:pt x="31251" y="126"/>
                  <a:pt x="33537" y="-601"/>
                  <a:pt x="35499" y="549"/>
                </a:cubicBezTo>
                <a:cubicBezTo>
                  <a:pt x="36994" y="1425"/>
                  <a:pt x="38066" y="3259"/>
                  <a:pt x="38354" y="5435"/>
                </a:cubicBezTo>
                <a:cubicBezTo>
                  <a:pt x="40082" y="6077"/>
                  <a:pt x="41458" y="7857"/>
                  <a:pt x="42018" y="10177"/>
                </a:cubicBezTo>
                <a:cubicBezTo>
                  <a:pt x="42425" y="11861"/>
                  <a:pt x="42367" y="13690"/>
                  <a:pt x="41854" y="15319"/>
                </a:cubicBezTo>
                <a:cubicBezTo>
                  <a:pt x="43115" y="17553"/>
                  <a:pt x="43556" y="20449"/>
                  <a:pt x="43052" y="23181"/>
                </a:cubicBezTo>
                <a:cubicBezTo>
                  <a:pt x="42382" y="26813"/>
                  <a:pt x="40164" y="29533"/>
                  <a:pt x="37440" y="30063"/>
                </a:cubicBezTo>
                <a:cubicBezTo>
                  <a:pt x="37427" y="32330"/>
                  <a:pt x="36694" y="34480"/>
                  <a:pt x="35431" y="35960"/>
                </a:cubicBezTo>
                <a:cubicBezTo>
                  <a:pt x="33512" y="38209"/>
                  <a:pt x="30740" y="38498"/>
                  <a:pt x="28591" y="36674"/>
                </a:cubicBezTo>
                <a:cubicBezTo>
                  <a:pt x="27896" y="39807"/>
                  <a:pt x="26035" y="42202"/>
                  <a:pt x="23703" y="42965"/>
                </a:cubicBezTo>
                <a:cubicBezTo>
                  <a:pt x="20955" y="43864"/>
                  <a:pt x="18087" y="42332"/>
                  <a:pt x="16516" y="39125"/>
                </a:cubicBezTo>
                <a:cubicBezTo>
                  <a:pt x="12808" y="42169"/>
                  <a:pt x="7992" y="40458"/>
                  <a:pt x="5840" y="35331"/>
                </a:cubicBezTo>
                <a:cubicBezTo>
                  <a:pt x="3726" y="35668"/>
                  <a:pt x="1741" y="33883"/>
                  <a:pt x="1146" y="31109"/>
                </a:cubicBezTo>
                <a:cubicBezTo>
                  <a:pt x="715" y="29102"/>
                  <a:pt x="1096" y="26936"/>
                  <a:pt x="2149" y="25410"/>
                </a:cubicBezTo>
                <a:cubicBezTo>
                  <a:pt x="655" y="24213"/>
                  <a:pt x="-177" y="21916"/>
                  <a:pt x="31" y="19563"/>
                </a:cubicBezTo>
                <a:cubicBezTo>
                  <a:pt x="275" y="16808"/>
                  <a:pt x="1881" y="14650"/>
                  <a:pt x="3899" y="14366"/>
                </a:cubicBezTo>
                <a:cubicBezTo>
                  <a:pt x="3911" y="14320"/>
                  <a:pt x="3924" y="14275"/>
                  <a:pt x="3936" y="14229"/>
                </a:cubicBezTo>
                <a:close/>
              </a:path>
              <a:path w="43256" h="43219" fill="none" extrusionOk="0">
                <a:moveTo>
                  <a:pt x="4729" y="26036"/>
                </a:moveTo>
                <a:cubicBezTo>
                  <a:pt x="3845" y="26130"/>
                  <a:pt x="2961" y="25852"/>
                  <a:pt x="2196" y="25239"/>
                </a:cubicBezTo>
                <a:moveTo>
                  <a:pt x="6964" y="34758"/>
                </a:moveTo>
                <a:cubicBezTo>
                  <a:pt x="6609" y="34951"/>
                  <a:pt x="6236" y="35079"/>
                  <a:pt x="5856" y="35139"/>
                </a:cubicBezTo>
                <a:moveTo>
                  <a:pt x="16514" y="38949"/>
                </a:moveTo>
                <a:cubicBezTo>
                  <a:pt x="16247" y="38403"/>
                  <a:pt x="16023" y="37820"/>
                  <a:pt x="15846" y="37209"/>
                </a:cubicBezTo>
                <a:moveTo>
                  <a:pt x="28863" y="34610"/>
                </a:moveTo>
                <a:cubicBezTo>
                  <a:pt x="28824" y="35257"/>
                  <a:pt x="28734" y="35897"/>
                  <a:pt x="28596" y="36519"/>
                </a:cubicBezTo>
                <a:moveTo>
                  <a:pt x="36683" y="27139"/>
                </a:moveTo>
                <a:cubicBezTo>
                  <a:pt x="37314" y="29660"/>
                  <a:pt x="36747" y="26917"/>
                  <a:pt x="37416" y="29949"/>
                </a:cubicBezTo>
                <a:moveTo>
                  <a:pt x="41834" y="15213"/>
                </a:moveTo>
                <a:cubicBezTo>
                  <a:pt x="41509" y="16245"/>
                  <a:pt x="41014" y="17161"/>
                  <a:pt x="40386" y="17889"/>
                </a:cubicBezTo>
                <a:moveTo>
                  <a:pt x="38360" y="5285"/>
                </a:moveTo>
                <a:cubicBezTo>
                  <a:pt x="38415" y="5702"/>
                  <a:pt x="38441" y="6125"/>
                  <a:pt x="38436" y="6549"/>
                </a:cubicBezTo>
                <a:moveTo>
                  <a:pt x="29114" y="3811"/>
                </a:moveTo>
                <a:cubicBezTo>
                  <a:pt x="29303" y="3228"/>
                  <a:pt x="29552" y="2685"/>
                  <a:pt x="29856" y="2199"/>
                </a:cubicBezTo>
                <a:moveTo>
                  <a:pt x="22177" y="4579"/>
                </a:moveTo>
                <a:cubicBezTo>
                  <a:pt x="22254" y="4097"/>
                  <a:pt x="22375" y="3630"/>
                  <a:pt x="22536" y="3189"/>
                </a:cubicBezTo>
                <a:moveTo>
                  <a:pt x="14036" y="5051"/>
                </a:moveTo>
                <a:cubicBezTo>
                  <a:pt x="14508" y="5427"/>
                  <a:pt x="14944" y="5880"/>
                  <a:pt x="15336" y="6399"/>
                </a:cubicBezTo>
                <a:moveTo>
                  <a:pt x="4163" y="15648"/>
                </a:moveTo>
                <a:cubicBezTo>
                  <a:pt x="4060" y="15184"/>
                  <a:pt x="3984" y="14710"/>
                  <a:pt x="3936" y="14229"/>
                </a:cubicBezTo>
              </a:path>
            </a:pathLst>
          </a:cu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16057DEC-EA43-C6E5-098F-A02427FA8376}"/>
              </a:ext>
            </a:extLst>
          </p:cNvPr>
          <p:cNvSpPr/>
          <p:nvPr/>
        </p:nvSpPr>
        <p:spPr>
          <a:xfrm>
            <a:off x="9164329" y="4116310"/>
            <a:ext cx="231969" cy="24207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7" name="Straight Connector 126">
            <a:extLst>
              <a:ext uri="{FF2B5EF4-FFF2-40B4-BE49-F238E27FC236}">
                <a16:creationId xmlns:a16="http://schemas.microsoft.com/office/drawing/2014/main" id="{4E429796-DBF1-9B8B-AC05-56A65227BA39}"/>
              </a:ext>
            </a:extLst>
          </p:cNvPr>
          <p:cNvCxnSpPr>
            <a:cxnSpLocks/>
          </p:cNvCxnSpPr>
          <p:nvPr/>
        </p:nvCxnSpPr>
        <p:spPr>
          <a:xfrm>
            <a:off x="9164329" y="4195094"/>
            <a:ext cx="2319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8AA6C053-86B5-0832-0FB8-FF9BFCA5657B}"/>
              </a:ext>
            </a:extLst>
          </p:cNvPr>
          <p:cNvCxnSpPr>
            <a:cxnSpLocks/>
            <a:stCxn id="106" idx="3"/>
            <a:endCxn id="126" idx="1"/>
          </p:cNvCxnSpPr>
          <p:nvPr/>
        </p:nvCxnSpPr>
        <p:spPr>
          <a:xfrm>
            <a:off x="8946819" y="3810112"/>
            <a:ext cx="217510" cy="4272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46C63F88-49E3-1BBC-3CE7-D8B6AF8617E3}"/>
              </a:ext>
            </a:extLst>
          </p:cNvPr>
          <p:cNvCxnSpPr>
            <a:cxnSpLocks/>
            <a:stCxn id="108" idx="1"/>
            <a:endCxn id="107" idx="3"/>
          </p:cNvCxnSpPr>
          <p:nvPr/>
        </p:nvCxnSpPr>
        <p:spPr>
          <a:xfrm flipH="1">
            <a:off x="8946819" y="3810112"/>
            <a:ext cx="223429" cy="4366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7B88D36B-C68C-83C3-6658-8E0BA94B391E}"/>
              </a:ext>
            </a:extLst>
          </p:cNvPr>
          <p:cNvCxnSpPr>
            <a:cxnSpLocks/>
            <a:stCxn id="126" idx="0"/>
            <a:endCxn id="108" idx="2"/>
          </p:cNvCxnSpPr>
          <p:nvPr/>
        </p:nvCxnSpPr>
        <p:spPr>
          <a:xfrm flipV="1">
            <a:off x="9280314" y="3931149"/>
            <a:ext cx="5919" cy="185161"/>
          </a:xfrm>
          <a:prstGeom prst="line">
            <a:avLst/>
          </a:prstGeom>
          <a:ln>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9248946F-D41E-3BCE-BEC0-81823427AEC4}"/>
              </a:ext>
            </a:extLst>
          </p:cNvPr>
          <p:cNvCxnSpPr>
            <a:cxnSpLocks/>
          </p:cNvCxnSpPr>
          <p:nvPr/>
        </p:nvCxnSpPr>
        <p:spPr>
          <a:xfrm>
            <a:off x="7378414" y="5265936"/>
            <a:ext cx="137160" cy="1828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2" name="Oval 131">
            <a:extLst>
              <a:ext uri="{FF2B5EF4-FFF2-40B4-BE49-F238E27FC236}">
                <a16:creationId xmlns:a16="http://schemas.microsoft.com/office/drawing/2014/main" id="{7BBFF0C6-97EA-3383-9185-1295290C48EC}"/>
              </a:ext>
            </a:extLst>
          </p:cNvPr>
          <p:cNvSpPr/>
          <p:nvPr/>
        </p:nvSpPr>
        <p:spPr>
          <a:xfrm>
            <a:off x="8028637" y="5342832"/>
            <a:ext cx="77181" cy="7718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Freeform: Shape 132">
            <a:extLst>
              <a:ext uri="{FF2B5EF4-FFF2-40B4-BE49-F238E27FC236}">
                <a16:creationId xmlns:a16="http://schemas.microsoft.com/office/drawing/2014/main" id="{F22D0AFD-3527-F1C0-61A1-5A0E462B6534}"/>
              </a:ext>
            </a:extLst>
          </p:cNvPr>
          <p:cNvSpPr/>
          <p:nvPr/>
        </p:nvSpPr>
        <p:spPr>
          <a:xfrm>
            <a:off x="8640347" y="5605081"/>
            <a:ext cx="135255" cy="44051"/>
          </a:xfrm>
          <a:custGeom>
            <a:avLst/>
            <a:gdLst>
              <a:gd name="connsiteX0" fmla="*/ 0 w 135255"/>
              <a:gd name="connsiteY0" fmla="*/ 5918 h 44051"/>
              <a:gd name="connsiteX1" fmla="*/ 40005 w 135255"/>
              <a:gd name="connsiteY1" fmla="*/ 44018 h 44051"/>
              <a:gd name="connsiteX2" fmla="*/ 95250 w 135255"/>
              <a:gd name="connsiteY2" fmla="*/ 203 h 44051"/>
              <a:gd name="connsiteX3" fmla="*/ 135255 w 135255"/>
              <a:gd name="connsiteY3" fmla="*/ 30683 h 44051"/>
            </a:gdLst>
            <a:ahLst/>
            <a:cxnLst>
              <a:cxn ang="0">
                <a:pos x="connsiteX0" y="connsiteY0"/>
              </a:cxn>
              <a:cxn ang="0">
                <a:pos x="connsiteX1" y="connsiteY1"/>
              </a:cxn>
              <a:cxn ang="0">
                <a:pos x="connsiteX2" y="connsiteY2"/>
              </a:cxn>
              <a:cxn ang="0">
                <a:pos x="connsiteX3" y="connsiteY3"/>
              </a:cxn>
            </a:cxnLst>
            <a:rect l="l" t="t" r="r" b="b"/>
            <a:pathLst>
              <a:path w="135255" h="44051">
                <a:moveTo>
                  <a:pt x="0" y="5918"/>
                </a:moveTo>
                <a:cubicBezTo>
                  <a:pt x="12065" y="25444"/>
                  <a:pt x="24130" y="44970"/>
                  <a:pt x="40005" y="44018"/>
                </a:cubicBezTo>
                <a:cubicBezTo>
                  <a:pt x="55880" y="43066"/>
                  <a:pt x="79375" y="2425"/>
                  <a:pt x="95250" y="203"/>
                </a:cubicBezTo>
                <a:cubicBezTo>
                  <a:pt x="111125" y="-2019"/>
                  <a:pt x="123190" y="14332"/>
                  <a:pt x="135255" y="30683"/>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Freeform: Shape 133">
            <a:extLst>
              <a:ext uri="{FF2B5EF4-FFF2-40B4-BE49-F238E27FC236}">
                <a16:creationId xmlns:a16="http://schemas.microsoft.com/office/drawing/2014/main" id="{E265613B-FC82-27DD-B9F8-10843F02BC30}"/>
              </a:ext>
            </a:extLst>
          </p:cNvPr>
          <p:cNvSpPr/>
          <p:nvPr/>
        </p:nvSpPr>
        <p:spPr>
          <a:xfrm rot="15008186">
            <a:off x="9571709" y="5151917"/>
            <a:ext cx="45719" cy="46031"/>
          </a:xfrm>
          <a:custGeom>
            <a:avLst/>
            <a:gdLst>
              <a:gd name="connsiteX0" fmla="*/ 0 w 53830"/>
              <a:gd name="connsiteY0" fmla="*/ 10743 h 24232"/>
              <a:gd name="connsiteX1" fmla="*/ 49530 w 53830"/>
              <a:gd name="connsiteY1" fmla="*/ 24078 h 24232"/>
              <a:gd name="connsiteX2" fmla="*/ 49530 w 53830"/>
              <a:gd name="connsiteY2" fmla="*/ 1218 h 24232"/>
              <a:gd name="connsiteX3" fmla="*/ 0 w 53830"/>
              <a:gd name="connsiteY3" fmla="*/ 10743 h 24232"/>
            </a:gdLst>
            <a:ahLst/>
            <a:cxnLst>
              <a:cxn ang="0">
                <a:pos x="connsiteX0" y="connsiteY0"/>
              </a:cxn>
              <a:cxn ang="0">
                <a:pos x="connsiteX1" y="connsiteY1"/>
              </a:cxn>
              <a:cxn ang="0">
                <a:pos x="connsiteX2" y="connsiteY2"/>
              </a:cxn>
              <a:cxn ang="0">
                <a:pos x="connsiteX3" y="connsiteY3"/>
              </a:cxn>
            </a:cxnLst>
            <a:rect l="l" t="t" r="r" b="b"/>
            <a:pathLst>
              <a:path w="53830" h="24232">
                <a:moveTo>
                  <a:pt x="0" y="10743"/>
                </a:moveTo>
                <a:cubicBezTo>
                  <a:pt x="0" y="14553"/>
                  <a:pt x="41275" y="25666"/>
                  <a:pt x="49530" y="24078"/>
                </a:cubicBezTo>
                <a:cubicBezTo>
                  <a:pt x="57785" y="22491"/>
                  <a:pt x="52070" y="5980"/>
                  <a:pt x="49530" y="1218"/>
                </a:cubicBezTo>
                <a:cubicBezTo>
                  <a:pt x="46990" y="-3545"/>
                  <a:pt x="0" y="6933"/>
                  <a:pt x="0" y="10743"/>
                </a:cubicBez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lowchart: Or 134">
            <a:extLst>
              <a:ext uri="{FF2B5EF4-FFF2-40B4-BE49-F238E27FC236}">
                <a16:creationId xmlns:a16="http://schemas.microsoft.com/office/drawing/2014/main" id="{70F47C33-921E-0711-7427-A3D6A28119FE}"/>
              </a:ext>
            </a:extLst>
          </p:cNvPr>
          <p:cNvSpPr/>
          <p:nvPr/>
        </p:nvSpPr>
        <p:spPr>
          <a:xfrm>
            <a:off x="7080698" y="3538286"/>
            <a:ext cx="141684" cy="141684"/>
          </a:xfrm>
          <a:prstGeom prst="flowChar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Flowchart: Card 135">
            <a:extLst>
              <a:ext uri="{FF2B5EF4-FFF2-40B4-BE49-F238E27FC236}">
                <a16:creationId xmlns:a16="http://schemas.microsoft.com/office/drawing/2014/main" id="{B168ADA5-42A7-774C-1205-E2878CA36814}"/>
              </a:ext>
            </a:extLst>
          </p:cNvPr>
          <p:cNvSpPr/>
          <p:nvPr/>
        </p:nvSpPr>
        <p:spPr>
          <a:xfrm>
            <a:off x="6593904" y="3593849"/>
            <a:ext cx="330635" cy="222193"/>
          </a:xfrm>
          <a:prstGeom prst="flowChartPunchedCar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7" name="Picture 136" descr="A picture containing food, sitting, table, cake&#10;&#10;Description automatically generated">
            <a:extLst>
              <a:ext uri="{FF2B5EF4-FFF2-40B4-BE49-F238E27FC236}">
                <a16:creationId xmlns:a16="http://schemas.microsoft.com/office/drawing/2014/main" id="{FA23C516-F791-2081-48C0-FD4E44A1652E}"/>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9661983" y="3426644"/>
            <a:ext cx="766936" cy="766936"/>
          </a:xfrm>
          <a:prstGeom prst="rect">
            <a:avLst/>
          </a:prstGeom>
        </p:spPr>
      </p:pic>
      <p:cxnSp>
        <p:nvCxnSpPr>
          <p:cNvPr id="138" name="Connector: Elbow 137">
            <a:extLst>
              <a:ext uri="{FF2B5EF4-FFF2-40B4-BE49-F238E27FC236}">
                <a16:creationId xmlns:a16="http://schemas.microsoft.com/office/drawing/2014/main" id="{22F69ECF-B865-5B47-6099-85480F1C2FDF}"/>
              </a:ext>
            </a:extLst>
          </p:cNvPr>
          <p:cNvCxnSpPr>
            <a:stCxn id="136" idx="3"/>
            <a:endCxn id="135" idx="2"/>
          </p:cNvCxnSpPr>
          <p:nvPr/>
        </p:nvCxnSpPr>
        <p:spPr>
          <a:xfrm flipV="1">
            <a:off x="6924539" y="3609128"/>
            <a:ext cx="156159" cy="95818"/>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9" name="Flowchart: Manual Input 138">
            <a:extLst>
              <a:ext uri="{FF2B5EF4-FFF2-40B4-BE49-F238E27FC236}">
                <a16:creationId xmlns:a16="http://schemas.microsoft.com/office/drawing/2014/main" id="{15B64BD0-4CB9-4C70-8873-A8386248AB80}"/>
              </a:ext>
            </a:extLst>
          </p:cNvPr>
          <p:cNvSpPr/>
          <p:nvPr/>
        </p:nvSpPr>
        <p:spPr>
          <a:xfrm>
            <a:off x="7329458" y="3368783"/>
            <a:ext cx="319085" cy="191445"/>
          </a:xfrm>
          <a:prstGeom prst="flowChartManualInpu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0" name="Connector: Elbow 139">
            <a:extLst>
              <a:ext uri="{FF2B5EF4-FFF2-40B4-BE49-F238E27FC236}">
                <a16:creationId xmlns:a16="http://schemas.microsoft.com/office/drawing/2014/main" id="{1D596348-084F-BBA0-59C3-1EAE59510F4C}"/>
              </a:ext>
            </a:extLst>
          </p:cNvPr>
          <p:cNvCxnSpPr>
            <a:cxnSpLocks/>
            <a:stCxn id="135" idx="6"/>
            <a:endCxn id="139" idx="1"/>
          </p:cNvCxnSpPr>
          <p:nvPr/>
        </p:nvCxnSpPr>
        <p:spPr>
          <a:xfrm flipV="1">
            <a:off x="7222382" y="3464506"/>
            <a:ext cx="107076" cy="144622"/>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1" name="Flowchart: Internal Storage 140">
            <a:extLst>
              <a:ext uri="{FF2B5EF4-FFF2-40B4-BE49-F238E27FC236}">
                <a16:creationId xmlns:a16="http://schemas.microsoft.com/office/drawing/2014/main" id="{73C4F34E-A985-4317-3CF5-B7E479B2EA57}"/>
              </a:ext>
            </a:extLst>
          </p:cNvPr>
          <p:cNvSpPr/>
          <p:nvPr/>
        </p:nvSpPr>
        <p:spPr>
          <a:xfrm>
            <a:off x="7079409" y="3849574"/>
            <a:ext cx="259861" cy="259861"/>
          </a:xfrm>
          <a:prstGeom prst="flowChartInternalStorag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2" name="Straight Connector 141">
            <a:extLst>
              <a:ext uri="{FF2B5EF4-FFF2-40B4-BE49-F238E27FC236}">
                <a16:creationId xmlns:a16="http://schemas.microsoft.com/office/drawing/2014/main" id="{247C361A-01D2-9428-45D6-596B03EAE485}"/>
              </a:ext>
            </a:extLst>
          </p:cNvPr>
          <p:cNvCxnSpPr>
            <a:cxnSpLocks/>
            <a:stCxn id="106" idx="2"/>
            <a:endCxn id="107" idx="0"/>
          </p:cNvCxnSpPr>
          <p:nvPr/>
        </p:nvCxnSpPr>
        <p:spPr>
          <a:xfrm>
            <a:off x="8830835" y="3931149"/>
            <a:ext cx="0" cy="194544"/>
          </a:xfrm>
          <a:prstGeom prst="line">
            <a:avLst/>
          </a:prstGeom>
          <a:ln>
            <a:solidFill>
              <a:schemeClr val="tx1"/>
            </a:solidFill>
            <a:headEnd type="triangle"/>
          </a:ln>
        </p:spPr>
        <p:style>
          <a:lnRef idx="1">
            <a:schemeClr val="accent1"/>
          </a:lnRef>
          <a:fillRef idx="0">
            <a:schemeClr val="accent1"/>
          </a:fillRef>
          <a:effectRef idx="0">
            <a:schemeClr val="accent1"/>
          </a:effectRef>
          <a:fontRef idx="minor">
            <a:schemeClr val="tx1"/>
          </a:fontRef>
        </p:style>
      </p:cxnSp>
      <p:sp>
        <p:nvSpPr>
          <p:cNvPr id="143" name="Cloud 82">
            <a:extLst>
              <a:ext uri="{FF2B5EF4-FFF2-40B4-BE49-F238E27FC236}">
                <a16:creationId xmlns:a16="http://schemas.microsoft.com/office/drawing/2014/main" id="{153B4BDD-2C50-60D2-642B-AD7870949E2A}"/>
              </a:ext>
            </a:extLst>
          </p:cNvPr>
          <p:cNvSpPr/>
          <p:nvPr/>
        </p:nvSpPr>
        <p:spPr>
          <a:xfrm>
            <a:off x="7545954" y="3473601"/>
            <a:ext cx="1116764" cy="984734"/>
          </a:xfrm>
          <a:custGeom>
            <a:avLst/>
            <a:gdLst>
              <a:gd name="connsiteX0" fmla="*/ 3900 w 43200"/>
              <a:gd name="connsiteY0" fmla="*/ 14370 h 43200"/>
              <a:gd name="connsiteX1" fmla="*/ 5623 w 43200"/>
              <a:gd name="connsiteY1" fmla="*/ 6907 h 43200"/>
              <a:gd name="connsiteX2" fmla="*/ 14005 w 43200"/>
              <a:gd name="connsiteY2" fmla="*/ 5202 h 43200"/>
              <a:gd name="connsiteX3" fmla="*/ 22456 w 43200"/>
              <a:gd name="connsiteY3" fmla="*/ 3432 h 43200"/>
              <a:gd name="connsiteX4" fmla="*/ 25749 w 43200"/>
              <a:gd name="connsiteY4" fmla="*/ 200 h 43200"/>
              <a:gd name="connsiteX5" fmla="*/ 29833 w 43200"/>
              <a:gd name="connsiteY5" fmla="*/ 2481 h 43200"/>
              <a:gd name="connsiteX6" fmla="*/ 35463 w 43200"/>
              <a:gd name="connsiteY6" fmla="*/ 690 h 43200"/>
              <a:gd name="connsiteX7" fmla="*/ 38318 w 43200"/>
              <a:gd name="connsiteY7" fmla="*/ 5576 h 43200"/>
              <a:gd name="connsiteX8" fmla="*/ 41982 w 43200"/>
              <a:gd name="connsiteY8" fmla="*/ 10318 h 43200"/>
              <a:gd name="connsiteX9" fmla="*/ 41818 w 43200"/>
              <a:gd name="connsiteY9" fmla="*/ 15460 h 43200"/>
              <a:gd name="connsiteX10" fmla="*/ 43016 w 43200"/>
              <a:gd name="connsiteY10" fmla="*/ 23322 h 43200"/>
              <a:gd name="connsiteX11" fmla="*/ 37404 w 43200"/>
              <a:gd name="connsiteY11" fmla="*/ 30204 h 43200"/>
              <a:gd name="connsiteX12" fmla="*/ 35395 w 43200"/>
              <a:gd name="connsiteY12" fmla="*/ 36101 h 43200"/>
              <a:gd name="connsiteX13" fmla="*/ 28555 w 43200"/>
              <a:gd name="connsiteY13" fmla="*/ 36815 h 43200"/>
              <a:gd name="connsiteX14" fmla="*/ 23667 w 43200"/>
              <a:gd name="connsiteY14" fmla="*/ 43106 h 43200"/>
              <a:gd name="connsiteX15" fmla="*/ 16480 w 43200"/>
              <a:gd name="connsiteY15" fmla="*/ 39266 h 43200"/>
              <a:gd name="connsiteX16" fmla="*/ 5804 w 43200"/>
              <a:gd name="connsiteY16" fmla="*/ 35472 h 43200"/>
              <a:gd name="connsiteX17" fmla="*/ 1110 w 43200"/>
              <a:gd name="connsiteY17" fmla="*/ 31250 h 43200"/>
              <a:gd name="connsiteX18" fmla="*/ 2113 w 43200"/>
              <a:gd name="connsiteY18" fmla="*/ 25551 h 43200"/>
              <a:gd name="connsiteX19" fmla="*/ -5 w 43200"/>
              <a:gd name="connsiteY19" fmla="*/ 19704 h 43200"/>
              <a:gd name="connsiteX20" fmla="*/ 3863 w 43200"/>
              <a:gd name="connsiteY20" fmla="*/ 14507 h 43200"/>
              <a:gd name="connsiteX21" fmla="*/ 3900 w 43200"/>
              <a:gd name="connsiteY21" fmla="*/ 14370 h 43200"/>
              <a:gd name="connsiteX0" fmla="*/ 4693 w 43200"/>
              <a:gd name="connsiteY0" fmla="*/ 26177 h 43200"/>
              <a:gd name="connsiteX1" fmla="*/ 2160 w 43200"/>
              <a:gd name="connsiteY1" fmla="*/ 25380 h 43200"/>
              <a:gd name="connsiteX2" fmla="*/ 6928 w 43200"/>
              <a:gd name="connsiteY2" fmla="*/ 34899 h 43200"/>
              <a:gd name="connsiteX3" fmla="*/ 5820 w 43200"/>
              <a:gd name="connsiteY3" fmla="*/ 35280 h 43200"/>
              <a:gd name="connsiteX4" fmla="*/ 16478 w 43200"/>
              <a:gd name="connsiteY4" fmla="*/ 39090 h 43200"/>
              <a:gd name="connsiteX5" fmla="*/ 15810 w 43200"/>
              <a:gd name="connsiteY5" fmla="*/ 37350 h 43200"/>
              <a:gd name="connsiteX6" fmla="*/ 28827 w 43200"/>
              <a:gd name="connsiteY6" fmla="*/ 34751 h 43200"/>
              <a:gd name="connsiteX7" fmla="*/ 28560 w 43200"/>
              <a:gd name="connsiteY7" fmla="*/ 36660 h 43200"/>
              <a:gd name="connsiteX8" fmla="*/ 34129 w 43200"/>
              <a:gd name="connsiteY8" fmla="*/ 22954 h 43200"/>
              <a:gd name="connsiteX9" fmla="*/ 37380 w 43200"/>
              <a:gd name="connsiteY9" fmla="*/ 30090 h 43200"/>
              <a:gd name="connsiteX10" fmla="*/ 41798 w 43200"/>
              <a:gd name="connsiteY10" fmla="*/ 15354 h 43200"/>
              <a:gd name="connsiteX11" fmla="*/ 40350 w 43200"/>
              <a:gd name="connsiteY11" fmla="*/ 18030 h 43200"/>
              <a:gd name="connsiteX12" fmla="*/ 38324 w 43200"/>
              <a:gd name="connsiteY12" fmla="*/ 5426 h 43200"/>
              <a:gd name="connsiteX13" fmla="*/ 38400 w 43200"/>
              <a:gd name="connsiteY13" fmla="*/ 6690 h 43200"/>
              <a:gd name="connsiteX14" fmla="*/ 29078 w 43200"/>
              <a:gd name="connsiteY14" fmla="*/ 3952 h 43200"/>
              <a:gd name="connsiteX15" fmla="*/ 29820 w 43200"/>
              <a:gd name="connsiteY15" fmla="*/ 2340 h 43200"/>
              <a:gd name="connsiteX16" fmla="*/ 22141 w 43200"/>
              <a:gd name="connsiteY16" fmla="*/ 4720 h 43200"/>
              <a:gd name="connsiteX17" fmla="*/ 22500 w 43200"/>
              <a:gd name="connsiteY17" fmla="*/ 3330 h 43200"/>
              <a:gd name="connsiteX18" fmla="*/ 14000 w 43200"/>
              <a:gd name="connsiteY18" fmla="*/ 5192 h 43200"/>
              <a:gd name="connsiteX19" fmla="*/ 15300 w 43200"/>
              <a:gd name="connsiteY19" fmla="*/ 6540 h 43200"/>
              <a:gd name="connsiteX20" fmla="*/ 4127 w 43200"/>
              <a:gd name="connsiteY20" fmla="*/ 15789 h 43200"/>
              <a:gd name="connsiteX21" fmla="*/ 3900 w 43200"/>
              <a:gd name="connsiteY21" fmla="*/ 14370 h 43200"/>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6683 w 43256"/>
              <a:gd name="connsiteY8" fmla="*/ 27139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9114 w 43256"/>
              <a:gd name="connsiteY14" fmla="*/ 3811 h 43219"/>
              <a:gd name="connsiteX15" fmla="*/ 29856 w 43256"/>
              <a:gd name="connsiteY15" fmla="*/ 2199 h 43219"/>
              <a:gd name="connsiteX16" fmla="*/ 22177 w 43256"/>
              <a:gd name="connsiteY16" fmla="*/ 4579 h 43219"/>
              <a:gd name="connsiteX17" fmla="*/ 22536 w 43256"/>
              <a:gd name="connsiteY17" fmla="*/ 3189 h 43219"/>
              <a:gd name="connsiteX18" fmla="*/ 14036 w 43256"/>
              <a:gd name="connsiteY18" fmla="*/ 5051 h 43219"/>
              <a:gd name="connsiteX19" fmla="*/ 15336 w 43256"/>
              <a:gd name="connsiteY19" fmla="*/ 6399 h 43219"/>
              <a:gd name="connsiteX20" fmla="*/ 4163 w 43256"/>
              <a:gd name="connsiteY20" fmla="*/ 15648 h 43219"/>
              <a:gd name="connsiteX21" fmla="*/ 3936 w 43256"/>
              <a:gd name="connsiteY21"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6683 w 43256"/>
              <a:gd name="connsiteY8" fmla="*/ 27139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9114 w 43256"/>
              <a:gd name="connsiteY14" fmla="*/ 3811 h 43219"/>
              <a:gd name="connsiteX15" fmla="*/ 29856 w 43256"/>
              <a:gd name="connsiteY15" fmla="*/ 2199 h 43219"/>
              <a:gd name="connsiteX16" fmla="*/ 22177 w 43256"/>
              <a:gd name="connsiteY16" fmla="*/ 4579 h 43219"/>
              <a:gd name="connsiteX17" fmla="*/ 22536 w 43256"/>
              <a:gd name="connsiteY17" fmla="*/ 3189 h 43219"/>
              <a:gd name="connsiteX18" fmla="*/ 14036 w 43256"/>
              <a:gd name="connsiteY18" fmla="*/ 5051 h 43219"/>
              <a:gd name="connsiteX19" fmla="*/ 15336 w 43256"/>
              <a:gd name="connsiteY19" fmla="*/ 6399 h 43219"/>
              <a:gd name="connsiteX20" fmla="*/ 4163 w 43256"/>
              <a:gd name="connsiteY20" fmla="*/ 15648 h 43219"/>
              <a:gd name="connsiteX21" fmla="*/ 3936 w 43256"/>
              <a:gd name="connsiteY21"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6683 w 43256"/>
              <a:gd name="connsiteY8" fmla="*/ 27139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9114 w 43256"/>
              <a:gd name="connsiteY14" fmla="*/ 3811 h 43219"/>
              <a:gd name="connsiteX15" fmla="*/ 29856 w 43256"/>
              <a:gd name="connsiteY15" fmla="*/ 2199 h 43219"/>
              <a:gd name="connsiteX16" fmla="*/ 22177 w 43256"/>
              <a:gd name="connsiteY16" fmla="*/ 4579 h 43219"/>
              <a:gd name="connsiteX17" fmla="*/ 22536 w 43256"/>
              <a:gd name="connsiteY17" fmla="*/ 3189 h 43219"/>
              <a:gd name="connsiteX18" fmla="*/ 14036 w 43256"/>
              <a:gd name="connsiteY18" fmla="*/ 5051 h 43219"/>
              <a:gd name="connsiteX19" fmla="*/ 15336 w 43256"/>
              <a:gd name="connsiteY19" fmla="*/ 6399 h 43219"/>
              <a:gd name="connsiteX20" fmla="*/ 4163 w 43256"/>
              <a:gd name="connsiteY20" fmla="*/ 15648 h 43219"/>
              <a:gd name="connsiteX21" fmla="*/ 3936 w 43256"/>
              <a:gd name="connsiteY21" fmla="*/ 14229 h 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3256" h="43219">
                <a:moveTo>
                  <a:pt x="3936" y="14229"/>
                </a:moveTo>
                <a:cubicBezTo>
                  <a:pt x="3665" y="11516"/>
                  <a:pt x="4297" y="8780"/>
                  <a:pt x="5659" y="6766"/>
                </a:cubicBezTo>
                <a:cubicBezTo>
                  <a:pt x="7811" y="3585"/>
                  <a:pt x="11300" y="2876"/>
                  <a:pt x="14041" y="5061"/>
                </a:cubicBezTo>
                <a:cubicBezTo>
                  <a:pt x="15714" y="768"/>
                  <a:pt x="19950" y="-119"/>
                  <a:pt x="22492" y="3291"/>
                </a:cubicBezTo>
                <a:cubicBezTo>
                  <a:pt x="23133" y="1542"/>
                  <a:pt x="24364" y="333"/>
                  <a:pt x="25785" y="59"/>
                </a:cubicBezTo>
                <a:cubicBezTo>
                  <a:pt x="27349" y="-243"/>
                  <a:pt x="28911" y="629"/>
                  <a:pt x="29869" y="2340"/>
                </a:cubicBezTo>
                <a:cubicBezTo>
                  <a:pt x="31251" y="126"/>
                  <a:pt x="33537" y="-601"/>
                  <a:pt x="35499" y="549"/>
                </a:cubicBezTo>
                <a:cubicBezTo>
                  <a:pt x="36994" y="1425"/>
                  <a:pt x="38066" y="3259"/>
                  <a:pt x="38354" y="5435"/>
                </a:cubicBezTo>
                <a:cubicBezTo>
                  <a:pt x="40082" y="6077"/>
                  <a:pt x="41458" y="7857"/>
                  <a:pt x="42018" y="10177"/>
                </a:cubicBezTo>
                <a:cubicBezTo>
                  <a:pt x="42425" y="11861"/>
                  <a:pt x="42367" y="13690"/>
                  <a:pt x="41854" y="15319"/>
                </a:cubicBezTo>
                <a:cubicBezTo>
                  <a:pt x="43115" y="17553"/>
                  <a:pt x="43556" y="20449"/>
                  <a:pt x="43052" y="23181"/>
                </a:cubicBezTo>
                <a:cubicBezTo>
                  <a:pt x="42382" y="26813"/>
                  <a:pt x="40164" y="29533"/>
                  <a:pt x="37440" y="30063"/>
                </a:cubicBezTo>
                <a:cubicBezTo>
                  <a:pt x="37427" y="32330"/>
                  <a:pt x="36694" y="34480"/>
                  <a:pt x="35431" y="35960"/>
                </a:cubicBezTo>
                <a:cubicBezTo>
                  <a:pt x="33512" y="38209"/>
                  <a:pt x="30740" y="38498"/>
                  <a:pt x="28591" y="36674"/>
                </a:cubicBezTo>
                <a:cubicBezTo>
                  <a:pt x="27896" y="39807"/>
                  <a:pt x="26035" y="42202"/>
                  <a:pt x="23703" y="42965"/>
                </a:cubicBezTo>
                <a:cubicBezTo>
                  <a:pt x="20955" y="43864"/>
                  <a:pt x="18087" y="42332"/>
                  <a:pt x="16516" y="39125"/>
                </a:cubicBezTo>
                <a:cubicBezTo>
                  <a:pt x="12808" y="42169"/>
                  <a:pt x="7992" y="40458"/>
                  <a:pt x="5840" y="35331"/>
                </a:cubicBezTo>
                <a:cubicBezTo>
                  <a:pt x="3726" y="35668"/>
                  <a:pt x="1741" y="33883"/>
                  <a:pt x="1146" y="31109"/>
                </a:cubicBezTo>
                <a:cubicBezTo>
                  <a:pt x="715" y="29102"/>
                  <a:pt x="1096" y="26936"/>
                  <a:pt x="2149" y="25410"/>
                </a:cubicBezTo>
                <a:cubicBezTo>
                  <a:pt x="655" y="24213"/>
                  <a:pt x="-177" y="21916"/>
                  <a:pt x="31" y="19563"/>
                </a:cubicBezTo>
                <a:cubicBezTo>
                  <a:pt x="275" y="16808"/>
                  <a:pt x="1881" y="14650"/>
                  <a:pt x="3899" y="14366"/>
                </a:cubicBezTo>
                <a:cubicBezTo>
                  <a:pt x="3911" y="14320"/>
                  <a:pt x="3924" y="14275"/>
                  <a:pt x="3936" y="14229"/>
                </a:cubicBezTo>
                <a:close/>
              </a:path>
              <a:path w="43256" h="43219" fill="none" extrusionOk="0">
                <a:moveTo>
                  <a:pt x="4729" y="26036"/>
                </a:moveTo>
                <a:cubicBezTo>
                  <a:pt x="3845" y="26130"/>
                  <a:pt x="2961" y="25852"/>
                  <a:pt x="2196" y="25239"/>
                </a:cubicBezTo>
                <a:moveTo>
                  <a:pt x="6964" y="34758"/>
                </a:moveTo>
                <a:cubicBezTo>
                  <a:pt x="6609" y="34951"/>
                  <a:pt x="6236" y="35079"/>
                  <a:pt x="5856" y="35139"/>
                </a:cubicBezTo>
                <a:moveTo>
                  <a:pt x="16514" y="38949"/>
                </a:moveTo>
                <a:cubicBezTo>
                  <a:pt x="16247" y="38403"/>
                  <a:pt x="16023" y="37820"/>
                  <a:pt x="15846" y="37209"/>
                </a:cubicBezTo>
                <a:moveTo>
                  <a:pt x="28863" y="34610"/>
                </a:moveTo>
                <a:cubicBezTo>
                  <a:pt x="28824" y="35257"/>
                  <a:pt x="28734" y="35897"/>
                  <a:pt x="28596" y="36519"/>
                </a:cubicBezTo>
                <a:moveTo>
                  <a:pt x="36683" y="27139"/>
                </a:moveTo>
                <a:cubicBezTo>
                  <a:pt x="37314" y="29660"/>
                  <a:pt x="36747" y="26917"/>
                  <a:pt x="37416" y="29949"/>
                </a:cubicBezTo>
                <a:moveTo>
                  <a:pt x="41834" y="15213"/>
                </a:moveTo>
                <a:cubicBezTo>
                  <a:pt x="41509" y="16245"/>
                  <a:pt x="41014" y="17161"/>
                  <a:pt x="40386" y="17889"/>
                </a:cubicBezTo>
                <a:moveTo>
                  <a:pt x="38360" y="5285"/>
                </a:moveTo>
                <a:cubicBezTo>
                  <a:pt x="38415" y="5702"/>
                  <a:pt x="38441" y="6125"/>
                  <a:pt x="38436" y="6549"/>
                </a:cubicBezTo>
                <a:moveTo>
                  <a:pt x="29114" y="3811"/>
                </a:moveTo>
                <a:cubicBezTo>
                  <a:pt x="29303" y="3228"/>
                  <a:pt x="29552" y="2685"/>
                  <a:pt x="29856" y="2199"/>
                </a:cubicBezTo>
                <a:moveTo>
                  <a:pt x="22177" y="4579"/>
                </a:moveTo>
                <a:cubicBezTo>
                  <a:pt x="22254" y="4097"/>
                  <a:pt x="22375" y="3630"/>
                  <a:pt x="22536" y="3189"/>
                </a:cubicBezTo>
                <a:moveTo>
                  <a:pt x="14036" y="5051"/>
                </a:moveTo>
                <a:cubicBezTo>
                  <a:pt x="14508" y="5427"/>
                  <a:pt x="14944" y="5880"/>
                  <a:pt x="15336" y="6399"/>
                </a:cubicBezTo>
                <a:moveTo>
                  <a:pt x="4163" y="15648"/>
                </a:moveTo>
                <a:cubicBezTo>
                  <a:pt x="4060" y="15184"/>
                  <a:pt x="3984" y="14710"/>
                  <a:pt x="3936" y="14229"/>
                </a:cubicBezTo>
              </a:path>
            </a:pathLst>
          </a:cu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a:extLst>
              <a:ext uri="{FF2B5EF4-FFF2-40B4-BE49-F238E27FC236}">
                <a16:creationId xmlns:a16="http://schemas.microsoft.com/office/drawing/2014/main" id="{7FC67668-7554-1248-4B2A-17054C1624BB}"/>
              </a:ext>
            </a:extLst>
          </p:cNvPr>
          <p:cNvSpPr/>
          <p:nvPr/>
        </p:nvSpPr>
        <p:spPr>
          <a:xfrm>
            <a:off x="8045025" y="3992764"/>
            <a:ext cx="256525" cy="256525"/>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Isosceles Triangle 144">
            <a:extLst>
              <a:ext uri="{FF2B5EF4-FFF2-40B4-BE49-F238E27FC236}">
                <a16:creationId xmlns:a16="http://schemas.microsoft.com/office/drawing/2014/main" id="{D591E482-64C7-933A-B84B-6FE40F56ADE3}"/>
              </a:ext>
            </a:extLst>
          </p:cNvPr>
          <p:cNvSpPr/>
          <p:nvPr/>
        </p:nvSpPr>
        <p:spPr>
          <a:xfrm>
            <a:off x="7764756" y="3732644"/>
            <a:ext cx="272031" cy="234510"/>
          </a:xfrm>
          <a:prstGeom prst="triangl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84B44BDE-B5FD-520F-6C39-96228182B068}"/>
              </a:ext>
            </a:extLst>
          </p:cNvPr>
          <p:cNvSpPr/>
          <p:nvPr/>
        </p:nvSpPr>
        <p:spPr>
          <a:xfrm>
            <a:off x="8190294" y="3651933"/>
            <a:ext cx="241572" cy="241572"/>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7" name="Connector: Elbow 146">
            <a:extLst>
              <a:ext uri="{FF2B5EF4-FFF2-40B4-BE49-F238E27FC236}">
                <a16:creationId xmlns:a16="http://schemas.microsoft.com/office/drawing/2014/main" id="{312CE76E-D681-751C-949B-5B16B32B4832}"/>
              </a:ext>
            </a:extLst>
          </p:cNvPr>
          <p:cNvCxnSpPr>
            <a:cxnSpLocks/>
            <a:stCxn id="136" idx="3"/>
            <a:endCxn id="141" idx="1"/>
          </p:cNvCxnSpPr>
          <p:nvPr/>
        </p:nvCxnSpPr>
        <p:spPr>
          <a:xfrm>
            <a:off x="6924539" y="3704946"/>
            <a:ext cx="154870" cy="274559"/>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8901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3B3E2-ECD2-3B16-CCFD-675C39166C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CA1D72-D7F9-5EF7-B38A-4FE67DB91EA4}"/>
              </a:ext>
            </a:extLst>
          </p:cNvPr>
          <p:cNvSpPr>
            <a:spLocks noGrp="1"/>
          </p:cNvSpPr>
          <p:nvPr>
            <p:ph type="title"/>
          </p:nvPr>
        </p:nvSpPr>
        <p:spPr/>
        <p:txBody>
          <a:bodyPr>
            <a:normAutofit/>
          </a:bodyPr>
          <a:lstStyle/>
          <a:p>
            <a:r>
              <a:rPr lang="en-US" dirty="0"/>
              <a:t>What Is Architecture? [Fred Brooks]</a:t>
            </a:r>
          </a:p>
        </p:txBody>
      </p:sp>
      <p:sp>
        <p:nvSpPr>
          <p:cNvPr id="3" name="Content Placeholder 2">
            <a:extLst>
              <a:ext uri="{FF2B5EF4-FFF2-40B4-BE49-F238E27FC236}">
                <a16:creationId xmlns:a16="http://schemas.microsoft.com/office/drawing/2014/main" id="{3F895DAE-1D13-E24E-44EC-011AA20F08A8}"/>
              </a:ext>
            </a:extLst>
          </p:cNvPr>
          <p:cNvSpPr>
            <a:spLocks noGrp="1"/>
          </p:cNvSpPr>
          <p:nvPr>
            <p:ph idx="1"/>
          </p:nvPr>
        </p:nvSpPr>
        <p:spPr/>
        <p:txBody>
          <a:bodyPr anchor="ctr">
            <a:normAutofit lnSpcReduction="10000"/>
          </a:bodyPr>
          <a:lstStyle/>
          <a:p>
            <a:pPr marL="0" indent="0">
              <a:lnSpc>
                <a:spcPct val="120000"/>
              </a:lnSpc>
              <a:buNone/>
            </a:pPr>
            <a:r>
              <a:rPr lang="en-US" dirty="0"/>
              <a:t>A clean, elegant programming product must present to each of its users a </a:t>
            </a:r>
            <a:r>
              <a:rPr lang="en-US" b="1" dirty="0">
                <a:solidFill>
                  <a:schemeClr val="accent5">
                    <a:lumMod val="75000"/>
                  </a:schemeClr>
                </a:solidFill>
              </a:rPr>
              <a:t>coherent mental model</a:t>
            </a:r>
            <a:r>
              <a:rPr lang="en-US" dirty="0">
                <a:solidFill>
                  <a:schemeClr val="accent5">
                    <a:lumMod val="75000"/>
                  </a:schemeClr>
                </a:solidFill>
              </a:rPr>
              <a:t> </a:t>
            </a:r>
            <a:r>
              <a:rPr lang="en-US" dirty="0"/>
              <a:t>of the application, of strategies for doing the application, and of the user-interface tactics to be used</a:t>
            </a:r>
            <a:br>
              <a:rPr lang="en-US" dirty="0"/>
            </a:br>
            <a:r>
              <a:rPr lang="en-US" dirty="0"/>
              <a:t>…</a:t>
            </a:r>
          </a:p>
          <a:p>
            <a:pPr marL="0" indent="0">
              <a:lnSpc>
                <a:spcPct val="120000"/>
              </a:lnSpc>
              <a:buNone/>
            </a:pPr>
            <a:r>
              <a:rPr lang="en-US" b="1" dirty="0">
                <a:solidFill>
                  <a:schemeClr val="accent5">
                    <a:lumMod val="75000"/>
                  </a:schemeClr>
                </a:solidFill>
              </a:rPr>
              <a:t>Conceptual Integrity </a:t>
            </a:r>
            <a:r>
              <a:rPr lang="en-US" dirty="0"/>
              <a:t>is the most important consideration in system design. It is better to have a system omit certain anomalous features and improvements, but to reflect one set of design ideas, than to have one that contains many good but independent and uncoordinated ideas.</a:t>
            </a:r>
          </a:p>
        </p:txBody>
      </p:sp>
      <p:sp>
        <p:nvSpPr>
          <p:cNvPr id="4" name="Slide Number Placeholder 3">
            <a:extLst>
              <a:ext uri="{FF2B5EF4-FFF2-40B4-BE49-F238E27FC236}">
                <a16:creationId xmlns:a16="http://schemas.microsoft.com/office/drawing/2014/main" id="{38C8AE82-AB87-F636-56F8-81A510FD2ABC}"/>
              </a:ext>
            </a:extLst>
          </p:cNvPr>
          <p:cNvSpPr>
            <a:spLocks noGrp="1"/>
          </p:cNvSpPr>
          <p:nvPr>
            <p:ph type="sldNum" sz="quarter" idx="12"/>
          </p:nvPr>
        </p:nvSpPr>
        <p:spPr/>
        <p:txBody>
          <a:bodyPr/>
          <a:lstStyle/>
          <a:p>
            <a:fld id="{E6E087A0-8E33-4AD2-B40F-AC5841A95ADE}" type="slidenum">
              <a:rPr lang="en-US" smtClean="0"/>
              <a:t>8</a:t>
            </a:fld>
            <a:endParaRPr lang="en-US"/>
          </a:p>
        </p:txBody>
      </p:sp>
    </p:spTree>
    <p:extLst>
      <p:ext uri="{BB962C8B-B14F-4D97-AF65-F5344CB8AC3E}">
        <p14:creationId xmlns:p14="http://schemas.microsoft.com/office/powerpoint/2010/main" val="1223769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35C44-C129-6CC6-C915-CA569DBF51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4AF23E-ECF4-0083-D8D7-50856C007188}"/>
              </a:ext>
            </a:extLst>
          </p:cNvPr>
          <p:cNvSpPr>
            <a:spLocks noGrp="1"/>
          </p:cNvSpPr>
          <p:nvPr>
            <p:ph type="title"/>
          </p:nvPr>
        </p:nvSpPr>
        <p:spPr/>
        <p:txBody>
          <a:bodyPr>
            <a:normAutofit/>
          </a:bodyPr>
          <a:lstStyle/>
          <a:p>
            <a:r>
              <a:rPr lang="en-US" dirty="0"/>
              <a:t>What Is Architecture? [Ralph Johnson]</a:t>
            </a:r>
          </a:p>
        </p:txBody>
      </p:sp>
      <p:sp>
        <p:nvSpPr>
          <p:cNvPr id="3" name="Content Placeholder 2">
            <a:extLst>
              <a:ext uri="{FF2B5EF4-FFF2-40B4-BE49-F238E27FC236}">
                <a16:creationId xmlns:a16="http://schemas.microsoft.com/office/drawing/2014/main" id="{C0BC5E95-58F7-B28B-839F-21FDF85CAF76}"/>
              </a:ext>
            </a:extLst>
          </p:cNvPr>
          <p:cNvSpPr>
            <a:spLocks noGrp="1"/>
          </p:cNvSpPr>
          <p:nvPr>
            <p:ph idx="1"/>
          </p:nvPr>
        </p:nvSpPr>
        <p:spPr/>
        <p:txBody>
          <a:bodyPr anchor="ctr">
            <a:normAutofit fontScale="92500" lnSpcReduction="10000"/>
          </a:bodyPr>
          <a:lstStyle/>
          <a:p>
            <a:pPr marL="0" indent="0">
              <a:lnSpc>
                <a:spcPct val="120000"/>
              </a:lnSpc>
              <a:buNone/>
            </a:pPr>
            <a:r>
              <a:rPr lang="en-US" dirty="0"/>
              <a:t>In most successful software projects, the expert developers working on that project have a </a:t>
            </a:r>
            <a:r>
              <a:rPr lang="en-US" b="1" dirty="0"/>
              <a:t>shared understanding</a:t>
            </a:r>
            <a:r>
              <a:rPr lang="en-US" dirty="0"/>
              <a:t> of the system design. This shared understanding is called ‘architecture.’</a:t>
            </a:r>
            <a:br>
              <a:rPr lang="en-US" dirty="0"/>
            </a:br>
            <a:r>
              <a:rPr lang="en-US" dirty="0"/>
              <a:t>…</a:t>
            </a:r>
          </a:p>
          <a:p>
            <a:pPr marL="0" indent="0">
              <a:lnSpc>
                <a:spcPct val="120000"/>
              </a:lnSpc>
              <a:buNone/>
            </a:pPr>
            <a:r>
              <a:rPr lang="en-US" dirty="0"/>
              <a:t>architecture is a social construct</a:t>
            </a:r>
            <a:br>
              <a:rPr lang="en-US" dirty="0"/>
            </a:br>
            <a:r>
              <a:rPr lang="en-US" dirty="0"/>
              <a:t>…</a:t>
            </a:r>
          </a:p>
          <a:p>
            <a:pPr marL="0" indent="0">
              <a:lnSpc>
                <a:spcPct val="120000"/>
              </a:lnSpc>
              <a:buNone/>
            </a:pPr>
            <a:r>
              <a:rPr lang="en-US" dirty="0"/>
              <a:t>Whether something is part of the architecture is entirely based on whether the developers think it is important.</a:t>
            </a:r>
            <a:br>
              <a:rPr lang="en-US" dirty="0"/>
            </a:br>
            <a:r>
              <a:rPr lang="en-US" dirty="0"/>
              <a:t>…</a:t>
            </a:r>
          </a:p>
          <a:p>
            <a:pPr marL="0" indent="0">
              <a:lnSpc>
                <a:spcPct val="120000"/>
              </a:lnSpc>
              <a:buNone/>
            </a:pPr>
            <a:r>
              <a:rPr lang="en-US" dirty="0"/>
              <a:t>Architecture is about the important stuff. Whatever that is.</a:t>
            </a:r>
            <a:endParaRPr lang="en-US" sz="2100" i="1" dirty="0"/>
          </a:p>
        </p:txBody>
      </p:sp>
      <p:sp>
        <p:nvSpPr>
          <p:cNvPr id="4" name="Slide Number Placeholder 3">
            <a:extLst>
              <a:ext uri="{FF2B5EF4-FFF2-40B4-BE49-F238E27FC236}">
                <a16:creationId xmlns:a16="http://schemas.microsoft.com/office/drawing/2014/main" id="{8553E21A-6BE7-8754-33DF-6077C6149E29}"/>
              </a:ext>
            </a:extLst>
          </p:cNvPr>
          <p:cNvSpPr>
            <a:spLocks noGrp="1"/>
          </p:cNvSpPr>
          <p:nvPr>
            <p:ph type="sldNum" sz="quarter" idx="12"/>
          </p:nvPr>
        </p:nvSpPr>
        <p:spPr/>
        <p:txBody>
          <a:bodyPr/>
          <a:lstStyle/>
          <a:p>
            <a:fld id="{E6E087A0-8E33-4AD2-B40F-AC5841A95ADE}" type="slidenum">
              <a:rPr lang="en-US" smtClean="0"/>
              <a:t>9</a:t>
            </a:fld>
            <a:endParaRPr lang="en-US" dirty="0"/>
          </a:p>
        </p:txBody>
      </p:sp>
    </p:spTree>
    <p:extLst>
      <p:ext uri="{BB962C8B-B14F-4D97-AF65-F5344CB8AC3E}">
        <p14:creationId xmlns:p14="http://schemas.microsoft.com/office/powerpoint/2010/main" val="427070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96058-2D63-75F7-669D-B8A63F684C69}"/>
              </a:ext>
            </a:extLst>
          </p:cNvPr>
          <p:cNvSpPr>
            <a:spLocks noGrp="1"/>
          </p:cNvSpPr>
          <p:nvPr>
            <p:ph type="title"/>
          </p:nvPr>
        </p:nvSpPr>
        <p:spPr/>
        <p:txBody>
          <a:bodyPr/>
          <a:lstStyle/>
          <a:p>
            <a:r>
              <a:rPr lang="en-US" dirty="0"/>
              <a:t>So, What Is Architecture?</a:t>
            </a:r>
          </a:p>
        </p:txBody>
      </p:sp>
      <p:sp>
        <p:nvSpPr>
          <p:cNvPr id="3" name="Content Placeholder 2">
            <a:extLst>
              <a:ext uri="{FF2B5EF4-FFF2-40B4-BE49-F238E27FC236}">
                <a16:creationId xmlns:a16="http://schemas.microsoft.com/office/drawing/2014/main" id="{664B66AC-0DBA-FDAA-D2BF-F555C38CE6E6}"/>
              </a:ext>
            </a:extLst>
          </p:cNvPr>
          <p:cNvSpPr>
            <a:spLocks noGrp="1"/>
          </p:cNvSpPr>
          <p:nvPr>
            <p:ph idx="1"/>
          </p:nvPr>
        </p:nvSpPr>
        <p:spPr/>
        <p:txBody>
          <a:bodyPr anchor="t"/>
          <a:lstStyle/>
          <a:p>
            <a:pPr marL="0" indent="0" algn="ctr">
              <a:buNone/>
            </a:pPr>
            <a:br>
              <a:rPr lang="en-US" dirty="0"/>
            </a:br>
            <a:br>
              <a:rPr lang="en-US" dirty="0"/>
            </a:br>
            <a:endParaRPr lang="en-US" dirty="0"/>
          </a:p>
          <a:p>
            <a:pPr marL="0" indent="0" algn="ctr">
              <a:buNone/>
            </a:pPr>
            <a:endParaRPr lang="en-US" dirty="0"/>
          </a:p>
          <a:p>
            <a:pPr marL="0" indent="0" algn="ctr">
              <a:buNone/>
            </a:pPr>
            <a:r>
              <a:rPr lang="en-US" dirty="0"/>
              <a:t>No good definition given—promise kept!</a:t>
            </a:r>
          </a:p>
        </p:txBody>
      </p:sp>
      <p:sp>
        <p:nvSpPr>
          <p:cNvPr id="4" name="Slide Number Placeholder 3">
            <a:extLst>
              <a:ext uri="{FF2B5EF4-FFF2-40B4-BE49-F238E27FC236}">
                <a16:creationId xmlns:a16="http://schemas.microsoft.com/office/drawing/2014/main" id="{8F98B870-6CBA-29C9-165C-2BC5629D78AA}"/>
              </a:ext>
            </a:extLst>
          </p:cNvPr>
          <p:cNvSpPr>
            <a:spLocks noGrp="1"/>
          </p:cNvSpPr>
          <p:nvPr>
            <p:ph type="sldNum" sz="quarter" idx="12"/>
          </p:nvPr>
        </p:nvSpPr>
        <p:spPr/>
        <p:txBody>
          <a:bodyPr/>
          <a:lstStyle/>
          <a:p>
            <a:fld id="{E6E087A0-8E33-4AD2-B40F-AC5841A95ADE}" type="slidenum">
              <a:rPr lang="en-US" smtClean="0"/>
              <a:t>10</a:t>
            </a:fld>
            <a:endParaRPr lang="en-US"/>
          </a:p>
        </p:txBody>
      </p:sp>
      <p:pic>
        <p:nvPicPr>
          <p:cNvPr id="5" name="Picture 4" descr="A stick figure holding a computer&#10;&#10;AI-generated content may be incorrect.">
            <a:extLst>
              <a:ext uri="{FF2B5EF4-FFF2-40B4-BE49-F238E27FC236}">
                <a16:creationId xmlns:a16="http://schemas.microsoft.com/office/drawing/2014/main" id="{ADD7ABF1-CC54-A00F-A9B1-1E1AB6564EBF}"/>
              </a:ext>
            </a:extLst>
          </p:cNvPr>
          <p:cNvPicPr>
            <a:picLocks noChangeAspect="1"/>
          </p:cNvPicPr>
          <p:nvPr/>
        </p:nvPicPr>
        <p:blipFill>
          <a:blip r:embed="rId3">
            <a:extLst>
              <a:ext uri="{28A0092B-C50C-407E-A947-70E740481C1C}">
                <a14:useLocalDpi xmlns:a14="http://schemas.microsoft.com/office/drawing/2010/main" val="0"/>
              </a:ext>
            </a:extLst>
          </a:blip>
          <a:srcRect l="30556" t="36444" r="33889" b="10890"/>
          <a:stretch>
            <a:fillRect/>
          </a:stretch>
        </p:blipFill>
        <p:spPr>
          <a:xfrm>
            <a:off x="9433560" y="2633664"/>
            <a:ext cx="2438400" cy="3611880"/>
          </a:xfrm>
          <a:prstGeom prst="rect">
            <a:avLst/>
          </a:prstGeom>
        </p:spPr>
      </p:pic>
    </p:spTree>
    <p:extLst>
      <p:ext uri="{BB962C8B-B14F-4D97-AF65-F5344CB8AC3E}">
        <p14:creationId xmlns:p14="http://schemas.microsoft.com/office/powerpoint/2010/main" val="1668847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A6031-1048-C48E-EAB6-0253C0639735}"/>
              </a:ext>
            </a:extLst>
          </p:cNvPr>
          <p:cNvSpPr>
            <a:spLocks noGrp="1"/>
          </p:cNvSpPr>
          <p:nvPr>
            <p:ph type="title"/>
          </p:nvPr>
        </p:nvSpPr>
        <p:spPr>
          <a:xfrm>
            <a:off x="838200" y="177235"/>
            <a:ext cx="10515600" cy="774743"/>
          </a:xfrm>
        </p:spPr>
        <p:txBody>
          <a:bodyPr>
            <a:normAutofit/>
          </a:bodyPr>
          <a:lstStyle/>
          <a:p>
            <a:r>
              <a:rPr lang="en-US" dirty="0"/>
              <a:t>What Is Architect?</a:t>
            </a:r>
          </a:p>
        </p:txBody>
      </p:sp>
      <p:sp>
        <p:nvSpPr>
          <p:cNvPr id="3" name="Content Placeholder 2">
            <a:extLst>
              <a:ext uri="{FF2B5EF4-FFF2-40B4-BE49-F238E27FC236}">
                <a16:creationId xmlns:a16="http://schemas.microsoft.com/office/drawing/2014/main" id="{505F2950-501A-6CB3-E43C-80E75FC403D9}"/>
              </a:ext>
            </a:extLst>
          </p:cNvPr>
          <p:cNvSpPr>
            <a:spLocks noGrp="1"/>
          </p:cNvSpPr>
          <p:nvPr>
            <p:ph idx="1"/>
          </p:nvPr>
        </p:nvSpPr>
        <p:spPr>
          <a:xfrm>
            <a:off x="838200" y="1164922"/>
            <a:ext cx="10515600" cy="5012042"/>
          </a:xfrm>
        </p:spPr>
        <p:txBody>
          <a:bodyPr>
            <a:normAutofit fontScale="85000" lnSpcReduction="20000"/>
          </a:bodyPr>
          <a:lstStyle/>
          <a:p>
            <a:pPr>
              <a:lnSpc>
                <a:spcPct val="120000"/>
              </a:lnSpc>
            </a:pPr>
            <a:r>
              <a:rPr lang="en-US" dirty="0"/>
              <a:t>A facilitator—of no value if all alone all by themselves</a:t>
            </a:r>
          </a:p>
          <a:p>
            <a:pPr>
              <a:lnSpc>
                <a:spcPct val="120000"/>
              </a:lnSpc>
            </a:pPr>
            <a:r>
              <a:rPr lang="en-US" dirty="0"/>
              <a:t>Ensures Conceptual Integrity</a:t>
            </a:r>
          </a:p>
          <a:p>
            <a:pPr>
              <a:lnSpc>
                <a:spcPct val="120000"/>
              </a:lnSpc>
            </a:pPr>
            <a:r>
              <a:rPr lang="en-US" dirty="0"/>
              <a:t>“A keeper of the Project Vision“</a:t>
            </a:r>
          </a:p>
          <a:p>
            <a:pPr>
              <a:lnSpc>
                <a:spcPct val="120000"/>
              </a:lnSpc>
            </a:pPr>
            <a:r>
              <a:rPr lang="en-US" dirty="0"/>
              <a:t>“guide, as in mountaineering” [Fowler]</a:t>
            </a:r>
          </a:p>
          <a:p>
            <a:pPr>
              <a:lnSpc>
                <a:spcPct val="120000"/>
              </a:lnSpc>
            </a:pPr>
            <a:r>
              <a:rPr lang="en-US" dirty="0"/>
              <a:t>Follows a set of processes and methodologies</a:t>
            </a:r>
          </a:p>
          <a:p>
            <a:pPr lvl="1">
              <a:lnSpc>
                <a:spcPct val="120000"/>
              </a:lnSpc>
            </a:pPr>
            <a:r>
              <a:rPr lang="en-US" dirty="0"/>
              <a:t>Solves problems</a:t>
            </a:r>
          </a:p>
          <a:p>
            <a:pPr lvl="1">
              <a:lnSpc>
                <a:spcPct val="120000"/>
              </a:lnSpc>
            </a:pPr>
            <a:r>
              <a:rPr lang="en-US" dirty="0"/>
              <a:t>Designs knowledge flow</a:t>
            </a:r>
          </a:p>
          <a:p>
            <a:pPr>
              <a:lnSpc>
                <a:spcPct val="120000"/>
              </a:lnSpc>
            </a:pPr>
            <a:r>
              <a:rPr lang="en-US" dirty="0"/>
              <a:t>Curates a repository of information that is useful to other participants</a:t>
            </a:r>
          </a:p>
          <a:p>
            <a:pPr lvl="1">
              <a:lnSpc>
                <a:spcPct val="120000"/>
              </a:lnSpc>
            </a:pPr>
            <a:r>
              <a:rPr lang="en-US" dirty="0"/>
              <a:t>Captures “Shared Understanding”  as artifacts in code and in other mediums</a:t>
            </a:r>
          </a:p>
          <a:p>
            <a:pPr lvl="1">
              <a:lnSpc>
                <a:spcPct val="120000"/>
              </a:lnSpc>
            </a:pPr>
            <a:r>
              <a:rPr lang="en-US" dirty="0"/>
              <a:t>Maintains tribal knowledge</a:t>
            </a:r>
          </a:p>
          <a:p>
            <a:pPr>
              <a:lnSpc>
                <a:spcPct val="120000"/>
              </a:lnSpc>
            </a:pPr>
            <a:r>
              <a:rPr lang="en-US" dirty="0"/>
              <a:t>A storyteller</a:t>
            </a:r>
          </a:p>
        </p:txBody>
      </p:sp>
      <p:sp>
        <p:nvSpPr>
          <p:cNvPr id="4" name="Slide Number Placeholder 3">
            <a:extLst>
              <a:ext uri="{FF2B5EF4-FFF2-40B4-BE49-F238E27FC236}">
                <a16:creationId xmlns:a16="http://schemas.microsoft.com/office/drawing/2014/main" id="{7A2E51E5-2265-03A0-4709-CE49B30D5FF7}"/>
              </a:ext>
            </a:extLst>
          </p:cNvPr>
          <p:cNvSpPr>
            <a:spLocks noGrp="1"/>
          </p:cNvSpPr>
          <p:nvPr>
            <p:ph type="sldNum" sz="quarter" idx="12"/>
          </p:nvPr>
        </p:nvSpPr>
        <p:spPr>
          <a:xfrm>
            <a:off x="8610600" y="6356350"/>
            <a:ext cx="2743200" cy="365125"/>
          </a:xfrm>
        </p:spPr>
        <p:txBody>
          <a:bodyPr/>
          <a:lstStyle/>
          <a:p>
            <a:fld id="{E6E087A0-8E33-4AD2-B40F-AC5841A95ADE}" type="slidenum">
              <a:rPr lang="en-US" smtClean="0"/>
              <a:pPr/>
              <a:t>11</a:t>
            </a:fld>
            <a:endParaRPr lang="en-US"/>
          </a:p>
        </p:txBody>
      </p:sp>
    </p:spTree>
    <p:extLst>
      <p:ext uri="{BB962C8B-B14F-4D97-AF65-F5344CB8AC3E}">
        <p14:creationId xmlns:p14="http://schemas.microsoft.com/office/powerpoint/2010/main" val="4033406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004C3-5C06-4987-C75B-F97B61143BAF}"/>
              </a:ext>
            </a:extLst>
          </p:cNvPr>
          <p:cNvSpPr>
            <a:spLocks noGrp="1"/>
          </p:cNvSpPr>
          <p:nvPr>
            <p:ph type="title"/>
          </p:nvPr>
        </p:nvSpPr>
        <p:spPr>
          <a:xfrm>
            <a:off x="838200" y="177235"/>
            <a:ext cx="10515600" cy="774743"/>
          </a:xfrm>
        </p:spPr>
        <p:txBody>
          <a:bodyPr>
            <a:normAutofit/>
          </a:bodyPr>
          <a:lstStyle/>
          <a:p>
            <a:r>
              <a:rPr lang="en-US" dirty="0"/>
              <a:t>Why Is Architect?</a:t>
            </a:r>
          </a:p>
        </p:txBody>
      </p:sp>
      <p:sp>
        <p:nvSpPr>
          <p:cNvPr id="3" name="Content Placeholder 2">
            <a:extLst>
              <a:ext uri="{FF2B5EF4-FFF2-40B4-BE49-F238E27FC236}">
                <a16:creationId xmlns:a16="http://schemas.microsoft.com/office/drawing/2014/main" id="{D82AC8C7-0FC8-5158-14B3-EF58FB5C4FD2}"/>
              </a:ext>
            </a:extLst>
          </p:cNvPr>
          <p:cNvSpPr>
            <a:spLocks noGrp="1"/>
          </p:cNvSpPr>
          <p:nvPr>
            <p:ph idx="1"/>
          </p:nvPr>
        </p:nvSpPr>
        <p:spPr>
          <a:xfrm>
            <a:off x="838200" y="1165225"/>
            <a:ext cx="10515600" cy="5011738"/>
          </a:xfrm>
        </p:spPr>
        <p:txBody>
          <a:bodyPr>
            <a:normAutofit fontScale="85000" lnSpcReduction="10000"/>
          </a:bodyPr>
          <a:lstStyle/>
          <a:p>
            <a:pPr>
              <a:lnSpc>
                <a:spcPct val="120000"/>
              </a:lnSpc>
            </a:pPr>
            <a:r>
              <a:rPr lang="en-US" dirty="0"/>
              <a:t>The storytellers in a tribe tell stories</a:t>
            </a:r>
          </a:p>
          <a:p>
            <a:pPr>
              <a:lnSpc>
                <a:spcPct val="120000"/>
              </a:lnSpc>
            </a:pPr>
            <a:r>
              <a:rPr lang="en-US" dirty="0"/>
              <a:t>Stories explain why the world is the way it is</a:t>
            </a:r>
          </a:p>
          <a:p>
            <a:pPr>
              <a:lnSpc>
                <a:spcPct val="120000"/>
              </a:lnSpc>
            </a:pPr>
            <a:r>
              <a:rPr lang="en-US" dirty="0"/>
              <a:t>Running software is the ultimate truth of a software project</a:t>
            </a:r>
            <a:br>
              <a:rPr lang="en-US" dirty="0"/>
            </a:br>
            <a:r>
              <a:rPr lang="en-US" dirty="0"/>
              <a:t>…but it lacks creation stories (“why it is the way it is”)</a:t>
            </a:r>
          </a:p>
          <a:p>
            <a:pPr>
              <a:lnSpc>
                <a:spcPct val="120000"/>
              </a:lnSpc>
            </a:pPr>
            <a:r>
              <a:rPr lang="en-US" dirty="0"/>
              <a:t>Some stories can be inferred from the code</a:t>
            </a:r>
          </a:p>
          <a:p>
            <a:pPr>
              <a:lnSpc>
                <a:spcPct val="120000"/>
              </a:lnSpc>
            </a:pPr>
            <a:r>
              <a:rPr lang="en-US" dirty="0"/>
              <a:t>The rest can be in tribal memory in the heads of storytellers</a:t>
            </a:r>
          </a:p>
          <a:p>
            <a:pPr>
              <a:lnSpc>
                <a:spcPct val="120000"/>
              </a:lnSpc>
            </a:pPr>
            <a:r>
              <a:rPr lang="en-US" dirty="0"/>
              <a:t>Relying on informal storytelling to share important decisions is costly</a:t>
            </a:r>
          </a:p>
          <a:p>
            <a:pPr>
              <a:lnSpc>
                <a:spcPct val="120000"/>
              </a:lnSpc>
            </a:pPr>
            <a:r>
              <a:rPr lang="en-US" dirty="0"/>
              <a:t>When the stories are gone, recreating those decisions is very costly</a:t>
            </a:r>
          </a:p>
          <a:p>
            <a:pPr>
              <a:lnSpc>
                <a:spcPct val="120000"/>
              </a:lnSpc>
            </a:pPr>
            <a:r>
              <a:rPr lang="en-US" dirty="0"/>
              <a:t>Codifying tribal memory makes evolving systems materially easier</a:t>
            </a:r>
          </a:p>
        </p:txBody>
      </p:sp>
      <p:sp>
        <p:nvSpPr>
          <p:cNvPr id="4" name="Slide Number Placeholder 3">
            <a:extLst>
              <a:ext uri="{FF2B5EF4-FFF2-40B4-BE49-F238E27FC236}">
                <a16:creationId xmlns:a16="http://schemas.microsoft.com/office/drawing/2014/main" id="{05E35796-A88F-8D05-6A32-46E4B8B8FDB8}"/>
              </a:ext>
            </a:extLst>
          </p:cNvPr>
          <p:cNvSpPr>
            <a:spLocks noGrp="1"/>
          </p:cNvSpPr>
          <p:nvPr>
            <p:ph type="sldNum" sz="quarter" idx="12"/>
          </p:nvPr>
        </p:nvSpPr>
        <p:spPr>
          <a:xfrm>
            <a:off x="8610600" y="6356350"/>
            <a:ext cx="2743200" cy="365125"/>
          </a:xfrm>
        </p:spPr>
        <p:txBody>
          <a:bodyPr/>
          <a:lstStyle/>
          <a:p>
            <a:fld id="{E6E087A0-8E33-4AD2-B40F-AC5841A95ADE}" type="slidenum">
              <a:rPr lang="en-US" smtClean="0"/>
              <a:pPr/>
              <a:t>12</a:t>
            </a:fld>
            <a:endParaRPr lang="en-US"/>
          </a:p>
        </p:txBody>
      </p:sp>
    </p:spTree>
    <p:extLst>
      <p:ext uri="{BB962C8B-B14F-4D97-AF65-F5344CB8AC3E}">
        <p14:creationId xmlns:p14="http://schemas.microsoft.com/office/powerpoint/2010/main" val="10290264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803DBF-6862-DF85-04BA-0E216F7A7219}"/>
              </a:ext>
            </a:extLst>
          </p:cNvPr>
          <p:cNvSpPr>
            <a:spLocks noGrp="1"/>
          </p:cNvSpPr>
          <p:nvPr>
            <p:ph type="title"/>
          </p:nvPr>
        </p:nvSpPr>
        <p:spPr>
          <a:xfrm>
            <a:off x="838200" y="177235"/>
            <a:ext cx="10515600" cy="774743"/>
          </a:xfrm>
        </p:spPr>
        <p:txBody>
          <a:bodyPr/>
          <a:lstStyle/>
          <a:p>
            <a:r>
              <a:rPr lang="en-US" dirty="0"/>
              <a:t>Where Is Architect?</a:t>
            </a:r>
          </a:p>
        </p:txBody>
      </p:sp>
      <p:sp>
        <p:nvSpPr>
          <p:cNvPr id="5" name="Content Placeholder 4">
            <a:extLst>
              <a:ext uri="{FF2B5EF4-FFF2-40B4-BE49-F238E27FC236}">
                <a16:creationId xmlns:a16="http://schemas.microsoft.com/office/drawing/2014/main" id="{FF7E0DCB-6EC7-FF04-E07F-5F527C327759}"/>
              </a:ext>
            </a:extLst>
          </p:cNvPr>
          <p:cNvSpPr>
            <a:spLocks noGrp="1"/>
          </p:cNvSpPr>
          <p:nvPr>
            <p:ph idx="1"/>
          </p:nvPr>
        </p:nvSpPr>
        <p:spPr>
          <a:xfrm>
            <a:off x="838200" y="1164922"/>
            <a:ext cx="10515600" cy="5012042"/>
          </a:xfrm>
        </p:spPr>
        <p:txBody>
          <a:bodyPr>
            <a:normAutofit fontScale="92500" lnSpcReduction="10000"/>
          </a:bodyPr>
          <a:lstStyle/>
          <a:p>
            <a:pPr>
              <a:lnSpc>
                <a:spcPct val="110000"/>
              </a:lnSpc>
            </a:pPr>
            <a:r>
              <a:rPr lang="en-US" dirty="0"/>
              <a:t>It depends </a:t>
            </a:r>
          </a:p>
          <a:p>
            <a:pPr lvl="1">
              <a:lnSpc>
                <a:spcPct val="110000"/>
              </a:lnSpc>
            </a:pPr>
            <a:r>
              <a:rPr lang="en-US" dirty="0"/>
              <a:t>Complexity</a:t>
            </a:r>
          </a:p>
          <a:p>
            <a:pPr lvl="1">
              <a:lnSpc>
                <a:spcPct val="110000"/>
              </a:lnSpc>
            </a:pPr>
            <a:r>
              <a:rPr lang="en-US" dirty="0"/>
              <a:t>Risk (financial, reputational, safety &amp; health)</a:t>
            </a:r>
          </a:p>
          <a:p>
            <a:pPr>
              <a:lnSpc>
                <a:spcPct val="110000"/>
              </a:lnSpc>
            </a:pPr>
            <a:r>
              <a:rPr lang="en-US" dirty="0"/>
              <a:t>From risk embracing to risk resistance</a:t>
            </a:r>
          </a:p>
          <a:p>
            <a:pPr lvl="1">
              <a:lnSpc>
                <a:spcPct val="110000"/>
              </a:lnSpc>
            </a:pPr>
            <a:r>
              <a:rPr lang="en-US" dirty="0"/>
              <a:t>Accidental architecture – rapid innovation</a:t>
            </a:r>
          </a:p>
          <a:p>
            <a:pPr lvl="1">
              <a:lnSpc>
                <a:spcPct val="110000"/>
              </a:lnSpc>
            </a:pPr>
            <a:r>
              <a:rPr lang="en-US" dirty="0"/>
              <a:t>Senior Designer – small team/system</a:t>
            </a:r>
          </a:p>
          <a:p>
            <a:pPr lvl="1">
              <a:lnSpc>
                <a:spcPct val="110000"/>
              </a:lnSpc>
            </a:pPr>
            <a:r>
              <a:rPr lang="en-US" dirty="0"/>
              <a:t>Chief Architect – mid size team </a:t>
            </a:r>
          </a:p>
          <a:p>
            <a:pPr lvl="1">
              <a:lnSpc>
                <a:spcPct val="110000"/>
              </a:lnSpc>
            </a:pPr>
            <a:r>
              <a:rPr lang="en-US" dirty="0"/>
              <a:t>The Architecture Team – large organizations</a:t>
            </a:r>
          </a:p>
          <a:p>
            <a:pPr lvl="1">
              <a:lnSpc>
                <a:spcPct val="110000"/>
              </a:lnSpc>
            </a:pPr>
            <a:r>
              <a:rPr lang="en-US" dirty="0"/>
              <a:t>The Architecture Control Board – high  complexity, high risk environments</a:t>
            </a:r>
          </a:p>
          <a:p>
            <a:pPr>
              <a:lnSpc>
                <a:spcPct val="110000"/>
              </a:lnSpc>
            </a:pPr>
            <a:r>
              <a:rPr lang="en-US" dirty="0"/>
              <a:t>Architecture decisions must involve developers</a:t>
            </a:r>
          </a:p>
          <a:p>
            <a:pPr lvl="1">
              <a:lnSpc>
                <a:spcPct val="110000"/>
              </a:lnSpc>
            </a:pPr>
            <a:r>
              <a:rPr lang="en-US" dirty="0"/>
              <a:t>If you want them to follow your decisions</a:t>
            </a:r>
          </a:p>
        </p:txBody>
      </p:sp>
      <p:sp>
        <p:nvSpPr>
          <p:cNvPr id="3" name="Slide Number Placeholder 2">
            <a:extLst>
              <a:ext uri="{FF2B5EF4-FFF2-40B4-BE49-F238E27FC236}">
                <a16:creationId xmlns:a16="http://schemas.microsoft.com/office/drawing/2014/main" id="{404BFCDE-3764-9C01-BAAA-D6AB0581C62F}"/>
              </a:ext>
            </a:extLst>
          </p:cNvPr>
          <p:cNvSpPr>
            <a:spLocks noGrp="1"/>
          </p:cNvSpPr>
          <p:nvPr>
            <p:ph type="sldNum" sz="quarter" idx="12"/>
          </p:nvPr>
        </p:nvSpPr>
        <p:spPr>
          <a:xfrm>
            <a:off x="8610600" y="6356350"/>
            <a:ext cx="2743200" cy="365125"/>
          </a:xfrm>
        </p:spPr>
        <p:txBody>
          <a:bodyPr/>
          <a:lstStyle/>
          <a:p>
            <a:fld id="{E6E087A0-8E33-4AD2-B40F-AC5841A95ADE}" type="slidenum">
              <a:rPr lang="en-US" smtClean="0"/>
              <a:pPr/>
              <a:t>13</a:t>
            </a:fld>
            <a:endParaRPr lang="en-US"/>
          </a:p>
        </p:txBody>
      </p:sp>
      <p:pic>
        <p:nvPicPr>
          <p:cNvPr id="12" name="Picture 11">
            <a:extLst>
              <a:ext uri="{FF2B5EF4-FFF2-40B4-BE49-F238E27FC236}">
                <a16:creationId xmlns:a16="http://schemas.microsoft.com/office/drawing/2014/main" id="{6B5F9575-4932-0F36-5E94-57F6BC4429C4}"/>
              </a:ext>
            </a:extLst>
          </p:cNvPr>
          <p:cNvPicPr>
            <a:picLocks noChangeAspect="1"/>
          </p:cNvPicPr>
          <p:nvPr/>
        </p:nvPicPr>
        <p:blipFill>
          <a:blip r:embed="rId3"/>
          <a:stretch>
            <a:fillRect/>
          </a:stretch>
        </p:blipFill>
        <p:spPr>
          <a:xfrm>
            <a:off x="8610600" y="846175"/>
            <a:ext cx="3009501" cy="3066607"/>
          </a:xfrm>
          <a:prstGeom prst="rect">
            <a:avLst/>
          </a:prstGeom>
        </p:spPr>
      </p:pic>
    </p:spTree>
    <p:extLst>
      <p:ext uri="{BB962C8B-B14F-4D97-AF65-F5344CB8AC3E}">
        <p14:creationId xmlns:p14="http://schemas.microsoft.com/office/powerpoint/2010/main" val="395286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7E209F9E-F51A-A521-3A0C-6589AFB2FB97}"/>
              </a:ext>
            </a:extLst>
          </p:cNvPr>
          <p:cNvSpPr/>
          <p:nvPr/>
        </p:nvSpPr>
        <p:spPr>
          <a:xfrm>
            <a:off x="2984695" y="4119269"/>
            <a:ext cx="914400"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 name="Freeform: Shape 374">
            <a:extLst>
              <a:ext uri="{FF2B5EF4-FFF2-40B4-BE49-F238E27FC236}">
                <a16:creationId xmlns:a16="http://schemas.microsoft.com/office/drawing/2014/main" id="{4CDCAC63-0990-FF67-7E9E-8F9E4F603D35}"/>
              </a:ext>
            </a:extLst>
          </p:cNvPr>
          <p:cNvSpPr/>
          <p:nvPr/>
        </p:nvSpPr>
        <p:spPr>
          <a:xfrm>
            <a:off x="3064338" y="3648387"/>
            <a:ext cx="5613312" cy="1327961"/>
          </a:xfrm>
          <a:custGeom>
            <a:avLst/>
            <a:gdLst>
              <a:gd name="connsiteX0" fmla="*/ 318942 w 5613312"/>
              <a:gd name="connsiteY0" fmla="*/ 494548 h 1327961"/>
              <a:gd name="connsiteX1" fmla="*/ 1683508 w 5613312"/>
              <a:gd name="connsiteY1" fmla="*/ 135822 h 1327961"/>
              <a:gd name="connsiteX2" fmla="*/ 3617816 w 5613312"/>
              <a:gd name="connsiteY2" fmla="*/ 2179 h 1327961"/>
              <a:gd name="connsiteX3" fmla="*/ 5305939 w 5613312"/>
              <a:gd name="connsiteY3" fmla="*/ 227262 h 1327961"/>
              <a:gd name="connsiteX4" fmla="*/ 5566191 w 5613312"/>
              <a:gd name="connsiteY4" fmla="*/ 740733 h 1327961"/>
              <a:gd name="connsiteX5" fmla="*/ 4736197 w 5613312"/>
              <a:gd name="connsiteY5" fmla="*/ 1219035 h 1327961"/>
              <a:gd name="connsiteX6" fmla="*/ 1120800 w 5613312"/>
              <a:gd name="connsiteY6" fmla="*/ 1310475 h 1327961"/>
              <a:gd name="connsiteX7" fmla="*/ 51656 w 5613312"/>
              <a:gd name="connsiteY7" fmla="*/ 958782 h 1327961"/>
              <a:gd name="connsiteX8" fmla="*/ 318942 w 5613312"/>
              <a:gd name="connsiteY8" fmla="*/ 494548 h 132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13312" h="1327961">
                <a:moveTo>
                  <a:pt x="318942" y="494548"/>
                </a:moveTo>
                <a:cubicBezTo>
                  <a:pt x="590917" y="357388"/>
                  <a:pt x="1133696" y="217883"/>
                  <a:pt x="1683508" y="135822"/>
                </a:cubicBezTo>
                <a:cubicBezTo>
                  <a:pt x="2233320" y="53761"/>
                  <a:pt x="3014078" y="-13061"/>
                  <a:pt x="3617816" y="2179"/>
                </a:cubicBezTo>
                <a:cubicBezTo>
                  <a:pt x="4221554" y="17419"/>
                  <a:pt x="4981210" y="104170"/>
                  <a:pt x="5305939" y="227262"/>
                </a:cubicBezTo>
                <a:cubicBezTo>
                  <a:pt x="5630668" y="350354"/>
                  <a:pt x="5661148" y="575438"/>
                  <a:pt x="5566191" y="740733"/>
                </a:cubicBezTo>
                <a:cubicBezTo>
                  <a:pt x="5471234" y="906028"/>
                  <a:pt x="5477095" y="1124078"/>
                  <a:pt x="4736197" y="1219035"/>
                </a:cubicBezTo>
                <a:cubicBezTo>
                  <a:pt x="3995299" y="1313992"/>
                  <a:pt x="1901557" y="1353850"/>
                  <a:pt x="1120800" y="1310475"/>
                </a:cubicBezTo>
                <a:cubicBezTo>
                  <a:pt x="340043" y="1267100"/>
                  <a:pt x="181782" y="1093598"/>
                  <a:pt x="51656" y="958782"/>
                </a:cubicBezTo>
                <a:cubicBezTo>
                  <a:pt x="-78470" y="823967"/>
                  <a:pt x="46967" y="631708"/>
                  <a:pt x="318942" y="494548"/>
                </a:cubicBezTo>
                <a:close/>
              </a:path>
            </a:pathLst>
          </a:custGeom>
          <a:solidFill>
            <a:srgbClr val="F2F7FC"/>
          </a:solidFill>
          <a:ln w="12700">
            <a:solidFill>
              <a:schemeClr val="tx2">
                <a:lumMod val="75000"/>
                <a:lumOff val="25000"/>
              </a:schemeClr>
            </a:solidFill>
            <a:prstDash val="sysDot"/>
            <a:extLst>
              <a:ext uri="{C807C97D-BFC1-408E-A445-0C87EB9F89A2}">
                <ask:lineSketchStyleProps xmlns:ask="http://schemas.microsoft.com/office/drawing/2018/sketchyshapes" sd="1046882100">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91D706-F398-0D10-1BFF-DBA9A4D9C09A}"/>
              </a:ext>
            </a:extLst>
          </p:cNvPr>
          <p:cNvSpPr>
            <a:spLocks noGrp="1"/>
          </p:cNvSpPr>
          <p:nvPr>
            <p:ph type="title"/>
          </p:nvPr>
        </p:nvSpPr>
        <p:spPr/>
        <p:txBody>
          <a:bodyPr>
            <a:normAutofit/>
          </a:bodyPr>
          <a:lstStyle/>
          <a:p>
            <a:r>
              <a:rPr lang="en-US" dirty="0"/>
              <a:t>A Recursion of Architects</a:t>
            </a:r>
          </a:p>
        </p:txBody>
      </p:sp>
      <p:sp>
        <p:nvSpPr>
          <p:cNvPr id="4" name="Slide Number Placeholder 3">
            <a:extLst>
              <a:ext uri="{FF2B5EF4-FFF2-40B4-BE49-F238E27FC236}">
                <a16:creationId xmlns:a16="http://schemas.microsoft.com/office/drawing/2014/main" id="{DA23C64B-A9FE-5084-4178-B9380CE2AC85}"/>
              </a:ext>
            </a:extLst>
          </p:cNvPr>
          <p:cNvSpPr>
            <a:spLocks noGrp="1"/>
          </p:cNvSpPr>
          <p:nvPr>
            <p:ph type="sldNum" sz="quarter" idx="12"/>
          </p:nvPr>
        </p:nvSpPr>
        <p:spPr/>
        <p:txBody>
          <a:bodyPr/>
          <a:lstStyle/>
          <a:p>
            <a:fld id="{E6E087A0-8E33-4AD2-B40F-AC5841A95ADE}" type="slidenum">
              <a:rPr lang="en-US" smtClean="0"/>
              <a:t>14</a:t>
            </a:fld>
            <a:endParaRPr lang="en-US"/>
          </a:p>
        </p:txBody>
      </p:sp>
      <p:sp>
        <p:nvSpPr>
          <p:cNvPr id="5" name="Rectangle 4">
            <a:extLst>
              <a:ext uri="{FF2B5EF4-FFF2-40B4-BE49-F238E27FC236}">
                <a16:creationId xmlns:a16="http://schemas.microsoft.com/office/drawing/2014/main" id="{F97B736D-FF61-8EA8-E2D4-D90F94F1899A}"/>
              </a:ext>
            </a:extLst>
          </p:cNvPr>
          <p:cNvSpPr/>
          <p:nvPr/>
        </p:nvSpPr>
        <p:spPr>
          <a:xfrm>
            <a:off x="4376225" y="1371600"/>
            <a:ext cx="3439551" cy="14278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7E832C1C-1C18-9B0F-700E-6FA982310623}"/>
              </a:ext>
            </a:extLst>
          </p:cNvPr>
          <p:cNvSpPr/>
          <p:nvPr/>
        </p:nvSpPr>
        <p:spPr>
          <a:xfrm>
            <a:off x="3488787" y="2370406"/>
            <a:ext cx="1659987" cy="2771336"/>
          </a:xfrm>
          <a:custGeom>
            <a:avLst/>
            <a:gdLst>
              <a:gd name="connsiteX0" fmla="*/ 0 w 1548457"/>
              <a:gd name="connsiteY0" fmla="*/ 2833346 h 2833346"/>
              <a:gd name="connsiteX1" fmla="*/ 1167618 w 1548457"/>
              <a:gd name="connsiteY1" fmla="*/ 2144029 h 2833346"/>
              <a:gd name="connsiteX2" fmla="*/ 1512277 w 1548457"/>
              <a:gd name="connsiteY2" fmla="*/ 744293 h 2833346"/>
              <a:gd name="connsiteX3" fmla="*/ 1540412 w 1548457"/>
              <a:gd name="connsiteY3" fmla="*/ 62010 h 2833346"/>
              <a:gd name="connsiteX4" fmla="*/ 1533378 w 1548457"/>
              <a:gd name="connsiteY4" fmla="*/ 26841 h 2833346"/>
              <a:gd name="connsiteX5" fmla="*/ 1533378 w 1548457"/>
              <a:gd name="connsiteY5" fmla="*/ 19807 h 2833346"/>
              <a:gd name="connsiteX0" fmla="*/ 0 w 1548457"/>
              <a:gd name="connsiteY0" fmla="*/ 2833346 h 2833346"/>
              <a:gd name="connsiteX1" fmla="*/ 1167618 w 1548457"/>
              <a:gd name="connsiteY1" fmla="*/ 2144029 h 2833346"/>
              <a:gd name="connsiteX2" fmla="*/ 1512277 w 1548457"/>
              <a:gd name="connsiteY2" fmla="*/ 744293 h 2833346"/>
              <a:gd name="connsiteX3" fmla="*/ 1540412 w 1548457"/>
              <a:gd name="connsiteY3" fmla="*/ 62010 h 2833346"/>
              <a:gd name="connsiteX4" fmla="*/ 1533378 w 1548457"/>
              <a:gd name="connsiteY4" fmla="*/ 26841 h 2833346"/>
              <a:gd name="connsiteX0" fmla="*/ 0 w 1548457"/>
              <a:gd name="connsiteY0" fmla="*/ 2771336 h 2771336"/>
              <a:gd name="connsiteX1" fmla="*/ 1167618 w 1548457"/>
              <a:gd name="connsiteY1" fmla="*/ 2082019 h 2771336"/>
              <a:gd name="connsiteX2" fmla="*/ 1512277 w 1548457"/>
              <a:gd name="connsiteY2" fmla="*/ 682283 h 2771336"/>
              <a:gd name="connsiteX3" fmla="*/ 1540412 w 1548457"/>
              <a:gd name="connsiteY3" fmla="*/ 0 h 2771336"/>
              <a:gd name="connsiteX0" fmla="*/ 0 w 1595857"/>
              <a:gd name="connsiteY0" fmla="*/ 2771336 h 2771336"/>
              <a:gd name="connsiteX1" fmla="*/ 1167618 w 1595857"/>
              <a:gd name="connsiteY1" fmla="*/ 2082019 h 2771336"/>
              <a:gd name="connsiteX2" fmla="*/ 1575582 w 1595857"/>
              <a:gd name="connsiteY2" fmla="*/ 1104313 h 2771336"/>
              <a:gd name="connsiteX3" fmla="*/ 1540412 w 1595857"/>
              <a:gd name="connsiteY3" fmla="*/ 0 h 2771336"/>
              <a:gd name="connsiteX0" fmla="*/ 0 w 1659987"/>
              <a:gd name="connsiteY0" fmla="*/ 2771336 h 2771336"/>
              <a:gd name="connsiteX1" fmla="*/ 1167618 w 1659987"/>
              <a:gd name="connsiteY1" fmla="*/ 2082019 h 2771336"/>
              <a:gd name="connsiteX2" fmla="*/ 1575582 w 1659987"/>
              <a:gd name="connsiteY2" fmla="*/ 1104313 h 2771336"/>
              <a:gd name="connsiteX3" fmla="*/ 1659987 w 1659987"/>
              <a:gd name="connsiteY3" fmla="*/ 0 h 2771336"/>
            </a:gdLst>
            <a:ahLst/>
            <a:cxnLst>
              <a:cxn ang="0">
                <a:pos x="connsiteX0" y="connsiteY0"/>
              </a:cxn>
              <a:cxn ang="0">
                <a:pos x="connsiteX1" y="connsiteY1"/>
              </a:cxn>
              <a:cxn ang="0">
                <a:pos x="connsiteX2" y="connsiteY2"/>
              </a:cxn>
              <a:cxn ang="0">
                <a:pos x="connsiteX3" y="connsiteY3"/>
              </a:cxn>
            </a:cxnLst>
            <a:rect l="l" t="t" r="r" b="b"/>
            <a:pathLst>
              <a:path w="1659987" h="2771336">
                <a:moveTo>
                  <a:pt x="0" y="2771336"/>
                </a:moveTo>
                <a:cubicBezTo>
                  <a:pt x="457786" y="2600765"/>
                  <a:pt x="905021" y="2359856"/>
                  <a:pt x="1167618" y="2082019"/>
                </a:cubicBezTo>
                <a:cubicBezTo>
                  <a:pt x="1430215" y="1804182"/>
                  <a:pt x="1493521" y="1451316"/>
                  <a:pt x="1575582" y="1104313"/>
                </a:cubicBezTo>
                <a:cubicBezTo>
                  <a:pt x="1657643" y="757310"/>
                  <a:pt x="1656470" y="119575"/>
                  <a:pt x="1659987" y="0"/>
                </a:cubicBezTo>
              </a:path>
            </a:pathLst>
          </a:custGeom>
          <a:noFill/>
          <a:ln w="28575">
            <a:headEnd type="arrow"/>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E915F1B3-87EF-2CFC-5B09-0341C0AEB9FB}"/>
              </a:ext>
            </a:extLst>
          </p:cNvPr>
          <p:cNvSpPr/>
          <p:nvPr/>
        </p:nvSpPr>
        <p:spPr>
          <a:xfrm flipH="1">
            <a:off x="7043228" y="2370406"/>
            <a:ext cx="1659987" cy="2771336"/>
          </a:xfrm>
          <a:custGeom>
            <a:avLst/>
            <a:gdLst>
              <a:gd name="connsiteX0" fmla="*/ 0 w 1548457"/>
              <a:gd name="connsiteY0" fmla="*/ 2833346 h 2833346"/>
              <a:gd name="connsiteX1" fmla="*/ 1167618 w 1548457"/>
              <a:gd name="connsiteY1" fmla="*/ 2144029 h 2833346"/>
              <a:gd name="connsiteX2" fmla="*/ 1512277 w 1548457"/>
              <a:gd name="connsiteY2" fmla="*/ 744293 h 2833346"/>
              <a:gd name="connsiteX3" fmla="*/ 1540412 w 1548457"/>
              <a:gd name="connsiteY3" fmla="*/ 62010 h 2833346"/>
              <a:gd name="connsiteX4" fmla="*/ 1533378 w 1548457"/>
              <a:gd name="connsiteY4" fmla="*/ 26841 h 2833346"/>
              <a:gd name="connsiteX5" fmla="*/ 1533378 w 1548457"/>
              <a:gd name="connsiteY5" fmla="*/ 19807 h 2833346"/>
              <a:gd name="connsiteX0" fmla="*/ 0 w 1548457"/>
              <a:gd name="connsiteY0" fmla="*/ 2833346 h 2833346"/>
              <a:gd name="connsiteX1" fmla="*/ 1167618 w 1548457"/>
              <a:gd name="connsiteY1" fmla="*/ 2144029 h 2833346"/>
              <a:gd name="connsiteX2" fmla="*/ 1512277 w 1548457"/>
              <a:gd name="connsiteY2" fmla="*/ 744293 h 2833346"/>
              <a:gd name="connsiteX3" fmla="*/ 1540412 w 1548457"/>
              <a:gd name="connsiteY3" fmla="*/ 62010 h 2833346"/>
              <a:gd name="connsiteX4" fmla="*/ 1533378 w 1548457"/>
              <a:gd name="connsiteY4" fmla="*/ 26841 h 2833346"/>
              <a:gd name="connsiteX0" fmla="*/ 0 w 1548457"/>
              <a:gd name="connsiteY0" fmla="*/ 2771336 h 2771336"/>
              <a:gd name="connsiteX1" fmla="*/ 1167618 w 1548457"/>
              <a:gd name="connsiteY1" fmla="*/ 2082019 h 2771336"/>
              <a:gd name="connsiteX2" fmla="*/ 1512277 w 1548457"/>
              <a:gd name="connsiteY2" fmla="*/ 682283 h 2771336"/>
              <a:gd name="connsiteX3" fmla="*/ 1540412 w 1548457"/>
              <a:gd name="connsiteY3" fmla="*/ 0 h 2771336"/>
              <a:gd name="connsiteX0" fmla="*/ 0 w 1595857"/>
              <a:gd name="connsiteY0" fmla="*/ 2771336 h 2771336"/>
              <a:gd name="connsiteX1" fmla="*/ 1167618 w 1595857"/>
              <a:gd name="connsiteY1" fmla="*/ 2082019 h 2771336"/>
              <a:gd name="connsiteX2" fmla="*/ 1575582 w 1595857"/>
              <a:gd name="connsiteY2" fmla="*/ 1104313 h 2771336"/>
              <a:gd name="connsiteX3" fmla="*/ 1540412 w 1595857"/>
              <a:gd name="connsiteY3" fmla="*/ 0 h 2771336"/>
              <a:gd name="connsiteX0" fmla="*/ 0 w 1659987"/>
              <a:gd name="connsiteY0" fmla="*/ 2771336 h 2771336"/>
              <a:gd name="connsiteX1" fmla="*/ 1167618 w 1659987"/>
              <a:gd name="connsiteY1" fmla="*/ 2082019 h 2771336"/>
              <a:gd name="connsiteX2" fmla="*/ 1575582 w 1659987"/>
              <a:gd name="connsiteY2" fmla="*/ 1104313 h 2771336"/>
              <a:gd name="connsiteX3" fmla="*/ 1659987 w 1659987"/>
              <a:gd name="connsiteY3" fmla="*/ 0 h 2771336"/>
            </a:gdLst>
            <a:ahLst/>
            <a:cxnLst>
              <a:cxn ang="0">
                <a:pos x="connsiteX0" y="connsiteY0"/>
              </a:cxn>
              <a:cxn ang="0">
                <a:pos x="connsiteX1" y="connsiteY1"/>
              </a:cxn>
              <a:cxn ang="0">
                <a:pos x="connsiteX2" y="connsiteY2"/>
              </a:cxn>
              <a:cxn ang="0">
                <a:pos x="connsiteX3" y="connsiteY3"/>
              </a:cxn>
            </a:cxnLst>
            <a:rect l="l" t="t" r="r" b="b"/>
            <a:pathLst>
              <a:path w="1659987" h="2771336">
                <a:moveTo>
                  <a:pt x="0" y="2771336"/>
                </a:moveTo>
                <a:cubicBezTo>
                  <a:pt x="457786" y="2600765"/>
                  <a:pt x="905021" y="2359856"/>
                  <a:pt x="1167618" y="2082019"/>
                </a:cubicBezTo>
                <a:cubicBezTo>
                  <a:pt x="1430215" y="1804182"/>
                  <a:pt x="1493521" y="1451316"/>
                  <a:pt x="1575582" y="1104313"/>
                </a:cubicBezTo>
                <a:cubicBezTo>
                  <a:pt x="1657643" y="757310"/>
                  <a:pt x="1656470" y="119575"/>
                  <a:pt x="1659987" y="0"/>
                </a:cubicBezTo>
              </a:path>
            </a:pathLst>
          </a:custGeom>
          <a:noFill/>
          <a:ln w="28575">
            <a:headEnd type="arrow"/>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EEFE5035-3573-2370-8A91-899C3EE7D24A}"/>
              </a:ext>
            </a:extLst>
          </p:cNvPr>
          <p:cNvSpPr/>
          <p:nvPr/>
        </p:nvSpPr>
        <p:spPr>
          <a:xfrm>
            <a:off x="4832252" y="2370406"/>
            <a:ext cx="820614" cy="2771336"/>
          </a:xfrm>
          <a:custGeom>
            <a:avLst/>
            <a:gdLst>
              <a:gd name="connsiteX0" fmla="*/ 0 w 1548457"/>
              <a:gd name="connsiteY0" fmla="*/ 2833346 h 2833346"/>
              <a:gd name="connsiteX1" fmla="*/ 1167618 w 1548457"/>
              <a:gd name="connsiteY1" fmla="*/ 2144029 h 2833346"/>
              <a:gd name="connsiteX2" fmla="*/ 1512277 w 1548457"/>
              <a:gd name="connsiteY2" fmla="*/ 744293 h 2833346"/>
              <a:gd name="connsiteX3" fmla="*/ 1540412 w 1548457"/>
              <a:gd name="connsiteY3" fmla="*/ 62010 h 2833346"/>
              <a:gd name="connsiteX4" fmla="*/ 1533378 w 1548457"/>
              <a:gd name="connsiteY4" fmla="*/ 26841 h 2833346"/>
              <a:gd name="connsiteX5" fmla="*/ 1533378 w 1548457"/>
              <a:gd name="connsiteY5" fmla="*/ 19807 h 2833346"/>
              <a:gd name="connsiteX0" fmla="*/ 0 w 1548457"/>
              <a:gd name="connsiteY0" fmla="*/ 2833346 h 2833346"/>
              <a:gd name="connsiteX1" fmla="*/ 1167618 w 1548457"/>
              <a:gd name="connsiteY1" fmla="*/ 2144029 h 2833346"/>
              <a:gd name="connsiteX2" fmla="*/ 1512277 w 1548457"/>
              <a:gd name="connsiteY2" fmla="*/ 744293 h 2833346"/>
              <a:gd name="connsiteX3" fmla="*/ 1540412 w 1548457"/>
              <a:gd name="connsiteY3" fmla="*/ 62010 h 2833346"/>
              <a:gd name="connsiteX4" fmla="*/ 1533378 w 1548457"/>
              <a:gd name="connsiteY4" fmla="*/ 26841 h 2833346"/>
              <a:gd name="connsiteX0" fmla="*/ 0 w 1548457"/>
              <a:gd name="connsiteY0" fmla="*/ 2771336 h 2771336"/>
              <a:gd name="connsiteX1" fmla="*/ 1167618 w 1548457"/>
              <a:gd name="connsiteY1" fmla="*/ 2082019 h 2771336"/>
              <a:gd name="connsiteX2" fmla="*/ 1512277 w 1548457"/>
              <a:gd name="connsiteY2" fmla="*/ 682283 h 2771336"/>
              <a:gd name="connsiteX3" fmla="*/ 1540412 w 1548457"/>
              <a:gd name="connsiteY3" fmla="*/ 0 h 2771336"/>
              <a:gd name="connsiteX0" fmla="*/ 0 w 1595857"/>
              <a:gd name="connsiteY0" fmla="*/ 2771336 h 2771336"/>
              <a:gd name="connsiteX1" fmla="*/ 1167618 w 1595857"/>
              <a:gd name="connsiteY1" fmla="*/ 2082019 h 2771336"/>
              <a:gd name="connsiteX2" fmla="*/ 1575582 w 1595857"/>
              <a:gd name="connsiteY2" fmla="*/ 1104313 h 2771336"/>
              <a:gd name="connsiteX3" fmla="*/ 1540412 w 1595857"/>
              <a:gd name="connsiteY3" fmla="*/ 0 h 2771336"/>
              <a:gd name="connsiteX0" fmla="*/ 0 w 1659987"/>
              <a:gd name="connsiteY0" fmla="*/ 2771336 h 2771336"/>
              <a:gd name="connsiteX1" fmla="*/ 1167618 w 1659987"/>
              <a:gd name="connsiteY1" fmla="*/ 2082019 h 2771336"/>
              <a:gd name="connsiteX2" fmla="*/ 1575582 w 1659987"/>
              <a:gd name="connsiteY2" fmla="*/ 1104313 h 2771336"/>
              <a:gd name="connsiteX3" fmla="*/ 1659987 w 1659987"/>
              <a:gd name="connsiteY3" fmla="*/ 0 h 2771336"/>
            </a:gdLst>
            <a:ahLst/>
            <a:cxnLst>
              <a:cxn ang="0">
                <a:pos x="connsiteX0" y="connsiteY0"/>
              </a:cxn>
              <a:cxn ang="0">
                <a:pos x="connsiteX1" y="connsiteY1"/>
              </a:cxn>
              <a:cxn ang="0">
                <a:pos x="connsiteX2" y="connsiteY2"/>
              </a:cxn>
              <a:cxn ang="0">
                <a:pos x="connsiteX3" y="connsiteY3"/>
              </a:cxn>
            </a:cxnLst>
            <a:rect l="l" t="t" r="r" b="b"/>
            <a:pathLst>
              <a:path w="1659987" h="2771336">
                <a:moveTo>
                  <a:pt x="0" y="2771336"/>
                </a:moveTo>
                <a:cubicBezTo>
                  <a:pt x="457786" y="2600765"/>
                  <a:pt x="905021" y="2359856"/>
                  <a:pt x="1167618" y="2082019"/>
                </a:cubicBezTo>
                <a:cubicBezTo>
                  <a:pt x="1430215" y="1804182"/>
                  <a:pt x="1493521" y="1451316"/>
                  <a:pt x="1575582" y="1104313"/>
                </a:cubicBezTo>
                <a:cubicBezTo>
                  <a:pt x="1657643" y="757310"/>
                  <a:pt x="1656470" y="119575"/>
                  <a:pt x="1659987" y="0"/>
                </a:cubicBezTo>
              </a:path>
            </a:pathLst>
          </a:custGeom>
          <a:noFill/>
          <a:ln w="28575">
            <a:headEnd type="arrow"/>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60EC3F40-5C40-A05E-980B-93B7527A6F8C}"/>
              </a:ext>
            </a:extLst>
          </p:cNvPr>
          <p:cNvSpPr/>
          <p:nvPr/>
        </p:nvSpPr>
        <p:spPr>
          <a:xfrm flipH="1">
            <a:off x="6492239" y="2370406"/>
            <a:ext cx="820614" cy="2771336"/>
          </a:xfrm>
          <a:custGeom>
            <a:avLst/>
            <a:gdLst>
              <a:gd name="connsiteX0" fmla="*/ 0 w 1548457"/>
              <a:gd name="connsiteY0" fmla="*/ 2833346 h 2833346"/>
              <a:gd name="connsiteX1" fmla="*/ 1167618 w 1548457"/>
              <a:gd name="connsiteY1" fmla="*/ 2144029 h 2833346"/>
              <a:gd name="connsiteX2" fmla="*/ 1512277 w 1548457"/>
              <a:gd name="connsiteY2" fmla="*/ 744293 h 2833346"/>
              <a:gd name="connsiteX3" fmla="*/ 1540412 w 1548457"/>
              <a:gd name="connsiteY3" fmla="*/ 62010 h 2833346"/>
              <a:gd name="connsiteX4" fmla="*/ 1533378 w 1548457"/>
              <a:gd name="connsiteY4" fmla="*/ 26841 h 2833346"/>
              <a:gd name="connsiteX5" fmla="*/ 1533378 w 1548457"/>
              <a:gd name="connsiteY5" fmla="*/ 19807 h 2833346"/>
              <a:gd name="connsiteX0" fmla="*/ 0 w 1548457"/>
              <a:gd name="connsiteY0" fmla="*/ 2833346 h 2833346"/>
              <a:gd name="connsiteX1" fmla="*/ 1167618 w 1548457"/>
              <a:gd name="connsiteY1" fmla="*/ 2144029 h 2833346"/>
              <a:gd name="connsiteX2" fmla="*/ 1512277 w 1548457"/>
              <a:gd name="connsiteY2" fmla="*/ 744293 h 2833346"/>
              <a:gd name="connsiteX3" fmla="*/ 1540412 w 1548457"/>
              <a:gd name="connsiteY3" fmla="*/ 62010 h 2833346"/>
              <a:gd name="connsiteX4" fmla="*/ 1533378 w 1548457"/>
              <a:gd name="connsiteY4" fmla="*/ 26841 h 2833346"/>
              <a:gd name="connsiteX0" fmla="*/ 0 w 1548457"/>
              <a:gd name="connsiteY0" fmla="*/ 2771336 h 2771336"/>
              <a:gd name="connsiteX1" fmla="*/ 1167618 w 1548457"/>
              <a:gd name="connsiteY1" fmla="*/ 2082019 h 2771336"/>
              <a:gd name="connsiteX2" fmla="*/ 1512277 w 1548457"/>
              <a:gd name="connsiteY2" fmla="*/ 682283 h 2771336"/>
              <a:gd name="connsiteX3" fmla="*/ 1540412 w 1548457"/>
              <a:gd name="connsiteY3" fmla="*/ 0 h 2771336"/>
              <a:gd name="connsiteX0" fmla="*/ 0 w 1595857"/>
              <a:gd name="connsiteY0" fmla="*/ 2771336 h 2771336"/>
              <a:gd name="connsiteX1" fmla="*/ 1167618 w 1595857"/>
              <a:gd name="connsiteY1" fmla="*/ 2082019 h 2771336"/>
              <a:gd name="connsiteX2" fmla="*/ 1575582 w 1595857"/>
              <a:gd name="connsiteY2" fmla="*/ 1104313 h 2771336"/>
              <a:gd name="connsiteX3" fmla="*/ 1540412 w 1595857"/>
              <a:gd name="connsiteY3" fmla="*/ 0 h 2771336"/>
              <a:gd name="connsiteX0" fmla="*/ 0 w 1659987"/>
              <a:gd name="connsiteY0" fmla="*/ 2771336 h 2771336"/>
              <a:gd name="connsiteX1" fmla="*/ 1167618 w 1659987"/>
              <a:gd name="connsiteY1" fmla="*/ 2082019 h 2771336"/>
              <a:gd name="connsiteX2" fmla="*/ 1575582 w 1659987"/>
              <a:gd name="connsiteY2" fmla="*/ 1104313 h 2771336"/>
              <a:gd name="connsiteX3" fmla="*/ 1659987 w 1659987"/>
              <a:gd name="connsiteY3" fmla="*/ 0 h 2771336"/>
            </a:gdLst>
            <a:ahLst/>
            <a:cxnLst>
              <a:cxn ang="0">
                <a:pos x="connsiteX0" y="connsiteY0"/>
              </a:cxn>
              <a:cxn ang="0">
                <a:pos x="connsiteX1" y="connsiteY1"/>
              </a:cxn>
              <a:cxn ang="0">
                <a:pos x="connsiteX2" y="connsiteY2"/>
              </a:cxn>
              <a:cxn ang="0">
                <a:pos x="connsiteX3" y="connsiteY3"/>
              </a:cxn>
            </a:cxnLst>
            <a:rect l="l" t="t" r="r" b="b"/>
            <a:pathLst>
              <a:path w="1659987" h="2771336">
                <a:moveTo>
                  <a:pt x="0" y="2771336"/>
                </a:moveTo>
                <a:cubicBezTo>
                  <a:pt x="457786" y="2600765"/>
                  <a:pt x="905021" y="2359856"/>
                  <a:pt x="1167618" y="2082019"/>
                </a:cubicBezTo>
                <a:cubicBezTo>
                  <a:pt x="1430215" y="1804182"/>
                  <a:pt x="1493521" y="1451316"/>
                  <a:pt x="1575582" y="1104313"/>
                </a:cubicBezTo>
                <a:cubicBezTo>
                  <a:pt x="1657643" y="757310"/>
                  <a:pt x="1656470" y="119575"/>
                  <a:pt x="1659987" y="0"/>
                </a:cubicBezTo>
              </a:path>
            </a:pathLst>
          </a:custGeom>
          <a:noFill/>
          <a:ln w="28575">
            <a:headEnd type="arrow"/>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C14E133E-E36A-5888-5F49-CB7DE9EA7909}"/>
              </a:ext>
            </a:extLst>
          </p:cNvPr>
          <p:cNvCxnSpPr>
            <a:cxnSpLocks/>
          </p:cNvCxnSpPr>
          <p:nvPr/>
        </p:nvCxnSpPr>
        <p:spPr>
          <a:xfrm>
            <a:off x="6095999" y="2370406"/>
            <a:ext cx="0" cy="2771336"/>
          </a:xfrm>
          <a:prstGeom prst="line">
            <a:avLst/>
          </a:prstGeom>
          <a:ln w="28575">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grpSp>
        <p:nvGrpSpPr>
          <p:cNvPr id="156" name="Group 155">
            <a:extLst>
              <a:ext uri="{FF2B5EF4-FFF2-40B4-BE49-F238E27FC236}">
                <a16:creationId xmlns:a16="http://schemas.microsoft.com/office/drawing/2014/main" id="{C7EC7F83-D318-C744-FB2B-813079FE14C3}"/>
              </a:ext>
            </a:extLst>
          </p:cNvPr>
          <p:cNvGrpSpPr/>
          <p:nvPr/>
        </p:nvGrpSpPr>
        <p:grpSpPr>
          <a:xfrm>
            <a:off x="4377137" y="5288295"/>
            <a:ext cx="228535" cy="526550"/>
            <a:chOff x="3170682" y="3146298"/>
            <a:chExt cx="511302" cy="1178052"/>
          </a:xfrm>
        </p:grpSpPr>
        <p:sp>
          <p:nvSpPr>
            <p:cNvPr id="157" name="Oval 156">
              <a:extLst>
                <a:ext uri="{FF2B5EF4-FFF2-40B4-BE49-F238E27FC236}">
                  <a16:creationId xmlns:a16="http://schemas.microsoft.com/office/drawing/2014/main" id="{4BFF9430-F570-B081-37D6-E7393A61E1BD}"/>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8" name="Straight Connector 157">
              <a:extLst>
                <a:ext uri="{FF2B5EF4-FFF2-40B4-BE49-F238E27FC236}">
                  <a16:creationId xmlns:a16="http://schemas.microsoft.com/office/drawing/2014/main" id="{588F950C-494B-5B6B-F52D-B044C21C324B}"/>
                </a:ext>
              </a:extLst>
            </p:cNvPr>
            <p:cNvCxnSpPr>
              <a:stCxn id="157"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55FC107F-C920-E4B1-0C06-BB97CFDF0EDB}"/>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28334004-7CBD-9175-146D-F8239B90AB42}"/>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3FFD04FD-9E73-33D1-BE57-D77075CE3B3E}"/>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B2D1CEE4-3C24-8720-631B-7E10E9025A5D}"/>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3" name="Oval 162">
              <a:extLst>
                <a:ext uri="{FF2B5EF4-FFF2-40B4-BE49-F238E27FC236}">
                  <a16:creationId xmlns:a16="http://schemas.microsoft.com/office/drawing/2014/main" id="{DB47AA5F-C322-F236-B1CB-5B03956B2723}"/>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a:extLst>
                <a:ext uri="{FF2B5EF4-FFF2-40B4-BE49-F238E27FC236}">
                  <a16:creationId xmlns:a16="http://schemas.microsoft.com/office/drawing/2014/main" id="{A3D58594-BD33-361D-7034-D546C370F21E}"/>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Freeform: Shape 164">
              <a:extLst>
                <a:ext uri="{FF2B5EF4-FFF2-40B4-BE49-F238E27FC236}">
                  <a16:creationId xmlns:a16="http://schemas.microsoft.com/office/drawing/2014/main" id="{3BC38437-2849-2BB9-EB46-D223DAF1CB2D}"/>
                </a:ext>
              </a:extLst>
            </p:cNvPr>
            <p:cNvSpPr/>
            <p:nvPr/>
          </p:nvSpPr>
          <p:spPr>
            <a:xfrm rot="21414188">
              <a:off x="3343272" y="3390900"/>
              <a:ext cx="158115"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6" name="Group 165">
            <a:extLst>
              <a:ext uri="{FF2B5EF4-FFF2-40B4-BE49-F238E27FC236}">
                <a16:creationId xmlns:a16="http://schemas.microsoft.com/office/drawing/2014/main" id="{7B24105F-CF7E-0476-BE03-FF611A799EA3}"/>
              </a:ext>
            </a:extLst>
          </p:cNvPr>
          <p:cNvGrpSpPr/>
          <p:nvPr/>
        </p:nvGrpSpPr>
        <p:grpSpPr>
          <a:xfrm>
            <a:off x="2863943" y="5432024"/>
            <a:ext cx="228535" cy="526550"/>
            <a:chOff x="3170682" y="3146298"/>
            <a:chExt cx="511302" cy="1178052"/>
          </a:xfrm>
        </p:grpSpPr>
        <p:sp>
          <p:nvSpPr>
            <p:cNvPr id="167" name="Oval 166">
              <a:extLst>
                <a:ext uri="{FF2B5EF4-FFF2-40B4-BE49-F238E27FC236}">
                  <a16:creationId xmlns:a16="http://schemas.microsoft.com/office/drawing/2014/main" id="{3421DF53-1B0F-58A6-F77D-FA83919CEFBA}"/>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8" name="Straight Connector 167">
              <a:extLst>
                <a:ext uri="{FF2B5EF4-FFF2-40B4-BE49-F238E27FC236}">
                  <a16:creationId xmlns:a16="http://schemas.microsoft.com/office/drawing/2014/main" id="{101DD2D9-9B09-540E-4963-2B447B03CB14}"/>
                </a:ext>
              </a:extLst>
            </p:cNvPr>
            <p:cNvCxnSpPr>
              <a:stCxn id="167"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DE7285EC-3D3B-0348-C87A-CB744D8AEC7F}"/>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EDAB901C-E395-9194-E9C8-5995BC16CBBF}"/>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21ACBC36-91D5-2D29-D768-41833F756BB4}"/>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5CA2A801-BF5E-C80C-0894-51EE8F204532}"/>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3" name="Oval 172">
              <a:extLst>
                <a:ext uri="{FF2B5EF4-FFF2-40B4-BE49-F238E27FC236}">
                  <a16:creationId xmlns:a16="http://schemas.microsoft.com/office/drawing/2014/main" id="{64ADCF69-4F7E-4E6F-428A-7F91C47EC068}"/>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a:extLst>
                <a:ext uri="{FF2B5EF4-FFF2-40B4-BE49-F238E27FC236}">
                  <a16:creationId xmlns:a16="http://schemas.microsoft.com/office/drawing/2014/main" id="{36A89D59-1F2C-72AA-3373-5706BABAA7F6}"/>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Freeform: Shape 174">
              <a:extLst>
                <a:ext uri="{FF2B5EF4-FFF2-40B4-BE49-F238E27FC236}">
                  <a16:creationId xmlns:a16="http://schemas.microsoft.com/office/drawing/2014/main" id="{AB14BFF0-9DD5-A71B-6B8A-18D9ED9655BD}"/>
                </a:ext>
              </a:extLst>
            </p:cNvPr>
            <p:cNvSpPr/>
            <p:nvPr/>
          </p:nvSpPr>
          <p:spPr>
            <a:xfrm rot="21414188">
              <a:off x="3343272" y="3390900"/>
              <a:ext cx="158115"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6" name="Group 175">
            <a:extLst>
              <a:ext uri="{FF2B5EF4-FFF2-40B4-BE49-F238E27FC236}">
                <a16:creationId xmlns:a16="http://schemas.microsoft.com/office/drawing/2014/main" id="{3E648DF3-D8DF-88D9-E8AB-9C4EC72236D8}"/>
              </a:ext>
            </a:extLst>
          </p:cNvPr>
          <p:cNvGrpSpPr/>
          <p:nvPr/>
        </p:nvGrpSpPr>
        <p:grpSpPr>
          <a:xfrm>
            <a:off x="3441584" y="5319997"/>
            <a:ext cx="228535" cy="526550"/>
            <a:chOff x="3170682" y="3146298"/>
            <a:chExt cx="511302" cy="1178052"/>
          </a:xfrm>
        </p:grpSpPr>
        <p:sp>
          <p:nvSpPr>
            <p:cNvPr id="177" name="Oval 176">
              <a:extLst>
                <a:ext uri="{FF2B5EF4-FFF2-40B4-BE49-F238E27FC236}">
                  <a16:creationId xmlns:a16="http://schemas.microsoft.com/office/drawing/2014/main" id="{3FAF8464-14B3-592F-7665-BDCDDFC10F2E}"/>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8" name="Straight Connector 177">
              <a:extLst>
                <a:ext uri="{FF2B5EF4-FFF2-40B4-BE49-F238E27FC236}">
                  <a16:creationId xmlns:a16="http://schemas.microsoft.com/office/drawing/2014/main" id="{1C96C32E-34EA-0E1B-88B7-3F2711E8D9CB}"/>
                </a:ext>
              </a:extLst>
            </p:cNvPr>
            <p:cNvCxnSpPr>
              <a:stCxn id="177"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45922BE8-D644-B92A-8E41-283406BA0993}"/>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B7451F7A-E927-675D-C78E-F7F262808C2E}"/>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0DBB85C3-45FF-DA38-5D11-78FB8301E876}"/>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79783817-DAAB-922A-5F04-E0FA7145DB00}"/>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3" name="Oval 182">
              <a:extLst>
                <a:ext uri="{FF2B5EF4-FFF2-40B4-BE49-F238E27FC236}">
                  <a16:creationId xmlns:a16="http://schemas.microsoft.com/office/drawing/2014/main" id="{33DC8969-6F00-BA04-2D9F-F18E7F950007}"/>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Oval 183">
              <a:extLst>
                <a:ext uri="{FF2B5EF4-FFF2-40B4-BE49-F238E27FC236}">
                  <a16:creationId xmlns:a16="http://schemas.microsoft.com/office/drawing/2014/main" id="{D7A9498B-99C6-DC15-C553-564D67EE6098}"/>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Freeform: Shape 184">
              <a:extLst>
                <a:ext uri="{FF2B5EF4-FFF2-40B4-BE49-F238E27FC236}">
                  <a16:creationId xmlns:a16="http://schemas.microsoft.com/office/drawing/2014/main" id="{C1B07BE5-B592-EF4A-E8E0-B3A542CB12FD}"/>
                </a:ext>
              </a:extLst>
            </p:cNvPr>
            <p:cNvSpPr/>
            <p:nvPr/>
          </p:nvSpPr>
          <p:spPr>
            <a:xfrm rot="21414188">
              <a:off x="3343272" y="3390900"/>
              <a:ext cx="158115"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6" name="Group 185">
            <a:extLst>
              <a:ext uri="{FF2B5EF4-FFF2-40B4-BE49-F238E27FC236}">
                <a16:creationId xmlns:a16="http://schemas.microsoft.com/office/drawing/2014/main" id="{36EB3996-D8AC-8957-8497-BEED83D6A096}"/>
              </a:ext>
            </a:extLst>
          </p:cNvPr>
          <p:cNvGrpSpPr/>
          <p:nvPr/>
        </p:nvGrpSpPr>
        <p:grpSpPr>
          <a:xfrm>
            <a:off x="3148108" y="5182740"/>
            <a:ext cx="228535" cy="526550"/>
            <a:chOff x="3170682" y="3146298"/>
            <a:chExt cx="511302" cy="1178052"/>
          </a:xfrm>
        </p:grpSpPr>
        <p:sp>
          <p:nvSpPr>
            <p:cNvPr id="187" name="Oval 186">
              <a:extLst>
                <a:ext uri="{FF2B5EF4-FFF2-40B4-BE49-F238E27FC236}">
                  <a16:creationId xmlns:a16="http://schemas.microsoft.com/office/drawing/2014/main" id="{611AFE56-3F8B-9523-342C-5F10ACCE8862}"/>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8" name="Straight Connector 187">
              <a:extLst>
                <a:ext uri="{FF2B5EF4-FFF2-40B4-BE49-F238E27FC236}">
                  <a16:creationId xmlns:a16="http://schemas.microsoft.com/office/drawing/2014/main" id="{E5B87DF2-436A-51FA-7E42-75C79FBA9833}"/>
                </a:ext>
              </a:extLst>
            </p:cNvPr>
            <p:cNvCxnSpPr>
              <a:stCxn id="187"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F400FD29-512E-AD63-E025-75CFB98C378E}"/>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B6F70D48-7F9C-6BE8-36B9-E2A5CCB2084F}"/>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C787D6B5-77E2-4787-80AD-3325B258AF29}"/>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DAD55B80-F929-410E-BB33-21A9AC4A48B4}"/>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3" name="Oval 192">
              <a:extLst>
                <a:ext uri="{FF2B5EF4-FFF2-40B4-BE49-F238E27FC236}">
                  <a16:creationId xmlns:a16="http://schemas.microsoft.com/office/drawing/2014/main" id="{A4C42417-A340-16E7-6737-DFCD2088E62C}"/>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a:extLst>
                <a:ext uri="{FF2B5EF4-FFF2-40B4-BE49-F238E27FC236}">
                  <a16:creationId xmlns:a16="http://schemas.microsoft.com/office/drawing/2014/main" id="{F0EDA445-F9A0-CE87-FC5E-86B22609C7DE}"/>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Freeform: Shape 194">
              <a:extLst>
                <a:ext uri="{FF2B5EF4-FFF2-40B4-BE49-F238E27FC236}">
                  <a16:creationId xmlns:a16="http://schemas.microsoft.com/office/drawing/2014/main" id="{F90169FD-3A9C-227F-FBD6-304876DCFFB7}"/>
                </a:ext>
              </a:extLst>
            </p:cNvPr>
            <p:cNvSpPr/>
            <p:nvPr/>
          </p:nvSpPr>
          <p:spPr>
            <a:xfrm rot="21414188">
              <a:off x="3343272" y="3390900"/>
              <a:ext cx="158115"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2" name="Group 201">
            <a:extLst>
              <a:ext uri="{FF2B5EF4-FFF2-40B4-BE49-F238E27FC236}">
                <a16:creationId xmlns:a16="http://schemas.microsoft.com/office/drawing/2014/main" id="{B4DF1028-DE15-1915-9643-86CEAB5DC68E}"/>
              </a:ext>
            </a:extLst>
          </p:cNvPr>
          <p:cNvGrpSpPr/>
          <p:nvPr/>
        </p:nvGrpSpPr>
        <p:grpSpPr>
          <a:xfrm>
            <a:off x="4649177" y="5231719"/>
            <a:ext cx="228535" cy="526550"/>
            <a:chOff x="3170682" y="3146298"/>
            <a:chExt cx="511302" cy="1178052"/>
          </a:xfrm>
        </p:grpSpPr>
        <p:sp>
          <p:nvSpPr>
            <p:cNvPr id="203" name="Oval 202">
              <a:extLst>
                <a:ext uri="{FF2B5EF4-FFF2-40B4-BE49-F238E27FC236}">
                  <a16:creationId xmlns:a16="http://schemas.microsoft.com/office/drawing/2014/main" id="{915728B1-6707-2E66-B13E-622B6DB875CE}"/>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4" name="Straight Connector 203">
              <a:extLst>
                <a:ext uri="{FF2B5EF4-FFF2-40B4-BE49-F238E27FC236}">
                  <a16:creationId xmlns:a16="http://schemas.microsoft.com/office/drawing/2014/main" id="{6A7E7DE1-028E-2FD1-28A8-980BF38CBD6A}"/>
                </a:ext>
              </a:extLst>
            </p:cNvPr>
            <p:cNvCxnSpPr>
              <a:stCxn id="203"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5FE2C072-9DB1-8A16-15FC-68F2208B1E70}"/>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9E880528-266F-9093-DC5E-D398C9DFC4F5}"/>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631AFBF8-5A87-32DA-ACC1-27B2D7CBBEEE}"/>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D31E0ECB-FFB1-D0E0-C4F1-AFEC9FD4A8E9}"/>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9" name="Oval 208">
              <a:extLst>
                <a:ext uri="{FF2B5EF4-FFF2-40B4-BE49-F238E27FC236}">
                  <a16:creationId xmlns:a16="http://schemas.microsoft.com/office/drawing/2014/main" id="{F426EF5A-43B6-5574-5CDB-4EEDF0A6F508}"/>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Oval 209">
              <a:extLst>
                <a:ext uri="{FF2B5EF4-FFF2-40B4-BE49-F238E27FC236}">
                  <a16:creationId xmlns:a16="http://schemas.microsoft.com/office/drawing/2014/main" id="{09D03E35-A0E9-34EC-F5D5-1FAE0ACD86F3}"/>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Freeform: Shape 210">
              <a:extLst>
                <a:ext uri="{FF2B5EF4-FFF2-40B4-BE49-F238E27FC236}">
                  <a16:creationId xmlns:a16="http://schemas.microsoft.com/office/drawing/2014/main" id="{42A7133A-0B60-A5F1-146E-0AC907D7F152}"/>
                </a:ext>
              </a:extLst>
            </p:cNvPr>
            <p:cNvSpPr/>
            <p:nvPr/>
          </p:nvSpPr>
          <p:spPr>
            <a:xfrm rot="21414188">
              <a:off x="3343272" y="3390900"/>
              <a:ext cx="158115"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2" name="Group 211">
            <a:extLst>
              <a:ext uri="{FF2B5EF4-FFF2-40B4-BE49-F238E27FC236}">
                <a16:creationId xmlns:a16="http://schemas.microsoft.com/office/drawing/2014/main" id="{8E741CFF-2513-F984-7270-D27B030478BA}"/>
              </a:ext>
            </a:extLst>
          </p:cNvPr>
          <p:cNvGrpSpPr/>
          <p:nvPr/>
        </p:nvGrpSpPr>
        <p:grpSpPr>
          <a:xfrm>
            <a:off x="4892097" y="5311498"/>
            <a:ext cx="228535" cy="526550"/>
            <a:chOff x="3170682" y="3146298"/>
            <a:chExt cx="511302" cy="1178052"/>
          </a:xfrm>
        </p:grpSpPr>
        <p:sp>
          <p:nvSpPr>
            <p:cNvPr id="213" name="Oval 212">
              <a:extLst>
                <a:ext uri="{FF2B5EF4-FFF2-40B4-BE49-F238E27FC236}">
                  <a16:creationId xmlns:a16="http://schemas.microsoft.com/office/drawing/2014/main" id="{8F830343-4412-4E75-476B-DD4EBDAC838D}"/>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4" name="Straight Connector 213">
              <a:extLst>
                <a:ext uri="{FF2B5EF4-FFF2-40B4-BE49-F238E27FC236}">
                  <a16:creationId xmlns:a16="http://schemas.microsoft.com/office/drawing/2014/main" id="{397D5412-CC79-EC67-370E-4E8A322F5DFF}"/>
                </a:ext>
              </a:extLst>
            </p:cNvPr>
            <p:cNvCxnSpPr>
              <a:stCxn id="213"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E21FA1AA-9BBB-C03A-F2A0-E519A81A2905}"/>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79C55120-B4D2-E370-06E6-D8575804B18E}"/>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253B6762-FE0E-770D-7514-9438E9FD3219}"/>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7A41283D-93CE-E46B-6672-9C02F249661F}"/>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9" name="Oval 218">
              <a:extLst>
                <a:ext uri="{FF2B5EF4-FFF2-40B4-BE49-F238E27FC236}">
                  <a16:creationId xmlns:a16="http://schemas.microsoft.com/office/drawing/2014/main" id="{E54A878E-AD17-4DB4-CCB2-724D9F33FACA}"/>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Oval 219">
              <a:extLst>
                <a:ext uri="{FF2B5EF4-FFF2-40B4-BE49-F238E27FC236}">
                  <a16:creationId xmlns:a16="http://schemas.microsoft.com/office/drawing/2014/main" id="{7C5B29B0-4452-14AA-871F-CF705608F8E5}"/>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Freeform: Shape 220">
              <a:extLst>
                <a:ext uri="{FF2B5EF4-FFF2-40B4-BE49-F238E27FC236}">
                  <a16:creationId xmlns:a16="http://schemas.microsoft.com/office/drawing/2014/main" id="{635296F0-581A-4478-9872-EFE0EB1924E5}"/>
                </a:ext>
              </a:extLst>
            </p:cNvPr>
            <p:cNvSpPr/>
            <p:nvPr/>
          </p:nvSpPr>
          <p:spPr>
            <a:xfrm rot="21414188">
              <a:off x="3343272" y="3390900"/>
              <a:ext cx="158115"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2" name="Group 221">
            <a:extLst>
              <a:ext uri="{FF2B5EF4-FFF2-40B4-BE49-F238E27FC236}">
                <a16:creationId xmlns:a16="http://schemas.microsoft.com/office/drawing/2014/main" id="{19666AFA-1A0F-CC54-0E36-9BBD3EA97AAE}"/>
              </a:ext>
            </a:extLst>
          </p:cNvPr>
          <p:cNvGrpSpPr/>
          <p:nvPr/>
        </p:nvGrpSpPr>
        <p:grpSpPr>
          <a:xfrm>
            <a:off x="5748744" y="5317570"/>
            <a:ext cx="228535" cy="526550"/>
            <a:chOff x="3170682" y="3146298"/>
            <a:chExt cx="511302" cy="1178052"/>
          </a:xfrm>
        </p:grpSpPr>
        <p:sp>
          <p:nvSpPr>
            <p:cNvPr id="223" name="Oval 222">
              <a:extLst>
                <a:ext uri="{FF2B5EF4-FFF2-40B4-BE49-F238E27FC236}">
                  <a16:creationId xmlns:a16="http://schemas.microsoft.com/office/drawing/2014/main" id="{3FB4FBF5-D367-B3B2-0CBA-FA8271E391D4}"/>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4" name="Straight Connector 223">
              <a:extLst>
                <a:ext uri="{FF2B5EF4-FFF2-40B4-BE49-F238E27FC236}">
                  <a16:creationId xmlns:a16="http://schemas.microsoft.com/office/drawing/2014/main" id="{0FB4FE41-7B2D-C4F4-F195-A20C0C8F3E91}"/>
                </a:ext>
              </a:extLst>
            </p:cNvPr>
            <p:cNvCxnSpPr>
              <a:stCxn id="223"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096DC8EB-7876-9902-3ED9-28CA32160089}"/>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A6FE3B81-8A5A-BCE8-4C76-424AB641C446}"/>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76D933C1-8A40-741E-445D-B8B5504F19DB}"/>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6A3F3AF4-2DD2-5A8A-8DD7-11CEC7EAB9AA}"/>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9" name="Oval 228">
              <a:extLst>
                <a:ext uri="{FF2B5EF4-FFF2-40B4-BE49-F238E27FC236}">
                  <a16:creationId xmlns:a16="http://schemas.microsoft.com/office/drawing/2014/main" id="{43146FAB-F232-2F1B-696D-0B2C99A57569}"/>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a:extLst>
                <a:ext uri="{FF2B5EF4-FFF2-40B4-BE49-F238E27FC236}">
                  <a16:creationId xmlns:a16="http://schemas.microsoft.com/office/drawing/2014/main" id="{53A1F761-3C8F-E05D-6987-5D5D8DB74E32}"/>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Freeform: Shape 230">
              <a:extLst>
                <a:ext uri="{FF2B5EF4-FFF2-40B4-BE49-F238E27FC236}">
                  <a16:creationId xmlns:a16="http://schemas.microsoft.com/office/drawing/2014/main" id="{E6B7B663-2748-5A65-6E70-34945E7D26CE}"/>
                </a:ext>
              </a:extLst>
            </p:cNvPr>
            <p:cNvSpPr/>
            <p:nvPr/>
          </p:nvSpPr>
          <p:spPr>
            <a:xfrm rot="21414188">
              <a:off x="3343272" y="3390900"/>
              <a:ext cx="158115"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2" name="Group 231">
            <a:extLst>
              <a:ext uri="{FF2B5EF4-FFF2-40B4-BE49-F238E27FC236}">
                <a16:creationId xmlns:a16="http://schemas.microsoft.com/office/drawing/2014/main" id="{14ED0077-D039-089F-0278-53A083225ABD}"/>
              </a:ext>
            </a:extLst>
          </p:cNvPr>
          <p:cNvGrpSpPr/>
          <p:nvPr/>
        </p:nvGrpSpPr>
        <p:grpSpPr>
          <a:xfrm>
            <a:off x="6020784" y="5260994"/>
            <a:ext cx="228535" cy="526550"/>
            <a:chOff x="3170682" y="3146298"/>
            <a:chExt cx="511302" cy="1178052"/>
          </a:xfrm>
        </p:grpSpPr>
        <p:sp>
          <p:nvSpPr>
            <p:cNvPr id="233" name="Oval 232">
              <a:extLst>
                <a:ext uri="{FF2B5EF4-FFF2-40B4-BE49-F238E27FC236}">
                  <a16:creationId xmlns:a16="http://schemas.microsoft.com/office/drawing/2014/main" id="{D25A04DF-1C65-F301-164A-ECF68B4FF13A}"/>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4" name="Straight Connector 233">
              <a:extLst>
                <a:ext uri="{FF2B5EF4-FFF2-40B4-BE49-F238E27FC236}">
                  <a16:creationId xmlns:a16="http://schemas.microsoft.com/office/drawing/2014/main" id="{E9653434-938B-6D37-505A-7463489E9858}"/>
                </a:ext>
              </a:extLst>
            </p:cNvPr>
            <p:cNvCxnSpPr>
              <a:stCxn id="233"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A66FDAE7-DE87-968F-D0B5-DB9E446FFC33}"/>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66F4DCBB-390C-353A-2666-E7469E13CD25}"/>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9FACFD5F-CE39-B851-5842-660C969487B0}"/>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887E92CE-A363-22D6-98B1-F8B409B08E52}"/>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39" name="Oval 238">
              <a:extLst>
                <a:ext uri="{FF2B5EF4-FFF2-40B4-BE49-F238E27FC236}">
                  <a16:creationId xmlns:a16="http://schemas.microsoft.com/office/drawing/2014/main" id="{754DD6E5-1707-C2B3-1C67-4A0A63FFCC59}"/>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a:extLst>
                <a:ext uri="{FF2B5EF4-FFF2-40B4-BE49-F238E27FC236}">
                  <a16:creationId xmlns:a16="http://schemas.microsoft.com/office/drawing/2014/main" id="{179C5F59-8018-F60A-E59D-273F72DE3681}"/>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Freeform: Shape 240">
              <a:extLst>
                <a:ext uri="{FF2B5EF4-FFF2-40B4-BE49-F238E27FC236}">
                  <a16:creationId xmlns:a16="http://schemas.microsoft.com/office/drawing/2014/main" id="{4A29F50C-129D-EDDD-9DD6-0EA6E0E8CA77}"/>
                </a:ext>
              </a:extLst>
            </p:cNvPr>
            <p:cNvSpPr/>
            <p:nvPr/>
          </p:nvSpPr>
          <p:spPr>
            <a:xfrm rot="21414188">
              <a:off x="3343272" y="3390900"/>
              <a:ext cx="158115"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2" name="Group 241">
            <a:extLst>
              <a:ext uri="{FF2B5EF4-FFF2-40B4-BE49-F238E27FC236}">
                <a16:creationId xmlns:a16="http://schemas.microsoft.com/office/drawing/2014/main" id="{6214F970-B151-5214-D7A7-A6F89C41C349}"/>
              </a:ext>
            </a:extLst>
          </p:cNvPr>
          <p:cNvGrpSpPr/>
          <p:nvPr/>
        </p:nvGrpSpPr>
        <p:grpSpPr>
          <a:xfrm>
            <a:off x="6263704" y="5141742"/>
            <a:ext cx="228535" cy="526550"/>
            <a:chOff x="3170682" y="3146298"/>
            <a:chExt cx="511302" cy="1178052"/>
          </a:xfrm>
        </p:grpSpPr>
        <p:sp>
          <p:nvSpPr>
            <p:cNvPr id="243" name="Oval 242">
              <a:extLst>
                <a:ext uri="{FF2B5EF4-FFF2-40B4-BE49-F238E27FC236}">
                  <a16:creationId xmlns:a16="http://schemas.microsoft.com/office/drawing/2014/main" id="{647DC5FA-8776-A145-0A06-270D88570F50}"/>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4" name="Straight Connector 243">
              <a:extLst>
                <a:ext uri="{FF2B5EF4-FFF2-40B4-BE49-F238E27FC236}">
                  <a16:creationId xmlns:a16="http://schemas.microsoft.com/office/drawing/2014/main" id="{D43668B0-A0CE-54A6-EB92-F6149AEA6FB0}"/>
                </a:ext>
              </a:extLst>
            </p:cNvPr>
            <p:cNvCxnSpPr>
              <a:stCxn id="243"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4A1A8949-FD32-813D-96C9-F70F6131DD61}"/>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E20B5B30-1BBA-7FD8-972A-02647A8A390E}"/>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382B50CE-1EAF-2873-722A-5FEBE5263795}"/>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41D29E28-EBC8-FF86-CA89-42789DCB0B3F}"/>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9" name="Oval 248">
              <a:extLst>
                <a:ext uri="{FF2B5EF4-FFF2-40B4-BE49-F238E27FC236}">
                  <a16:creationId xmlns:a16="http://schemas.microsoft.com/office/drawing/2014/main" id="{4FB2D44A-005D-C710-65DE-2605D675CFA3}"/>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Oval 249">
              <a:extLst>
                <a:ext uri="{FF2B5EF4-FFF2-40B4-BE49-F238E27FC236}">
                  <a16:creationId xmlns:a16="http://schemas.microsoft.com/office/drawing/2014/main" id="{160D62E2-F0DA-539E-6884-D4E296A49227}"/>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Freeform: Shape 250">
              <a:extLst>
                <a:ext uri="{FF2B5EF4-FFF2-40B4-BE49-F238E27FC236}">
                  <a16:creationId xmlns:a16="http://schemas.microsoft.com/office/drawing/2014/main" id="{F7DAA64C-7F6A-2306-AD67-241F4DEB6CA9}"/>
                </a:ext>
              </a:extLst>
            </p:cNvPr>
            <p:cNvSpPr/>
            <p:nvPr/>
          </p:nvSpPr>
          <p:spPr>
            <a:xfrm rot="21414188">
              <a:off x="3343272" y="3390900"/>
              <a:ext cx="158115"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2" name="Group 251">
            <a:extLst>
              <a:ext uri="{FF2B5EF4-FFF2-40B4-BE49-F238E27FC236}">
                <a16:creationId xmlns:a16="http://schemas.microsoft.com/office/drawing/2014/main" id="{DBC33C6D-6E3A-19C1-F808-E584FEFEE3B4}"/>
              </a:ext>
            </a:extLst>
          </p:cNvPr>
          <p:cNvGrpSpPr/>
          <p:nvPr/>
        </p:nvGrpSpPr>
        <p:grpSpPr>
          <a:xfrm>
            <a:off x="8297659" y="5222496"/>
            <a:ext cx="228535" cy="526550"/>
            <a:chOff x="3170682" y="3146298"/>
            <a:chExt cx="511302" cy="1178052"/>
          </a:xfrm>
        </p:grpSpPr>
        <p:sp>
          <p:nvSpPr>
            <p:cNvPr id="253" name="Oval 252">
              <a:extLst>
                <a:ext uri="{FF2B5EF4-FFF2-40B4-BE49-F238E27FC236}">
                  <a16:creationId xmlns:a16="http://schemas.microsoft.com/office/drawing/2014/main" id="{DE0CB26F-341C-334F-491E-CD47F80C2978}"/>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4" name="Straight Connector 253">
              <a:extLst>
                <a:ext uri="{FF2B5EF4-FFF2-40B4-BE49-F238E27FC236}">
                  <a16:creationId xmlns:a16="http://schemas.microsoft.com/office/drawing/2014/main" id="{1BAF974E-2367-8BFF-5962-A16CBE70F4EC}"/>
                </a:ext>
              </a:extLst>
            </p:cNvPr>
            <p:cNvCxnSpPr>
              <a:stCxn id="253"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C9583560-F59F-93D5-3517-00445010614A}"/>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BDD340EE-FE62-DC3D-1D64-4EE478289C5F}"/>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C5870FEB-5645-7004-8072-FE754C038DA1}"/>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254B9BA5-A0B1-D52F-A6BD-1EE4A0636526}"/>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9" name="Oval 258">
              <a:extLst>
                <a:ext uri="{FF2B5EF4-FFF2-40B4-BE49-F238E27FC236}">
                  <a16:creationId xmlns:a16="http://schemas.microsoft.com/office/drawing/2014/main" id="{7CC61C17-BFA4-34FF-AE4A-860F8D01C343}"/>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Oval 259">
              <a:extLst>
                <a:ext uri="{FF2B5EF4-FFF2-40B4-BE49-F238E27FC236}">
                  <a16:creationId xmlns:a16="http://schemas.microsoft.com/office/drawing/2014/main" id="{0627FB9A-1A9D-2AF1-9613-3AFC3F29AD27}"/>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Freeform: Shape 260">
              <a:extLst>
                <a:ext uri="{FF2B5EF4-FFF2-40B4-BE49-F238E27FC236}">
                  <a16:creationId xmlns:a16="http://schemas.microsoft.com/office/drawing/2014/main" id="{165A5D05-3D5F-E4E7-0810-AE5037487E05}"/>
                </a:ext>
              </a:extLst>
            </p:cNvPr>
            <p:cNvSpPr/>
            <p:nvPr/>
          </p:nvSpPr>
          <p:spPr>
            <a:xfrm rot="21414188">
              <a:off x="3343272" y="3390900"/>
              <a:ext cx="158115"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2" name="Group 261">
            <a:extLst>
              <a:ext uri="{FF2B5EF4-FFF2-40B4-BE49-F238E27FC236}">
                <a16:creationId xmlns:a16="http://schemas.microsoft.com/office/drawing/2014/main" id="{B3F98B70-E9E9-37DB-D85F-6E96EF2248D1}"/>
              </a:ext>
            </a:extLst>
          </p:cNvPr>
          <p:cNvGrpSpPr/>
          <p:nvPr/>
        </p:nvGrpSpPr>
        <p:grpSpPr>
          <a:xfrm>
            <a:off x="8654105" y="5260994"/>
            <a:ext cx="228535" cy="526550"/>
            <a:chOff x="3170682" y="3146298"/>
            <a:chExt cx="511302" cy="1178052"/>
          </a:xfrm>
        </p:grpSpPr>
        <p:sp>
          <p:nvSpPr>
            <p:cNvPr id="263" name="Oval 262">
              <a:extLst>
                <a:ext uri="{FF2B5EF4-FFF2-40B4-BE49-F238E27FC236}">
                  <a16:creationId xmlns:a16="http://schemas.microsoft.com/office/drawing/2014/main" id="{BF3FA11F-D1EA-28D7-08AB-A433257CED42}"/>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4" name="Straight Connector 263">
              <a:extLst>
                <a:ext uri="{FF2B5EF4-FFF2-40B4-BE49-F238E27FC236}">
                  <a16:creationId xmlns:a16="http://schemas.microsoft.com/office/drawing/2014/main" id="{705BC03E-8320-CB38-1E7E-63AC3D7BA3FD}"/>
                </a:ext>
              </a:extLst>
            </p:cNvPr>
            <p:cNvCxnSpPr>
              <a:stCxn id="263"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7A59B72B-C0FA-6F4C-D7DE-39EC0D16EA85}"/>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494BA035-D98E-5D5C-B36C-99802578EE5F}"/>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C2334CBC-254B-0DBE-A892-7A05700CAB5D}"/>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ED595BDB-E23D-9E00-FE2B-E257BB5732A4}"/>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9" name="Oval 268">
              <a:extLst>
                <a:ext uri="{FF2B5EF4-FFF2-40B4-BE49-F238E27FC236}">
                  <a16:creationId xmlns:a16="http://schemas.microsoft.com/office/drawing/2014/main" id="{B59FCFA1-53B7-C5D3-7195-F75C262ED1D3}"/>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Oval 269">
              <a:extLst>
                <a:ext uri="{FF2B5EF4-FFF2-40B4-BE49-F238E27FC236}">
                  <a16:creationId xmlns:a16="http://schemas.microsoft.com/office/drawing/2014/main" id="{BA38EC52-D65D-CE96-46AB-00D59C334A94}"/>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Freeform: Shape 270">
              <a:extLst>
                <a:ext uri="{FF2B5EF4-FFF2-40B4-BE49-F238E27FC236}">
                  <a16:creationId xmlns:a16="http://schemas.microsoft.com/office/drawing/2014/main" id="{94EAFDF0-9C8C-BB52-38F1-4A542BECDD6C}"/>
                </a:ext>
              </a:extLst>
            </p:cNvPr>
            <p:cNvSpPr/>
            <p:nvPr/>
          </p:nvSpPr>
          <p:spPr>
            <a:xfrm rot="21414188">
              <a:off x="3343272" y="3390900"/>
              <a:ext cx="158115"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2" name="Group 271">
            <a:extLst>
              <a:ext uri="{FF2B5EF4-FFF2-40B4-BE49-F238E27FC236}">
                <a16:creationId xmlns:a16="http://schemas.microsoft.com/office/drawing/2014/main" id="{12ACC854-EA1C-CF8E-88C0-C6AEADFA134D}"/>
              </a:ext>
            </a:extLst>
          </p:cNvPr>
          <p:cNvGrpSpPr/>
          <p:nvPr/>
        </p:nvGrpSpPr>
        <p:grpSpPr>
          <a:xfrm>
            <a:off x="7363647" y="5222496"/>
            <a:ext cx="228535" cy="526550"/>
            <a:chOff x="3170682" y="3146298"/>
            <a:chExt cx="511302" cy="1178052"/>
          </a:xfrm>
        </p:grpSpPr>
        <p:sp>
          <p:nvSpPr>
            <p:cNvPr id="273" name="Oval 272">
              <a:extLst>
                <a:ext uri="{FF2B5EF4-FFF2-40B4-BE49-F238E27FC236}">
                  <a16:creationId xmlns:a16="http://schemas.microsoft.com/office/drawing/2014/main" id="{B8FF6D0A-FE1F-8D40-01DB-58FB1C81F4DE}"/>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4" name="Straight Connector 273">
              <a:extLst>
                <a:ext uri="{FF2B5EF4-FFF2-40B4-BE49-F238E27FC236}">
                  <a16:creationId xmlns:a16="http://schemas.microsoft.com/office/drawing/2014/main" id="{D17541D4-D86F-C5A4-70AE-4DF32708B573}"/>
                </a:ext>
              </a:extLst>
            </p:cNvPr>
            <p:cNvCxnSpPr>
              <a:stCxn id="273"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F60D6A98-2536-8A4E-4B23-B5AC6F8DB021}"/>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DD25D26C-8ECA-348F-0C8C-66005FE8BE45}"/>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5483AD5B-62C9-48CB-81CE-D6BB7F35A3A7}"/>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0280877F-43E1-6618-3C58-A9877F5BBC8B}"/>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9" name="Oval 278">
              <a:extLst>
                <a:ext uri="{FF2B5EF4-FFF2-40B4-BE49-F238E27FC236}">
                  <a16:creationId xmlns:a16="http://schemas.microsoft.com/office/drawing/2014/main" id="{1990F53C-A170-5AEA-7041-29FAD6961929}"/>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Oval 279">
              <a:extLst>
                <a:ext uri="{FF2B5EF4-FFF2-40B4-BE49-F238E27FC236}">
                  <a16:creationId xmlns:a16="http://schemas.microsoft.com/office/drawing/2014/main" id="{1574ACB5-92FF-A82A-36ED-C92FD66D22E6}"/>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Freeform: Shape 280">
              <a:extLst>
                <a:ext uri="{FF2B5EF4-FFF2-40B4-BE49-F238E27FC236}">
                  <a16:creationId xmlns:a16="http://schemas.microsoft.com/office/drawing/2014/main" id="{75B3364E-8507-7A3F-20EB-AD8A07D0BB67}"/>
                </a:ext>
              </a:extLst>
            </p:cNvPr>
            <p:cNvSpPr/>
            <p:nvPr/>
          </p:nvSpPr>
          <p:spPr>
            <a:xfrm rot="21414188">
              <a:off x="3343272" y="3390900"/>
              <a:ext cx="158115"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2" name="Group 281">
            <a:extLst>
              <a:ext uri="{FF2B5EF4-FFF2-40B4-BE49-F238E27FC236}">
                <a16:creationId xmlns:a16="http://schemas.microsoft.com/office/drawing/2014/main" id="{A2508B8D-CBB8-EE50-7823-304E8E82FC45}"/>
              </a:ext>
            </a:extLst>
          </p:cNvPr>
          <p:cNvGrpSpPr/>
          <p:nvPr/>
        </p:nvGrpSpPr>
        <p:grpSpPr>
          <a:xfrm>
            <a:off x="7587240" y="5188414"/>
            <a:ext cx="228535" cy="526550"/>
            <a:chOff x="3170682" y="3146298"/>
            <a:chExt cx="511302" cy="1178052"/>
          </a:xfrm>
        </p:grpSpPr>
        <p:sp>
          <p:nvSpPr>
            <p:cNvPr id="283" name="Oval 282">
              <a:extLst>
                <a:ext uri="{FF2B5EF4-FFF2-40B4-BE49-F238E27FC236}">
                  <a16:creationId xmlns:a16="http://schemas.microsoft.com/office/drawing/2014/main" id="{F93B9D41-81A9-F6AC-B295-58EDFCD5C64D}"/>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4" name="Straight Connector 283">
              <a:extLst>
                <a:ext uri="{FF2B5EF4-FFF2-40B4-BE49-F238E27FC236}">
                  <a16:creationId xmlns:a16="http://schemas.microsoft.com/office/drawing/2014/main" id="{9B853E92-134D-91DD-04D6-A23EFB46C634}"/>
                </a:ext>
              </a:extLst>
            </p:cNvPr>
            <p:cNvCxnSpPr>
              <a:stCxn id="283"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80B98CE0-3790-5153-2BF2-8F04983B67E8}"/>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35327895-C676-8D4D-2C83-E7F1A56CE1B8}"/>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DA2EAC0A-69B3-3916-5578-2D5311BC7ABB}"/>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A9A0C616-1014-9B15-9E57-62D6E6F28154}"/>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9" name="Oval 288">
              <a:extLst>
                <a:ext uri="{FF2B5EF4-FFF2-40B4-BE49-F238E27FC236}">
                  <a16:creationId xmlns:a16="http://schemas.microsoft.com/office/drawing/2014/main" id="{CBD88421-B3D8-2D1C-00D7-6C711D17C8E9}"/>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Oval 289">
              <a:extLst>
                <a:ext uri="{FF2B5EF4-FFF2-40B4-BE49-F238E27FC236}">
                  <a16:creationId xmlns:a16="http://schemas.microsoft.com/office/drawing/2014/main" id="{F6E4A62A-E9B4-03A3-B574-4B940F5C1A72}"/>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Freeform: Shape 290">
              <a:extLst>
                <a:ext uri="{FF2B5EF4-FFF2-40B4-BE49-F238E27FC236}">
                  <a16:creationId xmlns:a16="http://schemas.microsoft.com/office/drawing/2014/main" id="{F56A5A0D-7DD5-277B-1E07-10FDC9E72FD3}"/>
                </a:ext>
              </a:extLst>
            </p:cNvPr>
            <p:cNvSpPr/>
            <p:nvPr/>
          </p:nvSpPr>
          <p:spPr>
            <a:xfrm rot="21414188">
              <a:off x="3343272" y="3390900"/>
              <a:ext cx="158115"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2" name="Group 291">
            <a:extLst>
              <a:ext uri="{FF2B5EF4-FFF2-40B4-BE49-F238E27FC236}">
                <a16:creationId xmlns:a16="http://schemas.microsoft.com/office/drawing/2014/main" id="{8E40288A-4D11-9E90-A1BB-9C4122B3A2F0}"/>
              </a:ext>
            </a:extLst>
          </p:cNvPr>
          <p:cNvGrpSpPr/>
          <p:nvPr/>
        </p:nvGrpSpPr>
        <p:grpSpPr>
          <a:xfrm>
            <a:off x="6859239" y="5141742"/>
            <a:ext cx="228535" cy="526550"/>
            <a:chOff x="3170682" y="3146298"/>
            <a:chExt cx="511302" cy="1178052"/>
          </a:xfrm>
        </p:grpSpPr>
        <p:sp>
          <p:nvSpPr>
            <p:cNvPr id="293" name="Oval 292">
              <a:extLst>
                <a:ext uri="{FF2B5EF4-FFF2-40B4-BE49-F238E27FC236}">
                  <a16:creationId xmlns:a16="http://schemas.microsoft.com/office/drawing/2014/main" id="{D26F3FA7-2B9B-1826-49DB-4ED85906AD0B}"/>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4" name="Straight Connector 293">
              <a:extLst>
                <a:ext uri="{FF2B5EF4-FFF2-40B4-BE49-F238E27FC236}">
                  <a16:creationId xmlns:a16="http://schemas.microsoft.com/office/drawing/2014/main" id="{052F2582-B760-C9DC-7DB2-B9BE9B6662E1}"/>
                </a:ext>
              </a:extLst>
            </p:cNvPr>
            <p:cNvCxnSpPr>
              <a:stCxn id="293"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81A01B17-196E-3287-13B7-85E3CFE60252}"/>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6F1882CC-6102-EF98-17BD-A09A3EBE9296}"/>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4A986470-BD46-8512-90C5-D290671329EC}"/>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0D858D37-2C6B-1793-34BD-9E29A103BE9C}"/>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9" name="Oval 298">
              <a:extLst>
                <a:ext uri="{FF2B5EF4-FFF2-40B4-BE49-F238E27FC236}">
                  <a16:creationId xmlns:a16="http://schemas.microsoft.com/office/drawing/2014/main" id="{FA21BB52-64D2-A7EC-F843-756C40A4CDB4}"/>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Oval 299">
              <a:extLst>
                <a:ext uri="{FF2B5EF4-FFF2-40B4-BE49-F238E27FC236}">
                  <a16:creationId xmlns:a16="http://schemas.microsoft.com/office/drawing/2014/main" id="{DE8E9DB7-922F-2B84-D9B9-4BB1A0A4AF26}"/>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Freeform: Shape 300">
              <a:extLst>
                <a:ext uri="{FF2B5EF4-FFF2-40B4-BE49-F238E27FC236}">
                  <a16:creationId xmlns:a16="http://schemas.microsoft.com/office/drawing/2014/main" id="{4E5B6A6F-1A64-F12F-CC68-5E8C32F75C79}"/>
                </a:ext>
              </a:extLst>
            </p:cNvPr>
            <p:cNvSpPr/>
            <p:nvPr/>
          </p:nvSpPr>
          <p:spPr>
            <a:xfrm rot="21414188">
              <a:off x="3343272" y="3390900"/>
              <a:ext cx="158115"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2" name="Group 301">
            <a:extLst>
              <a:ext uri="{FF2B5EF4-FFF2-40B4-BE49-F238E27FC236}">
                <a16:creationId xmlns:a16="http://schemas.microsoft.com/office/drawing/2014/main" id="{59A41028-9092-F921-C850-C2D772FA8D0C}"/>
              </a:ext>
            </a:extLst>
          </p:cNvPr>
          <p:cNvGrpSpPr/>
          <p:nvPr/>
        </p:nvGrpSpPr>
        <p:grpSpPr>
          <a:xfrm>
            <a:off x="7086666" y="5222496"/>
            <a:ext cx="228535" cy="526550"/>
            <a:chOff x="3170682" y="3146298"/>
            <a:chExt cx="511302" cy="1178052"/>
          </a:xfrm>
        </p:grpSpPr>
        <p:sp>
          <p:nvSpPr>
            <p:cNvPr id="303" name="Oval 302">
              <a:extLst>
                <a:ext uri="{FF2B5EF4-FFF2-40B4-BE49-F238E27FC236}">
                  <a16:creationId xmlns:a16="http://schemas.microsoft.com/office/drawing/2014/main" id="{FF57B071-6AA4-8D08-03CA-154F63439878}"/>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4" name="Straight Connector 303">
              <a:extLst>
                <a:ext uri="{FF2B5EF4-FFF2-40B4-BE49-F238E27FC236}">
                  <a16:creationId xmlns:a16="http://schemas.microsoft.com/office/drawing/2014/main" id="{8B725C08-B32F-47C0-CB00-5B6F1D775995}"/>
                </a:ext>
              </a:extLst>
            </p:cNvPr>
            <p:cNvCxnSpPr>
              <a:stCxn id="303"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5" name="Straight Connector 304">
              <a:extLst>
                <a:ext uri="{FF2B5EF4-FFF2-40B4-BE49-F238E27FC236}">
                  <a16:creationId xmlns:a16="http://schemas.microsoft.com/office/drawing/2014/main" id="{506D6DEF-63A7-0C18-159F-9A0988769B80}"/>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6" name="Straight Connector 305">
              <a:extLst>
                <a:ext uri="{FF2B5EF4-FFF2-40B4-BE49-F238E27FC236}">
                  <a16:creationId xmlns:a16="http://schemas.microsoft.com/office/drawing/2014/main" id="{216E1C7A-545D-181A-4619-4D04DFD08B47}"/>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532AEF5A-2CAB-D7D7-CFC5-F703F3C8FE9E}"/>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F758C1C5-ECBC-5C72-6E70-CAA2EDB62ED5}"/>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9" name="Oval 308">
              <a:extLst>
                <a:ext uri="{FF2B5EF4-FFF2-40B4-BE49-F238E27FC236}">
                  <a16:creationId xmlns:a16="http://schemas.microsoft.com/office/drawing/2014/main" id="{37E24910-CB13-E6EA-B0D2-2726FC3FD08A}"/>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Oval 309">
              <a:extLst>
                <a:ext uri="{FF2B5EF4-FFF2-40B4-BE49-F238E27FC236}">
                  <a16:creationId xmlns:a16="http://schemas.microsoft.com/office/drawing/2014/main" id="{0B98EF87-5748-4B13-3487-AD787DF5FF6D}"/>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Freeform: Shape 310">
              <a:extLst>
                <a:ext uri="{FF2B5EF4-FFF2-40B4-BE49-F238E27FC236}">
                  <a16:creationId xmlns:a16="http://schemas.microsoft.com/office/drawing/2014/main" id="{6A5FDB7C-3808-36C9-3FC4-9BA0A3744BAF}"/>
                </a:ext>
              </a:extLst>
            </p:cNvPr>
            <p:cNvSpPr/>
            <p:nvPr/>
          </p:nvSpPr>
          <p:spPr>
            <a:xfrm rot="21414188">
              <a:off x="3343272" y="3390900"/>
              <a:ext cx="158115"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2" name="TextBox 311">
            <a:extLst>
              <a:ext uri="{FF2B5EF4-FFF2-40B4-BE49-F238E27FC236}">
                <a16:creationId xmlns:a16="http://schemas.microsoft.com/office/drawing/2014/main" id="{69A8DBAF-88AA-6368-49AD-CE1BCC62A8AE}"/>
              </a:ext>
            </a:extLst>
          </p:cNvPr>
          <p:cNvSpPr txBox="1"/>
          <p:nvPr/>
        </p:nvSpPr>
        <p:spPr>
          <a:xfrm>
            <a:off x="2845192" y="6074996"/>
            <a:ext cx="1128931" cy="369332"/>
          </a:xfrm>
          <a:prstGeom prst="rect">
            <a:avLst/>
          </a:prstGeom>
          <a:noFill/>
        </p:spPr>
        <p:txBody>
          <a:bodyPr wrap="square" rtlCol="0">
            <a:spAutoFit/>
          </a:bodyPr>
          <a:lstStyle/>
          <a:p>
            <a:pPr algn="ctr"/>
            <a:r>
              <a:rPr lang="en-US" dirty="0"/>
              <a:t>Team 1</a:t>
            </a:r>
          </a:p>
        </p:txBody>
      </p:sp>
      <p:sp>
        <p:nvSpPr>
          <p:cNvPr id="313" name="TextBox 312">
            <a:extLst>
              <a:ext uri="{FF2B5EF4-FFF2-40B4-BE49-F238E27FC236}">
                <a16:creationId xmlns:a16="http://schemas.microsoft.com/office/drawing/2014/main" id="{88F69385-1F8F-F068-BE83-363692EF3587}"/>
              </a:ext>
            </a:extLst>
          </p:cNvPr>
          <p:cNvSpPr txBox="1"/>
          <p:nvPr/>
        </p:nvSpPr>
        <p:spPr>
          <a:xfrm>
            <a:off x="4168581" y="6074996"/>
            <a:ext cx="1128931" cy="369332"/>
          </a:xfrm>
          <a:prstGeom prst="rect">
            <a:avLst/>
          </a:prstGeom>
          <a:noFill/>
        </p:spPr>
        <p:txBody>
          <a:bodyPr wrap="square" rtlCol="0">
            <a:spAutoFit/>
          </a:bodyPr>
          <a:lstStyle/>
          <a:p>
            <a:pPr algn="ctr"/>
            <a:r>
              <a:rPr lang="en-US" dirty="0"/>
              <a:t>Team 2</a:t>
            </a:r>
          </a:p>
        </p:txBody>
      </p:sp>
      <p:sp>
        <p:nvSpPr>
          <p:cNvPr id="314" name="TextBox 313">
            <a:extLst>
              <a:ext uri="{FF2B5EF4-FFF2-40B4-BE49-F238E27FC236}">
                <a16:creationId xmlns:a16="http://schemas.microsoft.com/office/drawing/2014/main" id="{58D5CD7B-9DE2-2C91-D7F2-5997E4B3FB63}"/>
              </a:ext>
            </a:extLst>
          </p:cNvPr>
          <p:cNvSpPr txBox="1"/>
          <p:nvPr/>
        </p:nvSpPr>
        <p:spPr>
          <a:xfrm>
            <a:off x="5491970" y="6074996"/>
            <a:ext cx="1128931" cy="369332"/>
          </a:xfrm>
          <a:prstGeom prst="rect">
            <a:avLst/>
          </a:prstGeom>
          <a:noFill/>
        </p:spPr>
        <p:txBody>
          <a:bodyPr wrap="square" rtlCol="0">
            <a:spAutoFit/>
          </a:bodyPr>
          <a:lstStyle/>
          <a:p>
            <a:pPr algn="ctr"/>
            <a:r>
              <a:rPr lang="en-US" dirty="0"/>
              <a:t>… </a:t>
            </a:r>
          </a:p>
        </p:txBody>
      </p:sp>
      <mc:AlternateContent xmlns:mc="http://schemas.openxmlformats.org/markup-compatibility/2006" xmlns:a14="http://schemas.microsoft.com/office/drawing/2010/main">
        <mc:Choice Requires="a14">
          <p:sp>
            <p:nvSpPr>
              <p:cNvPr id="315" name="TextBox 314">
                <a:extLst>
                  <a:ext uri="{FF2B5EF4-FFF2-40B4-BE49-F238E27FC236}">
                    <a16:creationId xmlns:a16="http://schemas.microsoft.com/office/drawing/2014/main" id="{1D7A718F-C86B-4AD1-F925-8ADB33B282E4}"/>
                  </a:ext>
                </a:extLst>
              </p:cNvPr>
              <p:cNvSpPr txBox="1"/>
              <p:nvPr/>
            </p:nvSpPr>
            <p:spPr>
              <a:xfrm>
                <a:off x="8138749" y="6074996"/>
                <a:ext cx="1128931" cy="369332"/>
              </a:xfrm>
              <a:prstGeom prst="rect">
                <a:avLst/>
              </a:prstGeom>
              <a:noFill/>
            </p:spPr>
            <p:txBody>
              <a:bodyPr wrap="square" rtlCol="0">
                <a:spAutoFit/>
              </a:bodyPr>
              <a:lstStyle/>
              <a:p>
                <a:pPr algn="ctr"/>
                <a:r>
                  <a:rPr lang="en-US" dirty="0"/>
                  <a:t>Team </a:t>
                </a:r>
                <a14:m>
                  <m:oMath xmlns:m="http://schemas.openxmlformats.org/officeDocument/2006/math">
                    <m:r>
                      <a:rPr lang="en-US" i="1" dirty="0" smtClean="0">
                        <a:latin typeface="Cambria Math" panose="02040503050406030204" pitchFamily="18" charset="0"/>
                      </a:rPr>
                      <m:t>𝑛</m:t>
                    </m:r>
                  </m:oMath>
                </a14:m>
                <a:r>
                  <a:rPr lang="en-US" dirty="0"/>
                  <a:t> </a:t>
                </a:r>
              </a:p>
            </p:txBody>
          </p:sp>
        </mc:Choice>
        <mc:Fallback xmlns="">
          <p:sp>
            <p:nvSpPr>
              <p:cNvPr id="315" name="TextBox 314">
                <a:extLst>
                  <a:ext uri="{FF2B5EF4-FFF2-40B4-BE49-F238E27FC236}">
                    <a16:creationId xmlns:a16="http://schemas.microsoft.com/office/drawing/2014/main" id="{1D7A718F-C86B-4AD1-F925-8ADB33B282E4}"/>
                  </a:ext>
                </a:extLst>
              </p:cNvPr>
              <p:cNvSpPr txBox="1">
                <a:spLocks noRot="1" noChangeAspect="1" noMove="1" noResize="1" noEditPoints="1" noAdjustHandles="1" noChangeArrowheads="1" noChangeShapeType="1" noTextEdit="1"/>
              </p:cNvSpPr>
              <p:nvPr/>
            </p:nvSpPr>
            <p:spPr>
              <a:xfrm>
                <a:off x="8138749" y="6074996"/>
                <a:ext cx="1128931" cy="369332"/>
              </a:xfrm>
              <a:prstGeom prst="rect">
                <a:avLst/>
              </a:prstGeom>
              <a:blipFill>
                <a:blip r:embed="rId4"/>
                <a:stretch>
                  <a:fillRect t="-8333" b="-28333"/>
                </a:stretch>
              </a:blipFill>
            </p:spPr>
            <p:txBody>
              <a:bodyPr/>
              <a:lstStyle/>
              <a:p>
                <a:r>
                  <a:rPr lang="en-US">
                    <a:noFill/>
                  </a:rPr>
                  <a:t> </a:t>
                </a:r>
              </a:p>
            </p:txBody>
          </p:sp>
        </mc:Fallback>
      </mc:AlternateContent>
      <p:sp>
        <p:nvSpPr>
          <p:cNvPr id="316" name="TextBox 315">
            <a:extLst>
              <a:ext uri="{FF2B5EF4-FFF2-40B4-BE49-F238E27FC236}">
                <a16:creationId xmlns:a16="http://schemas.microsoft.com/office/drawing/2014/main" id="{12B2669D-D2E8-E52F-8CC5-7E550FCE5CBB}"/>
              </a:ext>
            </a:extLst>
          </p:cNvPr>
          <p:cNvSpPr txBox="1"/>
          <p:nvPr/>
        </p:nvSpPr>
        <p:spPr>
          <a:xfrm>
            <a:off x="6815359" y="6074996"/>
            <a:ext cx="1128931" cy="369332"/>
          </a:xfrm>
          <a:prstGeom prst="rect">
            <a:avLst/>
          </a:prstGeom>
          <a:noFill/>
        </p:spPr>
        <p:txBody>
          <a:bodyPr wrap="square" rtlCol="0">
            <a:spAutoFit/>
          </a:bodyPr>
          <a:lstStyle/>
          <a:p>
            <a:pPr algn="ctr"/>
            <a:r>
              <a:rPr lang="en-US" dirty="0"/>
              <a:t>… </a:t>
            </a:r>
          </a:p>
        </p:txBody>
      </p:sp>
      <p:grpSp>
        <p:nvGrpSpPr>
          <p:cNvPr id="317" name="Group 316">
            <a:extLst>
              <a:ext uri="{FF2B5EF4-FFF2-40B4-BE49-F238E27FC236}">
                <a16:creationId xmlns:a16="http://schemas.microsoft.com/office/drawing/2014/main" id="{7485999F-BAEE-F9DD-C18D-FDD7A02F7C62}"/>
              </a:ext>
            </a:extLst>
          </p:cNvPr>
          <p:cNvGrpSpPr/>
          <p:nvPr/>
        </p:nvGrpSpPr>
        <p:grpSpPr>
          <a:xfrm>
            <a:off x="3832907" y="4292433"/>
            <a:ext cx="228535" cy="526550"/>
            <a:chOff x="3170682" y="3146298"/>
            <a:chExt cx="511302" cy="1178052"/>
          </a:xfrm>
        </p:grpSpPr>
        <p:sp>
          <p:nvSpPr>
            <p:cNvPr id="318" name="Oval 317">
              <a:extLst>
                <a:ext uri="{FF2B5EF4-FFF2-40B4-BE49-F238E27FC236}">
                  <a16:creationId xmlns:a16="http://schemas.microsoft.com/office/drawing/2014/main" id="{F4B26B08-52F4-0C7F-ECEC-463759A2B557}"/>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9" name="Straight Connector 318">
              <a:extLst>
                <a:ext uri="{FF2B5EF4-FFF2-40B4-BE49-F238E27FC236}">
                  <a16:creationId xmlns:a16="http://schemas.microsoft.com/office/drawing/2014/main" id="{7CDF2B03-39B8-1F64-218A-48DAAEDB248E}"/>
                </a:ext>
              </a:extLst>
            </p:cNvPr>
            <p:cNvCxnSpPr>
              <a:stCxn id="318"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DA8D6B18-6E2E-D906-FAD3-5752385B173C}"/>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05919D51-3CD9-B1BF-4295-E285C093E4BF}"/>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2" name="Straight Connector 321">
              <a:extLst>
                <a:ext uri="{FF2B5EF4-FFF2-40B4-BE49-F238E27FC236}">
                  <a16:creationId xmlns:a16="http://schemas.microsoft.com/office/drawing/2014/main" id="{D645024D-0A28-9383-9242-8664A2CD9F7E}"/>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3" name="Straight Connector 322">
              <a:extLst>
                <a:ext uri="{FF2B5EF4-FFF2-40B4-BE49-F238E27FC236}">
                  <a16:creationId xmlns:a16="http://schemas.microsoft.com/office/drawing/2014/main" id="{8FAC2D20-E11E-1C0A-0BA0-CE3039BDA45D}"/>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24" name="Oval 323">
              <a:extLst>
                <a:ext uri="{FF2B5EF4-FFF2-40B4-BE49-F238E27FC236}">
                  <a16:creationId xmlns:a16="http://schemas.microsoft.com/office/drawing/2014/main" id="{5B2767FB-8739-D554-3D8C-B78A945D3DA0}"/>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Oval 324">
              <a:extLst>
                <a:ext uri="{FF2B5EF4-FFF2-40B4-BE49-F238E27FC236}">
                  <a16:creationId xmlns:a16="http://schemas.microsoft.com/office/drawing/2014/main" id="{34B9E162-7993-F1AD-30BC-751531406B98}"/>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Freeform: Shape 325">
              <a:extLst>
                <a:ext uri="{FF2B5EF4-FFF2-40B4-BE49-F238E27FC236}">
                  <a16:creationId xmlns:a16="http://schemas.microsoft.com/office/drawing/2014/main" id="{5F82F9BE-FD18-C23D-721E-C5357D91B863}"/>
                </a:ext>
              </a:extLst>
            </p:cNvPr>
            <p:cNvSpPr/>
            <p:nvPr/>
          </p:nvSpPr>
          <p:spPr>
            <a:xfrm rot="21414188">
              <a:off x="3343272" y="3390900"/>
              <a:ext cx="158115"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7" name="Group 326">
            <a:extLst>
              <a:ext uri="{FF2B5EF4-FFF2-40B4-BE49-F238E27FC236}">
                <a16:creationId xmlns:a16="http://schemas.microsoft.com/office/drawing/2014/main" id="{FF9E0E82-9BD0-A816-894A-D51710D275F2}"/>
              </a:ext>
            </a:extLst>
          </p:cNvPr>
          <p:cNvGrpSpPr/>
          <p:nvPr/>
        </p:nvGrpSpPr>
        <p:grpSpPr>
          <a:xfrm>
            <a:off x="4987609" y="4175311"/>
            <a:ext cx="228535" cy="526550"/>
            <a:chOff x="3170682" y="3146298"/>
            <a:chExt cx="511302" cy="1178052"/>
          </a:xfrm>
        </p:grpSpPr>
        <p:sp>
          <p:nvSpPr>
            <p:cNvPr id="328" name="Oval 327">
              <a:extLst>
                <a:ext uri="{FF2B5EF4-FFF2-40B4-BE49-F238E27FC236}">
                  <a16:creationId xmlns:a16="http://schemas.microsoft.com/office/drawing/2014/main" id="{F3735ABD-F17B-88F8-3A15-6244480D742F}"/>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9" name="Straight Connector 328">
              <a:extLst>
                <a:ext uri="{FF2B5EF4-FFF2-40B4-BE49-F238E27FC236}">
                  <a16:creationId xmlns:a16="http://schemas.microsoft.com/office/drawing/2014/main" id="{A570B8D3-CBB3-AF78-756B-64CD423E3A0A}"/>
                </a:ext>
              </a:extLst>
            </p:cNvPr>
            <p:cNvCxnSpPr>
              <a:stCxn id="328"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0" name="Straight Connector 329">
              <a:extLst>
                <a:ext uri="{FF2B5EF4-FFF2-40B4-BE49-F238E27FC236}">
                  <a16:creationId xmlns:a16="http://schemas.microsoft.com/office/drawing/2014/main" id="{6A14A865-6DBD-F57C-16BA-6A73A01969A9}"/>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7A451497-7A9F-721F-088F-3F8ABF899D86}"/>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2" name="Straight Connector 331">
              <a:extLst>
                <a:ext uri="{FF2B5EF4-FFF2-40B4-BE49-F238E27FC236}">
                  <a16:creationId xmlns:a16="http://schemas.microsoft.com/office/drawing/2014/main" id="{4F8F7CF2-1FEE-BB93-EB01-7AED7447FC03}"/>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3" name="Straight Connector 332">
              <a:extLst>
                <a:ext uri="{FF2B5EF4-FFF2-40B4-BE49-F238E27FC236}">
                  <a16:creationId xmlns:a16="http://schemas.microsoft.com/office/drawing/2014/main" id="{27118DE9-628A-0D41-6AC9-C5C9FD9A3F1D}"/>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34" name="Oval 333">
              <a:extLst>
                <a:ext uri="{FF2B5EF4-FFF2-40B4-BE49-F238E27FC236}">
                  <a16:creationId xmlns:a16="http://schemas.microsoft.com/office/drawing/2014/main" id="{16032310-29B8-661F-C6EF-ED41D84DC63F}"/>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Oval 334">
              <a:extLst>
                <a:ext uri="{FF2B5EF4-FFF2-40B4-BE49-F238E27FC236}">
                  <a16:creationId xmlns:a16="http://schemas.microsoft.com/office/drawing/2014/main" id="{811FCC26-4CD0-F9F4-2015-CB82A4687E9E}"/>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Freeform: Shape 335">
              <a:extLst>
                <a:ext uri="{FF2B5EF4-FFF2-40B4-BE49-F238E27FC236}">
                  <a16:creationId xmlns:a16="http://schemas.microsoft.com/office/drawing/2014/main" id="{11620D7B-2F2A-A1F8-6206-9D17DF5E6888}"/>
                </a:ext>
              </a:extLst>
            </p:cNvPr>
            <p:cNvSpPr/>
            <p:nvPr/>
          </p:nvSpPr>
          <p:spPr>
            <a:xfrm rot="21414188">
              <a:off x="3343272" y="3390900"/>
              <a:ext cx="158115"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7" name="Group 336">
            <a:extLst>
              <a:ext uri="{FF2B5EF4-FFF2-40B4-BE49-F238E27FC236}">
                <a16:creationId xmlns:a16="http://schemas.microsoft.com/office/drawing/2014/main" id="{8FCEC1F6-C25F-B737-9973-87D9AE648865}"/>
              </a:ext>
            </a:extLst>
          </p:cNvPr>
          <p:cNvGrpSpPr/>
          <p:nvPr/>
        </p:nvGrpSpPr>
        <p:grpSpPr>
          <a:xfrm>
            <a:off x="5776589" y="4227503"/>
            <a:ext cx="228535" cy="526550"/>
            <a:chOff x="3170682" y="3146298"/>
            <a:chExt cx="511302" cy="1178052"/>
          </a:xfrm>
        </p:grpSpPr>
        <p:sp>
          <p:nvSpPr>
            <p:cNvPr id="338" name="Oval 337">
              <a:extLst>
                <a:ext uri="{FF2B5EF4-FFF2-40B4-BE49-F238E27FC236}">
                  <a16:creationId xmlns:a16="http://schemas.microsoft.com/office/drawing/2014/main" id="{15B3CF2F-B456-E7C5-8739-BEE6F0F1C250}"/>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9" name="Straight Connector 338">
              <a:extLst>
                <a:ext uri="{FF2B5EF4-FFF2-40B4-BE49-F238E27FC236}">
                  <a16:creationId xmlns:a16="http://schemas.microsoft.com/office/drawing/2014/main" id="{0139D54A-2082-4FE1-95C9-6697E4C6F5FC}"/>
                </a:ext>
              </a:extLst>
            </p:cNvPr>
            <p:cNvCxnSpPr>
              <a:stCxn id="338"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0" name="Straight Connector 339">
              <a:extLst>
                <a:ext uri="{FF2B5EF4-FFF2-40B4-BE49-F238E27FC236}">
                  <a16:creationId xmlns:a16="http://schemas.microsoft.com/office/drawing/2014/main" id="{470FEAB9-D222-E90E-D7AF-556BDBC301AC}"/>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1" name="Straight Connector 340">
              <a:extLst>
                <a:ext uri="{FF2B5EF4-FFF2-40B4-BE49-F238E27FC236}">
                  <a16:creationId xmlns:a16="http://schemas.microsoft.com/office/drawing/2014/main" id="{0EC637DA-EBF0-971B-82D4-3998C93A6A7C}"/>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2" name="Straight Connector 341">
              <a:extLst>
                <a:ext uri="{FF2B5EF4-FFF2-40B4-BE49-F238E27FC236}">
                  <a16:creationId xmlns:a16="http://schemas.microsoft.com/office/drawing/2014/main" id="{2B0C9425-6039-7CD4-D6FA-E69A0FB7F482}"/>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3" name="Straight Connector 342">
              <a:extLst>
                <a:ext uri="{FF2B5EF4-FFF2-40B4-BE49-F238E27FC236}">
                  <a16:creationId xmlns:a16="http://schemas.microsoft.com/office/drawing/2014/main" id="{BF2DC0AB-3290-9A29-AEA0-FF0BFAD62AA5}"/>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4" name="Oval 343">
              <a:extLst>
                <a:ext uri="{FF2B5EF4-FFF2-40B4-BE49-F238E27FC236}">
                  <a16:creationId xmlns:a16="http://schemas.microsoft.com/office/drawing/2014/main" id="{5FFD05FD-37E9-2542-3730-4257D549C950}"/>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Oval 344">
              <a:extLst>
                <a:ext uri="{FF2B5EF4-FFF2-40B4-BE49-F238E27FC236}">
                  <a16:creationId xmlns:a16="http://schemas.microsoft.com/office/drawing/2014/main" id="{826D1A66-2A89-4B8A-7C1B-F9647A9E1EE0}"/>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Freeform: Shape 345">
              <a:extLst>
                <a:ext uri="{FF2B5EF4-FFF2-40B4-BE49-F238E27FC236}">
                  <a16:creationId xmlns:a16="http://schemas.microsoft.com/office/drawing/2014/main" id="{5CE8E997-AEAD-EFAD-0F80-BCDBD531E08E}"/>
                </a:ext>
              </a:extLst>
            </p:cNvPr>
            <p:cNvSpPr/>
            <p:nvPr/>
          </p:nvSpPr>
          <p:spPr>
            <a:xfrm rot="21414188">
              <a:off x="3343272" y="3390900"/>
              <a:ext cx="158115"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7" name="Group 346">
            <a:extLst>
              <a:ext uri="{FF2B5EF4-FFF2-40B4-BE49-F238E27FC236}">
                <a16:creationId xmlns:a16="http://schemas.microsoft.com/office/drawing/2014/main" id="{7B6A98AA-A3C8-55BA-47D6-12006C03DE11}"/>
              </a:ext>
            </a:extLst>
          </p:cNvPr>
          <p:cNvGrpSpPr/>
          <p:nvPr/>
        </p:nvGrpSpPr>
        <p:grpSpPr>
          <a:xfrm>
            <a:off x="7893766" y="4029158"/>
            <a:ext cx="228535" cy="526550"/>
            <a:chOff x="3170682" y="3146298"/>
            <a:chExt cx="511302" cy="1178052"/>
          </a:xfrm>
        </p:grpSpPr>
        <p:sp>
          <p:nvSpPr>
            <p:cNvPr id="348" name="Oval 347">
              <a:extLst>
                <a:ext uri="{FF2B5EF4-FFF2-40B4-BE49-F238E27FC236}">
                  <a16:creationId xmlns:a16="http://schemas.microsoft.com/office/drawing/2014/main" id="{65087CF4-6FD4-335E-3AFC-7BB3F7194805}"/>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9" name="Straight Connector 348">
              <a:extLst>
                <a:ext uri="{FF2B5EF4-FFF2-40B4-BE49-F238E27FC236}">
                  <a16:creationId xmlns:a16="http://schemas.microsoft.com/office/drawing/2014/main" id="{F40E2A2C-1149-C415-8137-798B5BB84D1F}"/>
                </a:ext>
              </a:extLst>
            </p:cNvPr>
            <p:cNvCxnSpPr>
              <a:stCxn id="348"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0" name="Straight Connector 349">
              <a:extLst>
                <a:ext uri="{FF2B5EF4-FFF2-40B4-BE49-F238E27FC236}">
                  <a16:creationId xmlns:a16="http://schemas.microsoft.com/office/drawing/2014/main" id="{4468C159-8A6E-2D8B-26C4-D71A3409E14D}"/>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1" name="Straight Connector 350">
              <a:extLst>
                <a:ext uri="{FF2B5EF4-FFF2-40B4-BE49-F238E27FC236}">
                  <a16:creationId xmlns:a16="http://schemas.microsoft.com/office/drawing/2014/main" id="{F719E784-E2AE-002E-7727-91FF67B1689C}"/>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9A17779A-82F1-4F26-C9F2-821F09F39992}"/>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3" name="Straight Connector 352">
              <a:extLst>
                <a:ext uri="{FF2B5EF4-FFF2-40B4-BE49-F238E27FC236}">
                  <a16:creationId xmlns:a16="http://schemas.microsoft.com/office/drawing/2014/main" id="{156E960A-D05A-0C07-0DAF-67B240B58B55}"/>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54" name="Oval 353">
              <a:extLst>
                <a:ext uri="{FF2B5EF4-FFF2-40B4-BE49-F238E27FC236}">
                  <a16:creationId xmlns:a16="http://schemas.microsoft.com/office/drawing/2014/main" id="{185895AB-DEB9-56C4-19F1-7ED6078B44BB}"/>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Oval 354">
              <a:extLst>
                <a:ext uri="{FF2B5EF4-FFF2-40B4-BE49-F238E27FC236}">
                  <a16:creationId xmlns:a16="http://schemas.microsoft.com/office/drawing/2014/main" id="{C1926B3D-77E1-4AF4-73C3-AA8B4C39F98A}"/>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Freeform: Shape 355">
              <a:extLst>
                <a:ext uri="{FF2B5EF4-FFF2-40B4-BE49-F238E27FC236}">
                  <a16:creationId xmlns:a16="http://schemas.microsoft.com/office/drawing/2014/main" id="{0985A00D-747F-F1D3-DF6B-35B58354CA08}"/>
                </a:ext>
              </a:extLst>
            </p:cNvPr>
            <p:cNvSpPr/>
            <p:nvPr/>
          </p:nvSpPr>
          <p:spPr>
            <a:xfrm rot="21414188">
              <a:off x="3343272" y="3390900"/>
              <a:ext cx="158115"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7" name="Group 356">
            <a:extLst>
              <a:ext uri="{FF2B5EF4-FFF2-40B4-BE49-F238E27FC236}">
                <a16:creationId xmlns:a16="http://schemas.microsoft.com/office/drawing/2014/main" id="{3E36C775-C064-9886-013C-4398D873653C}"/>
              </a:ext>
            </a:extLst>
          </p:cNvPr>
          <p:cNvGrpSpPr/>
          <p:nvPr/>
        </p:nvGrpSpPr>
        <p:grpSpPr>
          <a:xfrm>
            <a:off x="6996331" y="4253012"/>
            <a:ext cx="228535" cy="526550"/>
            <a:chOff x="3170682" y="3146298"/>
            <a:chExt cx="511302" cy="1178052"/>
          </a:xfrm>
        </p:grpSpPr>
        <p:sp>
          <p:nvSpPr>
            <p:cNvPr id="358" name="Oval 357">
              <a:extLst>
                <a:ext uri="{FF2B5EF4-FFF2-40B4-BE49-F238E27FC236}">
                  <a16:creationId xmlns:a16="http://schemas.microsoft.com/office/drawing/2014/main" id="{1AABD996-CADA-7C5A-126E-3087DB260705}"/>
                </a:ext>
              </a:extLst>
            </p:cNvPr>
            <p:cNvSpPr/>
            <p:nvPr/>
          </p:nvSpPr>
          <p:spPr>
            <a:xfrm>
              <a:off x="3249168" y="3146298"/>
              <a:ext cx="353568" cy="35356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9" name="Straight Connector 358">
              <a:extLst>
                <a:ext uri="{FF2B5EF4-FFF2-40B4-BE49-F238E27FC236}">
                  <a16:creationId xmlns:a16="http://schemas.microsoft.com/office/drawing/2014/main" id="{6A736332-F9E3-483A-914E-7DA22F81DF25}"/>
                </a:ext>
              </a:extLst>
            </p:cNvPr>
            <p:cNvCxnSpPr>
              <a:stCxn id="358" idx="4"/>
            </p:cNvCxnSpPr>
            <p:nvPr/>
          </p:nvCxnSpPr>
          <p:spPr>
            <a:xfrm flipH="1">
              <a:off x="3413760" y="3499866"/>
              <a:ext cx="12192" cy="429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0" name="Straight Connector 359">
              <a:extLst>
                <a:ext uri="{FF2B5EF4-FFF2-40B4-BE49-F238E27FC236}">
                  <a16:creationId xmlns:a16="http://schemas.microsoft.com/office/drawing/2014/main" id="{B1ECC1DD-D1A5-D323-38BE-25923B9A6F83}"/>
                </a:ext>
              </a:extLst>
            </p:cNvPr>
            <p:cNvCxnSpPr>
              <a:cxnSpLocks/>
            </p:cNvCxnSpPr>
            <p:nvPr/>
          </p:nvCxnSpPr>
          <p:spPr>
            <a:xfrm flipH="1">
              <a:off x="3170682" y="3613263"/>
              <a:ext cx="255270"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1" name="Straight Connector 360">
              <a:extLst>
                <a:ext uri="{FF2B5EF4-FFF2-40B4-BE49-F238E27FC236}">
                  <a16:creationId xmlns:a16="http://schemas.microsoft.com/office/drawing/2014/main" id="{69B1A491-D854-A982-D908-CEB8308788FB}"/>
                </a:ext>
              </a:extLst>
            </p:cNvPr>
            <p:cNvCxnSpPr>
              <a:cxnSpLocks/>
            </p:cNvCxnSpPr>
            <p:nvPr/>
          </p:nvCxnSpPr>
          <p:spPr>
            <a:xfrm>
              <a:off x="3425952" y="3613263"/>
              <a:ext cx="256032" cy="168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2" name="Straight Connector 361">
              <a:extLst>
                <a:ext uri="{FF2B5EF4-FFF2-40B4-BE49-F238E27FC236}">
                  <a16:creationId xmlns:a16="http://schemas.microsoft.com/office/drawing/2014/main" id="{6A255E9A-01C9-BCAC-0BF1-4A453463B300}"/>
                </a:ext>
              </a:extLst>
            </p:cNvPr>
            <p:cNvCxnSpPr>
              <a:cxnSpLocks/>
            </p:cNvCxnSpPr>
            <p:nvPr/>
          </p:nvCxnSpPr>
          <p:spPr>
            <a:xfrm flipH="1">
              <a:off x="3230253" y="3929634"/>
              <a:ext cx="183507"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6F73CBFC-38C1-8E93-A94D-52D89F3C9448}"/>
                </a:ext>
              </a:extLst>
            </p:cNvPr>
            <p:cNvCxnSpPr>
              <a:cxnSpLocks/>
            </p:cNvCxnSpPr>
            <p:nvPr/>
          </p:nvCxnSpPr>
          <p:spPr>
            <a:xfrm>
              <a:off x="3413760" y="3929634"/>
              <a:ext cx="152400" cy="394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64" name="Oval 363">
              <a:extLst>
                <a:ext uri="{FF2B5EF4-FFF2-40B4-BE49-F238E27FC236}">
                  <a16:creationId xmlns:a16="http://schemas.microsoft.com/office/drawing/2014/main" id="{55995FA1-C442-6AFF-3CD0-AEC7924D1386}"/>
                </a:ext>
              </a:extLst>
            </p:cNvPr>
            <p:cNvSpPr/>
            <p:nvPr/>
          </p:nvSpPr>
          <p:spPr>
            <a:xfrm>
              <a:off x="3330234"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Oval 364">
              <a:extLst>
                <a:ext uri="{FF2B5EF4-FFF2-40B4-BE49-F238E27FC236}">
                  <a16:creationId xmlns:a16="http://schemas.microsoft.com/office/drawing/2014/main" id="{2E43ED8A-6171-F19C-A403-D9AFDEDEB01F}"/>
                </a:ext>
              </a:extLst>
            </p:cNvPr>
            <p:cNvSpPr/>
            <p:nvPr/>
          </p:nvSpPr>
          <p:spPr>
            <a:xfrm>
              <a:off x="3485928" y="3259749"/>
              <a:ext cx="27432" cy="2743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Freeform: Shape 365">
              <a:extLst>
                <a:ext uri="{FF2B5EF4-FFF2-40B4-BE49-F238E27FC236}">
                  <a16:creationId xmlns:a16="http://schemas.microsoft.com/office/drawing/2014/main" id="{6C19BA85-C387-03AE-99E4-047C9467E9C1}"/>
                </a:ext>
              </a:extLst>
            </p:cNvPr>
            <p:cNvSpPr/>
            <p:nvPr/>
          </p:nvSpPr>
          <p:spPr>
            <a:xfrm rot="21414188">
              <a:off x="3343272" y="3390900"/>
              <a:ext cx="158115" cy="45719"/>
            </a:xfrm>
            <a:custGeom>
              <a:avLst/>
              <a:gdLst>
                <a:gd name="connsiteX0" fmla="*/ 0 w 158115"/>
                <a:gd name="connsiteY0" fmla="*/ 0 h 45858"/>
                <a:gd name="connsiteX1" fmla="*/ 78105 w 158115"/>
                <a:gd name="connsiteY1" fmla="*/ 45720 h 45858"/>
                <a:gd name="connsiteX2" fmla="*/ 158115 w 158115"/>
                <a:gd name="connsiteY2" fmla="*/ 11430 h 45858"/>
              </a:gdLst>
              <a:ahLst/>
              <a:cxnLst>
                <a:cxn ang="0">
                  <a:pos x="connsiteX0" y="connsiteY0"/>
                </a:cxn>
                <a:cxn ang="0">
                  <a:pos x="connsiteX1" y="connsiteY1"/>
                </a:cxn>
                <a:cxn ang="0">
                  <a:pos x="connsiteX2" y="connsiteY2"/>
                </a:cxn>
              </a:cxnLst>
              <a:rect l="l" t="t" r="r" b="b"/>
              <a:pathLst>
                <a:path w="158115" h="45858">
                  <a:moveTo>
                    <a:pt x="0" y="0"/>
                  </a:moveTo>
                  <a:cubicBezTo>
                    <a:pt x="25876" y="21907"/>
                    <a:pt x="51753" y="43815"/>
                    <a:pt x="78105" y="45720"/>
                  </a:cubicBezTo>
                  <a:cubicBezTo>
                    <a:pt x="104457" y="47625"/>
                    <a:pt x="131286" y="29527"/>
                    <a:pt x="158115" y="1143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7" name="TextBox 366">
            <a:extLst>
              <a:ext uri="{FF2B5EF4-FFF2-40B4-BE49-F238E27FC236}">
                <a16:creationId xmlns:a16="http://schemas.microsoft.com/office/drawing/2014/main" id="{FA8ED870-F0D2-9F93-EC27-0BD54B74D8AB}"/>
              </a:ext>
            </a:extLst>
          </p:cNvPr>
          <p:cNvSpPr txBox="1"/>
          <p:nvPr/>
        </p:nvSpPr>
        <p:spPr>
          <a:xfrm>
            <a:off x="688963" y="4157003"/>
            <a:ext cx="1902572" cy="461665"/>
          </a:xfrm>
          <a:prstGeom prst="rect">
            <a:avLst/>
          </a:prstGeom>
          <a:noFill/>
        </p:spPr>
        <p:txBody>
          <a:bodyPr wrap="none" rtlCol="0">
            <a:spAutoFit/>
          </a:bodyPr>
          <a:lstStyle/>
          <a:p>
            <a:r>
              <a:rPr lang="en-US" sz="2400" dirty="0">
                <a:solidFill>
                  <a:schemeClr val="tx2">
                    <a:lumMod val="75000"/>
                    <a:lumOff val="25000"/>
                  </a:schemeClr>
                </a:solidFill>
                <a:sym typeface="Wingdings" panose="05000000000000000000" pitchFamily="2" charset="2"/>
              </a:rPr>
              <a:t>A</a:t>
            </a:r>
            <a:r>
              <a:rPr lang="en-US" sz="2400" dirty="0">
                <a:solidFill>
                  <a:schemeClr val="tx2">
                    <a:lumMod val="75000"/>
                    <a:lumOff val="25000"/>
                  </a:schemeClr>
                </a:solidFill>
              </a:rPr>
              <a:t>rchitects </a:t>
            </a:r>
            <a:r>
              <a:rPr lang="en-US" sz="2400" dirty="0">
                <a:solidFill>
                  <a:schemeClr val="tx2">
                    <a:lumMod val="75000"/>
                    <a:lumOff val="25000"/>
                  </a:schemeClr>
                </a:solidFill>
                <a:sym typeface="Wingdings" panose="05000000000000000000" pitchFamily="2" charset="2"/>
              </a:rPr>
              <a:t></a:t>
            </a:r>
            <a:endParaRPr lang="en-US" sz="2400" dirty="0">
              <a:solidFill>
                <a:schemeClr val="tx2">
                  <a:lumMod val="75000"/>
                  <a:lumOff val="25000"/>
                </a:schemeClr>
              </a:solidFill>
            </a:endParaRPr>
          </a:p>
        </p:txBody>
      </p:sp>
      <p:sp>
        <p:nvSpPr>
          <p:cNvPr id="368" name="Freeform: Shape 367">
            <a:extLst>
              <a:ext uri="{FF2B5EF4-FFF2-40B4-BE49-F238E27FC236}">
                <a16:creationId xmlns:a16="http://schemas.microsoft.com/office/drawing/2014/main" id="{3A05D233-6897-4325-9D35-1DAB8FFF1BA1}"/>
              </a:ext>
            </a:extLst>
          </p:cNvPr>
          <p:cNvSpPr/>
          <p:nvPr/>
        </p:nvSpPr>
        <p:spPr>
          <a:xfrm>
            <a:off x="7723138" y="3656236"/>
            <a:ext cx="1596708" cy="2395409"/>
          </a:xfrm>
          <a:custGeom>
            <a:avLst/>
            <a:gdLst>
              <a:gd name="connsiteX0" fmla="*/ 27 w 1596708"/>
              <a:gd name="connsiteY0" fmla="*/ 205346 h 2395409"/>
              <a:gd name="connsiteX1" fmla="*/ 292496 w 1596708"/>
              <a:gd name="connsiteY1" fmla="*/ 1555844 h 2395409"/>
              <a:gd name="connsiteX2" fmla="*/ 577269 w 1596708"/>
              <a:gd name="connsiteY2" fmla="*/ 2364736 h 2395409"/>
              <a:gd name="connsiteX3" fmla="*/ 1593216 w 1596708"/>
              <a:gd name="connsiteY3" fmla="*/ 2125586 h 2395409"/>
              <a:gd name="connsiteX4" fmla="*/ 900525 w 1596708"/>
              <a:gd name="connsiteY4" fmla="*/ 1190084 h 2395409"/>
              <a:gd name="connsiteX5" fmla="*/ 623448 w 1596708"/>
              <a:gd name="connsiteY5" fmla="*/ 444496 h 2395409"/>
              <a:gd name="connsiteX6" fmla="*/ 277103 w 1596708"/>
              <a:gd name="connsiteY6" fmla="*/ 29499 h 2395409"/>
              <a:gd name="connsiteX7" fmla="*/ 27 w 1596708"/>
              <a:gd name="connsiteY7" fmla="*/ 205346 h 239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6708" h="2395409" extrusionOk="0">
                <a:moveTo>
                  <a:pt x="27" y="205346"/>
                </a:moveTo>
                <a:cubicBezTo>
                  <a:pt x="31444" y="411893"/>
                  <a:pt x="189286" y="1172823"/>
                  <a:pt x="292496" y="1555844"/>
                </a:cubicBezTo>
                <a:cubicBezTo>
                  <a:pt x="439378" y="1915601"/>
                  <a:pt x="358003" y="2229367"/>
                  <a:pt x="577269" y="2364736"/>
                </a:cubicBezTo>
                <a:cubicBezTo>
                  <a:pt x="788560" y="2459720"/>
                  <a:pt x="1587945" y="2333454"/>
                  <a:pt x="1593216" y="2125586"/>
                </a:cubicBezTo>
                <a:cubicBezTo>
                  <a:pt x="1632164" y="1962816"/>
                  <a:pt x="1012204" y="1452739"/>
                  <a:pt x="900525" y="1190084"/>
                </a:cubicBezTo>
                <a:cubicBezTo>
                  <a:pt x="684261" y="900263"/>
                  <a:pt x="737605" y="625010"/>
                  <a:pt x="623448" y="444496"/>
                </a:cubicBezTo>
                <a:cubicBezTo>
                  <a:pt x="513144" y="247814"/>
                  <a:pt x="376450" y="72561"/>
                  <a:pt x="277103" y="29499"/>
                </a:cubicBezTo>
                <a:cubicBezTo>
                  <a:pt x="179813" y="-58514"/>
                  <a:pt x="10863" y="-53510"/>
                  <a:pt x="27" y="205346"/>
                </a:cubicBezTo>
                <a:close/>
              </a:path>
            </a:pathLst>
          </a:custGeom>
          <a:noFill/>
          <a:ln w="12700">
            <a:prstDash val="sysDot"/>
            <a:extLst>
              <a:ext uri="{C807C97D-BFC1-408E-A445-0C87EB9F89A2}">
                <ask:lineSketchStyleProps xmlns:ask="http://schemas.microsoft.com/office/drawing/2018/sketchyshapes" sd="3471203720">
                  <a:custGeom>
                    <a:avLst/>
                    <a:gdLst>
                      <a:gd name="connsiteX0" fmla="*/ 25 w 1459222"/>
                      <a:gd name="connsiteY0" fmla="*/ 205346 h 2395409"/>
                      <a:gd name="connsiteX1" fmla="*/ 267311 w 1459222"/>
                      <a:gd name="connsiteY1" fmla="*/ 1555844 h 2395409"/>
                      <a:gd name="connsiteX2" fmla="*/ 527563 w 1459222"/>
                      <a:gd name="connsiteY2" fmla="*/ 2364736 h 2395409"/>
                      <a:gd name="connsiteX3" fmla="*/ 1456031 w 1459222"/>
                      <a:gd name="connsiteY3" fmla="*/ 2125586 h 2395409"/>
                      <a:gd name="connsiteX4" fmla="*/ 822985 w 1459222"/>
                      <a:gd name="connsiteY4" fmla="*/ 1190084 h 2395409"/>
                      <a:gd name="connsiteX5" fmla="*/ 569766 w 1459222"/>
                      <a:gd name="connsiteY5" fmla="*/ 444496 h 2395409"/>
                      <a:gd name="connsiteX6" fmla="*/ 253243 w 1459222"/>
                      <a:gd name="connsiteY6" fmla="*/ 29499 h 2395409"/>
                      <a:gd name="connsiteX7" fmla="*/ 25 w 1459222"/>
                      <a:gd name="connsiteY7" fmla="*/ 205346 h 239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9222" h="2395409">
                        <a:moveTo>
                          <a:pt x="25" y="205346"/>
                        </a:moveTo>
                        <a:cubicBezTo>
                          <a:pt x="2370" y="459737"/>
                          <a:pt x="179388" y="1195946"/>
                          <a:pt x="267311" y="1555844"/>
                        </a:cubicBezTo>
                        <a:cubicBezTo>
                          <a:pt x="355234" y="1915742"/>
                          <a:pt x="329443" y="2269779"/>
                          <a:pt x="527563" y="2364736"/>
                        </a:cubicBezTo>
                        <a:cubicBezTo>
                          <a:pt x="725683" y="2459693"/>
                          <a:pt x="1406794" y="2321361"/>
                          <a:pt x="1456031" y="2125586"/>
                        </a:cubicBezTo>
                        <a:cubicBezTo>
                          <a:pt x="1505268" y="1929811"/>
                          <a:pt x="970696" y="1470266"/>
                          <a:pt x="822985" y="1190084"/>
                        </a:cubicBezTo>
                        <a:cubicBezTo>
                          <a:pt x="675274" y="909902"/>
                          <a:pt x="664723" y="637927"/>
                          <a:pt x="569766" y="444496"/>
                        </a:cubicBezTo>
                        <a:cubicBezTo>
                          <a:pt x="474809" y="251065"/>
                          <a:pt x="349372" y="70530"/>
                          <a:pt x="253243" y="29499"/>
                        </a:cubicBezTo>
                        <a:cubicBezTo>
                          <a:pt x="157114" y="-11532"/>
                          <a:pt x="-2320" y="-49045"/>
                          <a:pt x="25" y="205346"/>
                        </a:cubicBezTo>
                        <a:close/>
                      </a:path>
                    </a:pathLst>
                  </a:cu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Freeform: Shape 369">
            <a:extLst>
              <a:ext uri="{FF2B5EF4-FFF2-40B4-BE49-F238E27FC236}">
                <a16:creationId xmlns:a16="http://schemas.microsoft.com/office/drawing/2014/main" id="{C3857EE3-634F-0CDD-D91C-8602855EC930}"/>
              </a:ext>
            </a:extLst>
          </p:cNvPr>
          <p:cNvSpPr/>
          <p:nvPr/>
        </p:nvSpPr>
        <p:spPr>
          <a:xfrm>
            <a:off x="6727879" y="4106334"/>
            <a:ext cx="1231173" cy="1891272"/>
          </a:xfrm>
          <a:custGeom>
            <a:avLst/>
            <a:gdLst>
              <a:gd name="connsiteX0" fmla="*/ 83005 w 1231173"/>
              <a:gd name="connsiteY0" fmla="*/ 1557866 h 1891272"/>
              <a:gd name="connsiteX1" fmla="*/ 616647 w 1231173"/>
              <a:gd name="connsiteY1" fmla="*/ 1888066 h 1891272"/>
              <a:gd name="connsiteX2" fmla="*/ 1211682 w 1231173"/>
              <a:gd name="connsiteY2" fmla="*/ 1679786 h 1891272"/>
              <a:gd name="connsiteX3" fmla="*/ 1051117 w 1231173"/>
              <a:gd name="connsiteY3" fmla="*/ 978746 h 1891272"/>
              <a:gd name="connsiteX4" fmla="*/ 692207 w 1231173"/>
              <a:gd name="connsiteY4" fmla="*/ 480906 h 1891272"/>
              <a:gd name="connsiteX5" fmla="*/ 536365 w 1231173"/>
              <a:gd name="connsiteY5" fmla="*/ 64346 h 1891272"/>
              <a:gd name="connsiteX6" fmla="*/ 290795 w 1231173"/>
              <a:gd name="connsiteY6" fmla="*/ 94826 h 1891272"/>
              <a:gd name="connsiteX7" fmla="*/ 21612 w 1231173"/>
              <a:gd name="connsiteY7" fmla="*/ 948266 h 1891272"/>
              <a:gd name="connsiteX8" fmla="*/ 83005 w 1231173"/>
              <a:gd name="connsiteY8" fmla="*/ 1557866 h 189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1173" h="1891272" extrusionOk="0">
                <a:moveTo>
                  <a:pt x="83005" y="1557866"/>
                </a:moveTo>
                <a:cubicBezTo>
                  <a:pt x="182310" y="1752048"/>
                  <a:pt x="461236" y="1878568"/>
                  <a:pt x="616647" y="1888066"/>
                </a:cubicBezTo>
                <a:cubicBezTo>
                  <a:pt x="809746" y="1902435"/>
                  <a:pt x="1105428" y="1795886"/>
                  <a:pt x="1211682" y="1679786"/>
                </a:cubicBezTo>
                <a:cubicBezTo>
                  <a:pt x="1331626" y="1552430"/>
                  <a:pt x="1187161" y="1175267"/>
                  <a:pt x="1051117" y="978746"/>
                </a:cubicBezTo>
                <a:cubicBezTo>
                  <a:pt x="972482" y="764740"/>
                  <a:pt x="781312" y="661146"/>
                  <a:pt x="692207" y="480906"/>
                </a:cubicBezTo>
                <a:cubicBezTo>
                  <a:pt x="605446" y="332537"/>
                  <a:pt x="606133" y="131027"/>
                  <a:pt x="536365" y="64346"/>
                </a:cubicBezTo>
                <a:cubicBezTo>
                  <a:pt x="465404" y="-3347"/>
                  <a:pt x="371780" y="-54684"/>
                  <a:pt x="290795" y="94826"/>
                </a:cubicBezTo>
                <a:cubicBezTo>
                  <a:pt x="167626" y="281131"/>
                  <a:pt x="87063" y="663393"/>
                  <a:pt x="21612" y="948266"/>
                </a:cubicBezTo>
                <a:cubicBezTo>
                  <a:pt x="-24596" y="1200230"/>
                  <a:pt x="-26456" y="1400664"/>
                  <a:pt x="83005" y="1557866"/>
                </a:cubicBezTo>
                <a:close/>
              </a:path>
            </a:pathLst>
          </a:custGeom>
          <a:noFill/>
          <a:ln w="12700">
            <a:prstDash val="sysDot"/>
            <a:extLst>
              <a:ext uri="{C807C97D-BFC1-408E-A445-0C87EB9F89A2}">
                <ask:lineSketchStyleProps xmlns:ask="http://schemas.microsoft.com/office/drawing/2018/sketchyshapes" sd="3500624371">
                  <a:custGeom>
                    <a:avLst/>
                    <a:gdLst>
                      <a:gd name="connsiteX0" fmla="*/ 89289 w 1324375"/>
                      <a:gd name="connsiteY0" fmla="*/ 1557866 h 1891272"/>
                      <a:gd name="connsiteX1" fmla="*/ 663329 w 1324375"/>
                      <a:gd name="connsiteY1" fmla="*/ 1888066 h 1891272"/>
                      <a:gd name="connsiteX2" fmla="*/ 1303409 w 1324375"/>
                      <a:gd name="connsiteY2" fmla="*/ 1679786 h 1891272"/>
                      <a:gd name="connsiteX3" fmla="*/ 1130689 w 1324375"/>
                      <a:gd name="connsiteY3" fmla="*/ 978746 h 1891272"/>
                      <a:gd name="connsiteX4" fmla="*/ 744609 w 1324375"/>
                      <a:gd name="connsiteY4" fmla="*/ 480906 h 1891272"/>
                      <a:gd name="connsiteX5" fmla="*/ 576969 w 1324375"/>
                      <a:gd name="connsiteY5" fmla="*/ 64346 h 1891272"/>
                      <a:gd name="connsiteX6" fmla="*/ 312809 w 1324375"/>
                      <a:gd name="connsiteY6" fmla="*/ 94826 h 1891272"/>
                      <a:gd name="connsiteX7" fmla="*/ 23249 w 1324375"/>
                      <a:gd name="connsiteY7" fmla="*/ 948266 h 1891272"/>
                      <a:gd name="connsiteX8" fmla="*/ 89289 w 1324375"/>
                      <a:gd name="connsiteY8" fmla="*/ 1557866 h 189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4375" h="1891272">
                        <a:moveTo>
                          <a:pt x="89289" y="1557866"/>
                        </a:moveTo>
                        <a:cubicBezTo>
                          <a:pt x="195969" y="1714499"/>
                          <a:pt x="460976" y="1867746"/>
                          <a:pt x="663329" y="1888066"/>
                        </a:cubicBezTo>
                        <a:cubicBezTo>
                          <a:pt x="865682" y="1908386"/>
                          <a:pt x="1225516" y="1831339"/>
                          <a:pt x="1303409" y="1679786"/>
                        </a:cubicBezTo>
                        <a:cubicBezTo>
                          <a:pt x="1381302" y="1528233"/>
                          <a:pt x="1223822" y="1178559"/>
                          <a:pt x="1130689" y="978746"/>
                        </a:cubicBezTo>
                        <a:cubicBezTo>
                          <a:pt x="1037556" y="778933"/>
                          <a:pt x="836896" y="633306"/>
                          <a:pt x="744609" y="480906"/>
                        </a:cubicBezTo>
                        <a:cubicBezTo>
                          <a:pt x="652322" y="328506"/>
                          <a:pt x="648936" y="128693"/>
                          <a:pt x="576969" y="64346"/>
                        </a:cubicBezTo>
                        <a:cubicBezTo>
                          <a:pt x="505002" y="-1"/>
                          <a:pt x="405096" y="-52494"/>
                          <a:pt x="312809" y="94826"/>
                        </a:cubicBezTo>
                        <a:cubicBezTo>
                          <a:pt x="220522" y="242146"/>
                          <a:pt x="59656" y="701886"/>
                          <a:pt x="23249" y="948266"/>
                        </a:cubicBezTo>
                        <a:cubicBezTo>
                          <a:pt x="-13158" y="1194646"/>
                          <a:pt x="-17391" y="1401233"/>
                          <a:pt x="89289" y="1557866"/>
                        </a:cubicBezTo>
                        <a:close/>
                      </a:path>
                    </a:pathLst>
                  </a:cu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Freeform: Shape 371">
            <a:extLst>
              <a:ext uri="{FF2B5EF4-FFF2-40B4-BE49-F238E27FC236}">
                <a16:creationId xmlns:a16="http://schemas.microsoft.com/office/drawing/2014/main" id="{8D75946A-4668-ECD5-229E-B02D62D4C958}"/>
              </a:ext>
            </a:extLst>
          </p:cNvPr>
          <p:cNvSpPr/>
          <p:nvPr/>
        </p:nvSpPr>
        <p:spPr>
          <a:xfrm>
            <a:off x="2622205" y="4157003"/>
            <a:ext cx="1643550" cy="1971642"/>
          </a:xfrm>
          <a:custGeom>
            <a:avLst/>
            <a:gdLst>
              <a:gd name="connsiteX0" fmla="*/ 1140902 w 1643550"/>
              <a:gd name="connsiteY0" fmla="*/ 122645 h 1971642"/>
              <a:gd name="connsiteX1" fmla="*/ 106926 w 1643550"/>
              <a:gd name="connsiteY1" fmla="*/ 1125846 h 1971642"/>
              <a:gd name="connsiteX2" fmla="*/ 120994 w 1643550"/>
              <a:gd name="connsiteY2" fmla="*/ 1869941 h 1971642"/>
              <a:gd name="connsiteX3" fmla="*/ 887683 w 1643550"/>
              <a:gd name="connsiteY3" fmla="*/ 1896516 h 1971642"/>
              <a:gd name="connsiteX4" fmla="*/ 1309714 w 1643550"/>
              <a:gd name="connsiteY4" fmla="*/ 1232145 h 1971642"/>
              <a:gd name="connsiteX5" fmla="*/ 1640305 w 1643550"/>
              <a:gd name="connsiteY5" fmla="*/ 368462 h 1971642"/>
              <a:gd name="connsiteX6" fmla="*/ 1457425 w 1643550"/>
              <a:gd name="connsiteY6" fmla="*/ 42921 h 1971642"/>
              <a:gd name="connsiteX7" fmla="*/ 1140902 w 1643550"/>
              <a:gd name="connsiteY7" fmla="*/ 122645 h 1971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43550" h="1971642" extrusionOk="0">
                <a:moveTo>
                  <a:pt x="1140902" y="122645"/>
                </a:moveTo>
                <a:cubicBezTo>
                  <a:pt x="857688" y="354965"/>
                  <a:pt x="281818" y="827265"/>
                  <a:pt x="106926" y="1125846"/>
                </a:cubicBezTo>
                <a:cubicBezTo>
                  <a:pt x="-37070" y="1403977"/>
                  <a:pt x="-5946" y="1701525"/>
                  <a:pt x="120994" y="1869941"/>
                </a:cubicBezTo>
                <a:cubicBezTo>
                  <a:pt x="239979" y="1956691"/>
                  <a:pt x="693291" y="2014118"/>
                  <a:pt x="887683" y="1896516"/>
                </a:cubicBezTo>
                <a:cubicBezTo>
                  <a:pt x="1101172" y="1850757"/>
                  <a:pt x="1165937" y="1435412"/>
                  <a:pt x="1309714" y="1232145"/>
                </a:cubicBezTo>
                <a:cubicBezTo>
                  <a:pt x="1447731" y="936752"/>
                  <a:pt x="1638305" y="553691"/>
                  <a:pt x="1640305" y="368462"/>
                </a:cubicBezTo>
                <a:cubicBezTo>
                  <a:pt x="1683611" y="166586"/>
                  <a:pt x="1525888" y="90884"/>
                  <a:pt x="1457425" y="42921"/>
                </a:cubicBezTo>
                <a:cubicBezTo>
                  <a:pt x="1387538" y="7957"/>
                  <a:pt x="1367170" y="-40373"/>
                  <a:pt x="1140902" y="122645"/>
                </a:cubicBezTo>
                <a:close/>
              </a:path>
            </a:pathLst>
          </a:custGeom>
          <a:noFill/>
          <a:ln w="12700">
            <a:prstDash val="sysDot"/>
            <a:extLst>
              <a:ext uri="{C807C97D-BFC1-408E-A445-0C87EB9F89A2}">
                <ask:lineSketchStyleProps xmlns:ask="http://schemas.microsoft.com/office/drawing/2018/sketchyshapes" sd="191237897">
                  <a:custGeom>
                    <a:avLst/>
                    <a:gdLst>
                      <a:gd name="connsiteX0" fmla="*/ 1140902 w 1643550"/>
                      <a:gd name="connsiteY0" fmla="*/ 129848 h 2087422"/>
                      <a:gd name="connsiteX1" fmla="*/ 106926 w 1643550"/>
                      <a:gd name="connsiteY1" fmla="*/ 1191959 h 2087422"/>
                      <a:gd name="connsiteX2" fmla="*/ 120994 w 1643550"/>
                      <a:gd name="connsiteY2" fmla="*/ 1979749 h 2087422"/>
                      <a:gd name="connsiteX3" fmla="*/ 887683 w 1643550"/>
                      <a:gd name="connsiteY3" fmla="*/ 2007885 h 2087422"/>
                      <a:gd name="connsiteX4" fmla="*/ 1309714 w 1643550"/>
                      <a:gd name="connsiteY4" fmla="*/ 1304500 h 2087422"/>
                      <a:gd name="connsiteX5" fmla="*/ 1640305 w 1643550"/>
                      <a:gd name="connsiteY5" fmla="*/ 390100 h 2087422"/>
                      <a:gd name="connsiteX6" fmla="*/ 1457425 w 1643550"/>
                      <a:gd name="connsiteY6" fmla="*/ 45442 h 2087422"/>
                      <a:gd name="connsiteX7" fmla="*/ 1140902 w 1643550"/>
                      <a:gd name="connsiteY7" fmla="*/ 129848 h 2087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43550" h="2087422">
                        <a:moveTo>
                          <a:pt x="1140902" y="129848"/>
                        </a:moveTo>
                        <a:cubicBezTo>
                          <a:pt x="915819" y="320934"/>
                          <a:pt x="276911" y="883642"/>
                          <a:pt x="106926" y="1191959"/>
                        </a:cubicBezTo>
                        <a:cubicBezTo>
                          <a:pt x="-63059" y="1500276"/>
                          <a:pt x="-9132" y="1843761"/>
                          <a:pt x="120994" y="1979749"/>
                        </a:cubicBezTo>
                        <a:cubicBezTo>
                          <a:pt x="251120" y="2115737"/>
                          <a:pt x="689563" y="2120427"/>
                          <a:pt x="887683" y="2007885"/>
                        </a:cubicBezTo>
                        <a:cubicBezTo>
                          <a:pt x="1085803" y="1895343"/>
                          <a:pt x="1184277" y="1574131"/>
                          <a:pt x="1309714" y="1304500"/>
                        </a:cubicBezTo>
                        <a:cubicBezTo>
                          <a:pt x="1435151" y="1034869"/>
                          <a:pt x="1615687" y="599943"/>
                          <a:pt x="1640305" y="390100"/>
                        </a:cubicBezTo>
                        <a:cubicBezTo>
                          <a:pt x="1664923" y="180257"/>
                          <a:pt x="1544176" y="87645"/>
                          <a:pt x="1457425" y="45442"/>
                        </a:cubicBezTo>
                        <a:cubicBezTo>
                          <a:pt x="1370674" y="3239"/>
                          <a:pt x="1365985" y="-61238"/>
                          <a:pt x="1140902" y="129848"/>
                        </a:cubicBezTo>
                        <a:close/>
                      </a:path>
                    </a:pathLst>
                  </a:cu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Freeform: Shape 372">
            <a:extLst>
              <a:ext uri="{FF2B5EF4-FFF2-40B4-BE49-F238E27FC236}">
                <a16:creationId xmlns:a16="http://schemas.microsoft.com/office/drawing/2014/main" id="{02E6866A-5E4E-9B15-4B95-0BB159F8A7C3}"/>
              </a:ext>
            </a:extLst>
          </p:cNvPr>
          <p:cNvSpPr/>
          <p:nvPr/>
        </p:nvSpPr>
        <p:spPr>
          <a:xfrm>
            <a:off x="4229271" y="3940591"/>
            <a:ext cx="1227818" cy="2117647"/>
          </a:xfrm>
          <a:custGeom>
            <a:avLst/>
            <a:gdLst>
              <a:gd name="connsiteX0" fmla="*/ 1109418 w 1227818"/>
              <a:gd name="connsiteY0" fmla="*/ 1848264 h 2117647"/>
              <a:gd name="connsiteX1" fmla="*/ 539677 w 1227818"/>
              <a:gd name="connsiteY1" fmla="*/ 2115551 h 2117647"/>
              <a:gd name="connsiteX2" fmla="*/ 12138 w 1227818"/>
              <a:gd name="connsiteY2" fmla="*/ 1876400 h 2117647"/>
              <a:gd name="connsiteX3" fmla="*/ 209086 w 1227818"/>
              <a:gd name="connsiteY3" fmla="*/ 962000 h 2117647"/>
              <a:gd name="connsiteX4" fmla="*/ 659252 w 1227818"/>
              <a:gd name="connsiteY4" fmla="*/ 448529 h 2117647"/>
              <a:gd name="connsiteX5" fmla="*/ 778827 w 1227818"/>
              <a:gd name="connsiteY5" fmla="*/ 96837 h 2117647"/>
              <a:gd name="connsiteX6" fmla="*/ 1200858 w 1227818"/>
              <a:gd name="connsiteY6" fmla="*/ 160141 h 2117647"/>
              <a:gd name="connsiteX7" fmla="*/ 1109418 w 1227818"/>
              <a:gd name="connsiteY7" fmla="*/ 1848264 h 2117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7818" h="2117647">
                <a:moveTo>
                  <a:pt x="1109418" y="1848264"/>
                </a:moveTo>
                <a:cubicBezTo>
                  <a:pt x="999221" y="2174166"/>
                  <a:pt x="722557" y="2110862"/>
                  <a:pt x="539677" y="2115551"/>
                </a:cubicBezTo>
                <a:cubicBezTo>
                  <a:pt x="356797" y="2120240"/>
                  <a:pt x="67236" y="2068658"/>
                  <a:pt x="12138" y="1876400"/>
                </a:cubicBezTo>
                <a:cubicBezTo>
                  <a:pt x="-42960" y="1684142"/>
                  <a:pt x="101234" y="1199978"/>
                  <a:pt x="209086" y="962000"/>
                </a:cubicBezTo>
                <a:cubicBezTo>
                  <a:pt x="316938" y="724021"/>
                  <a:pt x="564295" y="592723"/>
                  <a:pt x="659252" y="448529"/>
                </a:cubicBezTo>
                <a:cubicBezTo>
                  <a:pt x="754209" y="304335"/>
                  <a:pt x="688559" y="144902"/>
                  <a:pt x="778827" y="96837"/>
                </a:cubicBezTo>
                <a:cubicBezTo>
                  <a:pt x="869095" y="48772"/>
                  <a:pt x="1142243" y="-125902"/>
                  <a:pt x="1200858" y="160141"/>
                </a:cubicBezTo>
                <a:cubicBezTo>
                  <a:pt x="1259473" y="446184"/>
                  <a:pt x="1219615" y="1522362"/>
                  <a:pt x="1109418" y="1848264"/>
                </a:cubicBezTo>
                <a:close/>
              </a:path>
            </a:pathLst>
          </a:custGeom>
          <a:noFill/>
          <a:ln w="12700">
            <a:prstDash val="sysDot"/>
            <a:extLst>
              <a:ext uri="{C807C97D-BFC1-408E-A445-0C87EB9F89A2}">
                <ask:lineSketchStyleProps xmlns:ask="http://schemas.microsoft.com/office/drawing/2018/sketchyshapes" sd="1571622747">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 name="Freeform: Shape 373">
            <a:extLst>
              <a:ext uri="{FF2B5EF4-FFF2-40B4-BE49-F238E27FC236}">
                <a16:creationId xmlns:a16="http://schemas.microsoft.com/office/drawing/2014/main" id="{8549F4B2-1664-3ACE-3356-E49E6D969428}"/>
              </a:ext>
            </a:extLst>
          </p:cNvPr>
          <p:cNvSpPr/>
          <p:nvPr/>
        </p:nvSpPr>
        <p:spPr>
          <a:xfrm>
            <a:off x="5602371" y="4119269"/>
            <a:ext cx="1043425" cy="1892519"/>
          </a:xfrm>
          <a:custGeom>
            <a:avLst/>
            <a:gdLst>
              <a:gd name="connsiteX0" fmla="*/ 3604 w 1043425"/>
              <a:gd name="connsiteY0" fmla="*/ 1592214 h 1892519"/>
              <a:gd name="connsiteX1" fmla="*/ 137247 w 1043425"/>
              <a:gd name="connsiteY1" fmla="*/ 1887636 h 1892519"/>
              <a:gd name="connsiteX2" fmla="*/ 939106 w 1043425"/>
              <a:gd name="connsiteY2" fmla="*/ 1725857 h 1892519"/>
              <a:gd name="connsiteX3" fmla="*/ 1009444 w 1043425"/>
              <a:gd name="connsiteY3" fmla="*/ 1106879 h 1892519"/>
              <a:gd name="connsiteX4" fmla="*/ 714023 w 1043425"/>
              <a:gd name="connsiteY4" fmla="*/ 691882 h 1892519"/>
              <a:gd name="connsiteX5" fmla="*/ 573346 w 1043425"/>
              <a:gd name="connsiteY5" fmla="*/ 164343 h 1892519"/>
              <a:gd name="connsiteX6" fmla="*/ 235721 w 1043425"/>
              <a:gd name="connsiteY6" fmla="*/ 2565 h 1892519"/>
              <a:gd name="connsiteX7" fmla="*/ 45807 w 1043425"/>
              <a:gd name="connsiteY7" fmla="*/ 262817 h 1892519"/>
              <a:gd name="connsiteX8" fmla="*/ 38774 w 1043425"/>
              <a:gd name="connsiteY8" fmla="*/ 1212386 h 1892519"/>
              <a:gd name="connsiteX9" fmla="*/ 3604 w 1043425"/>
              <a:gd name="connsiteY9" fmla="*/ 1592214 h 1892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425" h="1892519">
                <a:moveTo>
                  <a:pt x="3604" y="1592214"/>
                </a:moveTo>
                <a:cubicBezTo>
                  <a:pt x="20016" y="1704756"/>
                  <a:pt x="-18670" y="1865362"/>
                  <a:pt x="137247" y="1887636"/>
                </a:cubicBezTo>
                <a:cubicBezTo>
                  <a:pt x="293164" y="1909910"/>
                  <a:pt x="793740" y="1855983"/>
                  <a:pt x="939106" y="1725857"/>
                </a:cubicBezTo>
                <a:cubicBezTo>
                  <a:pt x="1084472" y="1595731"/>
                  <a:pt x="1046958" y="1279208"/>
                  <a:pt x="1009444" y="1106879"/>
                </a:cubicBezTo>
                <a:cubicBezTo>
                  <a:pt x="971930" y="934550"/>
                  <a:pt x="786706" y="848971"/>
                  <a:pt x="714023" y="691882"/>
                </a:cubicBezTo>
                <a:cubicBezTo>
                  <a:pt x="641340" y="534793"/>
                  <a:pt x="653063" y="279229"/>
                  <a:pt x="573346" y="164343"/>
                </a:cubicBezTo>
                <a:cubicBezTo>
                  <a:pt x="493629" y="49457"/>
                  <a:pt x="323644" y="-13847"/>
                  <a:pt x="235721" y="2565"/>
                </a:cubicBezTo>
                <a:cubicBezTo>
                  <a:pt x="147798" y="18977"/>
                  <a:pt x="78632" y="61180"/>
                  <a:pt x="45807" y="262817"/>
                </a:cubicBezTo>
                <a:cubicBezTo>
                  <a:pt x="12982" y="464454"/>
                  <a:pt x="45808" y="990820"/>
                  <a:pt x="38774" y="1212386"/>
                </a:cubicBezTo>
                <a:cubicBezTo>
                  <a:pt x="31740" y="1433952"/>
                  <a:pt x="-12808" y="1479672"/>
                  <a:pt x="3604" y="1592214"/>
                </a:cubicBezTo>
                <a:close/>
              </a:path>
            </a:pathLst>
          </a:custGeom>
          <a:noFill/>
          <a:ln w="12700">
            <a:prstDash val="sysDot"/>
            <a:extLst>
              <a:ext uri="{C807C97D-BFC1-408E-A445-0C87EB9F89A2}">
                <ask:lineSketchStyleProps xmlns:ask="http://schemas.microsoft.com/office/drawing/2018/sketchyshapes" sd="3321622036">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 name="TextBox 400">
            <a:extLst>
              <a:ext uri="{FF2B5EF4-FFF2-40B4-BE49-F238E27FC236}">
                <a16:creationId xmlns:a16="http://schemas.microsoft.com/office/drawing/2014/main" id="{9026D39A-C4AD-AF74-9763-D90D9C6B04FE}"/>
              </a:ext>
            </a:extLst>
          </p:cNvPr>
          <p:cNvSpPr txBox="1"/>
          <p:nvPr/>
        </p:nvSpPr>
        <p:spPr>
          <a:xfrm>
            <a:off x="4733045" y="1446168"/>
            <a:ext cx="2750961" cy="923330"/>
          </a:xfrm>
          <a:prstGeom prst="rect">
            <a:avLst/>
          </a:prstGeom>
          <a:noFill/>
        </p:spPr>
        <p:txBody>
          <a:bodyPr wrap="square" rtlCol="0">
            <a:spAutoFit/>
          </a:bodyPr>
          <a:lstStyle/>
          <a:p>
            <a:pPr algn="ctr"/>
            <a:r>
              <a:rPr lang="en-US" b="1" dirty="0"/>
              <a:t>Shared understanding</a:t>
            </a:r>
          </a:p>
          <a:p>
            <a:pPr algn="ctr"/>
            <a:r>
              <a:rPr lang="en-US" dirty="0"/>
              <a:t>captured as a curated repository of information </a:t>
            </a:r>
          </a:p>
        </p:txBody>
      </p:sp>
      <p:cxnSp>
        <p:nvCxnSpPr>
          <p:cNvPr id="10" name="Straight Arrow Connector 9">
            <a:extLst>
              <a:ext uri="{FF2B5EF4-FFF2-40B4-BE49-F238E27FC236}">
                <a16:creationId xmlns:a16="http://schemas.microsoft.com/office/drawing/2014/main" id="{22AC6C50-8E3C-A125-4806-E6A3B45868C2}"/>
              </a:ext>
            </a:extLst>
          </p:cNvPr>
          <p:cNvCxnSpPr>
            <a:cxnSpLocks/>
            <a:stCxn id="5" idx="1"/>
            <a:endCxn id="19" idx="0"/>
          </p:cNvCxnSpPr>
          <p:nvPr/>
        </p:nvCxnSpPr>
        <p:spPr>
          <a:xfrm rot="10800000" flipV="1">
            <a:off x="3441895" y="2085535"/>
            <a:ext cx="934330" cy="2033733"/>
          </a:xfrm>
          <a:prstGeom prst="curvedConnector2">
            <a:avLst/>
          </a:prstGeom>
          <a:ln w="28575">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96515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815E6-9C76-1F7B-678C-4FECDC6E18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46DEE8-13FD-E783-F1EE-90DEB4224B6A}"/>
              </a:ext>
            </a:extLst>
          </p:cNvPr>
          <p:cNvSpPr>
            <a:spLocks noGrp="1"/>
          </p:cNvSpPr>
          <p:nvPr>
            <p:ph type="title"/>
          </p:nvPr>
        </p:nvSpPr>
        <p:spPr/>
        <p:txBody>
          <a:bodyPr/>
          <a:lstStyle/>
          <a:p>
            <a:r>
              <a:rPr lang="en-US" dirty="0"/>
              <a:t>How to Capture Shared Understanding</a:t>
            </a:r>
          </a:p>
        </p:txBody>
      </p:sp>
      <p:sp>
        <p:nvSpPr>
          <p:cNvPr id="3" name="Slide Number Placeholder 2">
            <a:extLst>
              <a:ext uri="{FF2B5EF4-FFF2-40B4-BE49-F238E27FC236}">
                <a16:creationId xmlns:a16="http://schemas.microsoft.com/office/drawing/2014/main" id="{47260C2D-DABD-7F28-AF2E-504EC2095672}"/>
              </a:ext>
            </a:extLst>
          </p:cNvPr>
          <p:cNvSpPr>
            <a:spLocks noGrp="1"/>
          </p:cNvSpPr>
          <p:nvPr>
            <p:ph type="sldNum" sz="quarter" idx="12"/>
          </p:nvPr>
        </p:nvSpPr>
        <p:spPr/>
        <p:txBody>
          <a:bodyPr/>
          <a:lstStyle/>
          <a:p>
            <a:fld id="{E6E087A0-8E33-4AD2-B40F-AC5841A95ADE}" type="slidenum">
              <a:rPr lang="en-US" smtClean="0"/>
              <a:t>15</a:t>
            </a:fld>
            <a:endParaRPr lang="en-US"/>
          </a:p>
        </p:txBody>
      </p:sp>
      <p:pic>
        <p:nvPicPr>
          <p:cNvPr id="6" name="Picture 5" descr="The Galaxy Brain meme listing:&#10;Standards&#10;Biases&#10;Patterns&#10;">
            <a:extLst>
              <a:ext uri="{FF2B5EF4-FFF2-40B4-BE49-F238E27FC236}">
                <a16:creationId xmlns:a16="http://schemas.microsoft.com/office/drawing/2014/main" id="{CE7AA340-0D36-01B7-40FB-1E471118E704}"/>
              </a:ext>
            </a:extLst>
          </p:cNvPr>
          <p:cNvPicPr>
            <a:picLocks noChangeAspect="1"/>
          </p:cNvPicPr>
          <p:nvPr/>
        </p:nvPicPr>
        <p:blipFill>
          <a:blip r:embed="rId3"/>
          <a:stretch>
            <a:fillRect/>
          </a:stretch>
        </p:blipFill>
        <p:spPr>
          <a:xfrm>
            <a:off x="3742795" y="1533251"/>
            <a:ext cx="4534471" cy="4417960"/>
          </a:xfrm>
          <a:prstGeom prst="rect">
            <a:avLst/>
          </a:prstGeom>
          <a:ln>
            <a:solidFill>
              <a:schemeClr val="tx1"/>
            </a:solidFill>
          </a:ln>
        </p:spPr>
      </p:pic>
    </p:spTree>
    <p:extLst>
      <p:ext uri="{BB962C8B-B14F-4D97-AF65-F5344CB8AC3E}">
        <p14:creationId xmlns:p14="http://schemas.microsoft.com/office/powerpoint/2010/main" val="696376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BF9D4-E1CE-FB72-FF38-A745805A70F2}"/>
              </a:ext>
            </a:extLst>
          </p:cNvPr>
          <p:cNvSpPr>
            <a:spLocks noGrp="1"/>
          </p:cNvSpPr>
          <p:nvPr>
            <p:ph type="title"/>
          </p:nvPr>
        </p:nvSpPr>
        <p:spPr/>
        <p:txBody>
          <a:bodyPr/>
          <a:lstStyle/>
          <a:p>
            <a:r>
              <a:rPr lang="en-US" dirty="0"/>
              <a:t>Standards</a:t>
            </a:r>
          </a:p>
        </p:txBody>
      </p:sp>
      <p:sp>
        <p:nvSpPr>
          <p:cNvPr id="3" name="Content Placeholder 2">
            <a:extLst>
              <a:ext uri="{FF2B5EF4-FFF2-40B4-BE49-F238E27FC236}">
                <a16:creationId xmlns:a16="http://schemas.microsoft.com/office/drawing/2014/main" id="{F975D17A-34AE-318C-30FD-83E1FDA2008D}"/>
              </a:ext>
            </a:extLst>
          </p:cNvPr>
          <p:cNvSpPr>
            <a:spLocks noGrp="1"/>
          </p:cNvSpPr>
          <p:nvPr>
            <p:ph idx="1"/>
          </p:nvPr>
        </p:nvSpPr>
        <p:spPr>
          <a:xfrm>
            <a:off x="838200" y="1164922"/>
            <a:ext cx="6705312" cy="5012042"/>
          </a:xfrm>
        </p:spPr>
        <p:txBody>
          <a:bodyPr>
            <a:normAutofit fontScale="77500" lnSpcReduction="20000"/>
          </a:bodyPr>
          <a:lstStyle/>
          <a:p>
            <a:pPr>
              <a:lnSpc>
                <a:spcPct val="120000"/>
              </a:lnSpc>
            </a:pPr>
            <a:r>
              <a:rPr lang="en-US" dirty="0"/>
              <a:t>A list of “approved” software tools, e.g.:</a:t>
            </a:r>
          </a:p>
          <a:p>
            <a:pPr lvl="1">
              <a:lnSpc>
                <a:spcPct val="120000"/>
              </a:lnSpc>
            </a:pPr>
            <a:r>
              <a:rPr lang="en-US" dirty="0"/>
              <a:t>Camunda 5.1</a:t>
            </a:r>
          </a:p>
          <a:p>
            <a:pPr lvl="1">
              <a:lnSpc>
                <a:spcPct val="120000"/>
              </a:lnSpc>
            </a:pPr>
            <a:r>
              <a:rPr lang="en-US" dirty="0"/>
              <a:t>Kafka 3.2</a:t>
            </a:r>
          </a:p>
          <a:p>
            <a:pPr lvl="1">
              <a:lnSpc>
                <a:spcPct val="120000"/>
              </a:lnSpc>
            </a:pPr>
            <a:r>
              <a:rPr lang="en-US" dirty="0"/>
              <a:t>Drools 8.43</a:t>
            </a:r>
          </a:p>
          <a:p>
            <a:pPr lvl="1">
              <a:lnSpc>
                <a:spcPct val="120000"/>
              </a:lnSpc>
            </a:pPr>
            <a:r>
              <a:rPr lang="en-US" dirty="0"/>
              <a:t>...</a:t>
            </a:r>
          </a:p>
          <a:p>
            <a:pPr>
              <a:lnSpc>
                <a:spcPct val="120000"/>
              </a:lnSpc>
            </a:pPr>
            <a:r>
              <a:rPr lang="en-US" dirty="0"/>
              <a:t>Approved for what? Why? Why not? Unclear</a:t>
            </a:r>
          </a:p>
          <a:p>
            <a:pPr>
              <a:lnSpc>
                <a:spcPct val="120000"/>
              </a:lnSpc>
            </a:pPr>
            <a:r>
              <a:rPr lang="en-US" dirty="0"/>
              <a:t>Software is fungible and many of tools are </a:t>
            </a:r>
            <a:br>
              <a:rPr lang="en-US" dirty="0"/>
            </a:br>
            <a:r>
              <a:rPr lang="en-US" dirty="0"/>
              <a:t>Turing complete, so:</a:t>
            </a:r>
          </a:p>
          <a:p>
            <a:pPr lvl="1">
              <a:lnSpc>
                <a:spcPct val="120000"/>
              </a:lnSpc>
            </a:pPr>
            <a:r>
              <a:rPr lang="en-US" dirty="0"/>
              <a:t>Kafka is a database</a:t>
            </a:r>
          </a:p>
          <a:p>
            <a:pPr lvl="1">
              <a:lnSpc>
                <a:spcPct val="120000"/>
              </a:lnSpc>
            </a:pPr>
            <a:r>
              <a:rPr lang="en-US" dirty="0"/>
              <a:t>A workflow engine is a rules engine</a:t>
            </a:r>
          </a:p>
          <a:p>
            <a:pPr lvl="1">
              <a:lnSpc>
                <a:spcPct val="120000"/>
              </a:lnSpc>
            </a:pPr>
            <a:r>
              <a:rPr lang="en-US" dirty="0"/>
              <a:t>A rules engine is a workflow engine</a:t>
            </a:r>
          </a:p>
          <a:p>
            <a:pPr>
              <a:lnSpc>
                <a:spcPct val="120000"/>
              </a:lnSpc>
            </a:pPr>
            <a:r>
              <a:rPr lang="en-US" dirty="0"/>
              <a:t>Standardization can lead to stagnation</a:t>
            </a:r>
          </a:p>
          <a:p>
            <a:pPr lvl="1">
              <a:lnSpc>
                <a:spcPct val="120000"/>
              </a:lnSpc>
            </a:pPr>
            <a:r>
              <a:rPr lang="en-US" dirty="0"/>
              <a:t>What is the motivation for changing a standard?</a:t>
            </a:r>
          </a:p>
        </p:txBody>
      </p:sp>
      <p:sp>
        <p:nvSpPr>
          <p:cNvPr id="4" name="Slide Number Placeholder 3">
            <a:extLst>
              <a:ext uri="{FF2B5EF4-FFF2-40B4-BE49-F238E27FC236}">
                <a16:creationId xmlns:a16="http://schemas.microsoft.com/office/drawing/2014/main" id="{5B831803-0649-A790-ACD1-22B55A0A651D}"/>
              </a:ext>
            </a:extLst>
          </p:cNvPr>
          <p:cNvSpPr>
            <a:spLocks noGrp="1"/>
          </p:cNvSpPr>
          <p:nvPr>
            <p:ph type="sldNum" sz="quarter" idx="12"/>
          </p:nvPr>
        </p:nvSpPr>
        <p:spPr/>
        <p:txBody>
          <a:bodyPr/>
          <a:lstStyle/>
          <a:p>
            <a:fld id="{E6E087A0-8E33-4AD2-B40F-AC5841A95ADE}" type="slidenum">
              <a:rPr lang="en-US" smtClean="0"/>
              <a:t>16</a:t>
            </a:fld>
            <a:endParaRPr lang="en-US"/>
          </a:p>
        </p:txBody>
      </p:sp>
      <p:pic>
        <p:nvPicPr>
          <p:cNvPr id="6" name="Picture 5">
            <a:extLst>
              <a:ext uri="{FF2B5EF4-FFF2-40B4-BE49-F238E27FC236}">
                <a16:creationId xmlns:a16="http://schemas.microsoft.com/office/drawing/2014/main" id="{F8AFBD1A-8C9D-1AB0-1A21-9D483FF5B6BE}"/>
              </a:ext>
            </a:extLst>
          </p:cNvPr>
          <p:cNvPicPr>
            <a:picLocks noChangeAspect="1"/>
          </p:cNvPicPr>
          <p:nvPr/>
        </p:nvPicPr>
        <p:blipFill>
          <a:blip r:embed="rId3"/>
          <a:stretch>
            <a:fillRect/>
          </a:stretch>
        </p:blipFill>
        <p:spPr>
          <a:xfrm>
            <a:off x="7543512" y="1247279"/>
            <a:ext cx="3877861" cy="4847327"/>
          </a:xfrm>
          <a:prstGeom prst="rect">
            <a:avLst/>
          </a:prstGeom>
        </p:spPr>
      </p:pic>
    </p:spTree>
    <p:extLst>
      <p:ext uri="{BB962C8B-B14F-4D97-AF65-F5344CB8AC3E}">
        <p14:creationId xmlns:p14="http://schemas.microsoft.com/office/powerpoint/2010/main" val="3377123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cartoon character sitting at a table with a mug&#10;&#10;AI-generated content may be incorrect.">
            <a:extLst>
              <a:ext uri="{FF2B5EF4-FFF2-40B4-BE49-F238E27FC236}">
                <a16:creationId xmlns:a16="http://schemas.microsoft.com/office/drawing/2014/main" id="{DD613E23-E181-611B-53AF-0E7DE3C69839}"/>
              </a:ext>
            </a:extLst>
          </p:cNvPr>
          <p:cNvPicPr>
            <a:picLocks noChangeAspect="1"/>
          </p:cNvPicPr>
          <p:nvPr/>
        </p:nvPicPr>
        <p:blipFill>
          <a:blip r:embed="rId3">
            <a:extLst>
              <a:ext uri="{28A0092B-C50C-407E-A947-70E740481C1C}">
                <a14:useLocalDpi xmlns:a14="http://schemas.microsoft.com/office/drawing/2010/main" val="0"/>
              </a:ext>
            </a:extLst>
          </a:blip>
          <a:srcRect l="9168" t="10682" r="11508" b="9709"/>
          <a:stretch>
            <a:fillRect/>
          </a:stretch>
        </p:blipFill>
        <p:spPr>
          <a:xfrm>
            <a:off x="6530340" y="1191156"/>
            <a:ext cx="4884422" cy="4901987"/>
          </a:xfrm>
          <a:prstGeom prst="rect">
            <a:avLst/>
          </a:prstGeom>
        </p:spPr>
      </p:pic>
      <p:sp>
        <p:nvSpPr>
          <p:cNvPr id="2" name="Title 1">
            <a:extLst>
              <a:ext uri="{FF2B5EF4-FFF2-40B4-BE49-F238E27FC236}">
                <a16:creationId xmlns:a16="http://schemas.microsoft.com/office/drawing/2014/main" id="{65AAF441-5CB0-F3C1-ACEB-66A0F63D4DDA}"/>
              </a:ext>
            </a:extLst>
          </p:cNvPr>
          <p:cNvSpPr>
            <a:spLocks noGrp="1"/>
          </p:cNvSpPr>
          <p:nvPr>
            <p:ph type="title"/>
          </p:nvPr>
        </p:nvSpPr>
        <p:spPr/>
        <p:txBody>
          <a:bodyPr/>
          <a:lstStyle/>
          <a:p>
            <a:r>
              <a:rPr lang="en-US" dirty="0"/>
              <a:t>Biases – Standards Refined</a:t>
            </a:r>
          </a:p>
        </p:txBody>
      </p:sp>
      <p:sp>
        <p:nvSpPr>
          <p:cNvPr id="3" name="Content Placeholder 2">
            <a:extLst>
              <a:ext uri="{FF2B5EF4-FFF2-40B4-BE49-F238E27FC236}">
                <a16:creationId xmlns:a16="http://schemas.microsoft.com/office/drawing/2014/main" id="{27FD5B17-2E21-01A5-3137-37CD350FE41F}"/>
              </a:ext>
            </a:extLst>
          </p:cNvPr>
          <p:cNvSpPr>
            <a:spLocks noGrp="1"/>
          </p:cNvSpPr>
          <p:nvPr>
            <p:ph idx="1"/>
          </p:nvPr>
        </p:nvSpPr>
        <p:spPr>
          <a:xfrm>
            <a:off x="838199" y="1164922"/>
            <a:ext cx="5945555" cy="5012042"/>
          </a:xfrm>
        </p:spPr>
        <p:txBody>
          <a:bodyPr>
            <a:normAutofit/>
          </a:bodyPr>
          <a:lstStyle/>
          <a:p>
            <a:r>
              <a:rPr lang="en-US" dirty="0"/>
              <a:t>“Our bias is X. Why will it not work for your requirements?”</a:t>
            </a:r>
          </a:p>
          <a:p>
            <a:r>
              <a:rPr lang="en-US" dirty="0"/>
              <a:t>Introduces a notion of a context</a:t>
            </a:r>
          </a:p>
          <a:p>
            <a:pPr lvl="1"/>
            <a:r>
              <a:rPr lang="en-US" dirty="0"/>
              <a:t>Functional</a:t>
            </a:r>
          </a:p>
          <a:p>
            <a:pPr lvl="2"/>
            <a:r>
              <a:rPr lang="en-US" dirty="0"/>
              <a:t>Workflow</a:t>
            </a:r>
          </a:p>
          <a:p>
            <a:pPr lvl="2"/>
            <a:r>
              <a:rPr lang="en-US" dirty="0"/>
              <a:t>Database</a:t>
            </a:r>
          </a:p>
          <a:p>
            <a:pPr lvl="2"/>
            <a:r>
              <a:rPr lang="en-US" dirty="0"/>
              <a:t>etc.</a:t>
            </a:r>
          </a:p>
          <a:p>
            <a:pPr lvl="1"/>
            <a:r>
              <a:rPr lang="en-US" dirty="0"/>
              <a:t>Lifecycle</a:t>
            </a:r>
          </a:p>
          <a:p>
            <a:pPr lvl="2"/>
            <a:r>
              <a:rPr lang="en-US" dirty="0"/>
              <a:t>Legacy apps</a:t>
            </a:r>
          </a:p>
          <a:p>
            <a:pPr lvl="2"/>
            <a:r>
              <a:rPr lang="en-US" dirty="0"/>
              <a:t>Maintained apps</a:t>
            </a:r>
          </a:p>
          <a:p>
            <a:pPr lvl="2"/>
            <a:r>
              <a:rPr lang="en-US" dirty="0"/>
              <a:t>New development</a:t>
            </a:r>
          </a:p>
        </p:txBody>
      </p:sp>
      <p:sp>
        <p:nvSpPr>
          <p:cNvPr id="4" name="Slide Number Placeholder 3">
            <a:extLst>
              <a:ext uri="{FF2B5EF4-FFF2-40B4-BE49-F238E27FC236}">
                <a16:creationId xmlns:a16="http://schemas.microsoft.com/office/drawing/2014/main" id="{0C677324-9BE7-2B89-7079-BE389F4FB677}"/>
              </a:ext>
            </a:extLst>
          </p:cNvPr>
          <p:cNvSpPr>
            <a:spLocks noGrp="1"/>
          </p:cNvSpPr>
          <p:nvPr>
            <p:ph type="sldNum" sz="quarter" idx="12"/>
          </p:nvPr>
        </p:nvSpPr>
        <p:spPr/>
        <p:txBody>
          <a:bodyPr/>
          <a:lstStyle/>
          <a:p>
            <a:fld id="{E6E087A0-8E33-4AD2-B40F-AC5841A95ADE}" type="slidenum">
              <a:rPr lang="en-US" smtClean="0"/>
              <a:t>17</a:t>
            </a:fld>
            <a:endParaRPr lang="en-US"/>
          </a:p>
        </p:txBody>
      </p:sp>
      <p:sp>
        <p:nvSpPr>
          <p:cNvPr id="8" name="TextBox 7">
            <a:extLst>
              <a:ext uri="{FF2B5EF4-FFF2-40B4-BE49-F238E27FC236}">
                <a16:creationId xmlns:a16="http://schemas.microsoft.com/office/drawing/2014/main" id="{413945A7-CDB3-CEDE-AD42-295047DE1D94}"/>
              </a:ext>
            </a:extLst>
          </p:cNvPr>
          <p:cNvSpPr txBox="1"/>
          <p:nvPr/>
        </p:nvSpPr>
        <p:spPr>
          <a:xfrm>
            <a:off x="8182303" y="3939540"/>
            <a:ext cx="2577137" cy="1323439"/>
          </a:xfrm>
          <a:prstGeom prst="rect">
            <a:avLst/>
          </a:prstGeom>
          <a:noFill/>
          <a:scene3d>
            <a:camera prst="perspectiveHeroicExtremeRightFacing">
              <a:rot lat="2700000" lon="20041690" rev="319141"/>
            </a:camera>
            <a:lightRig rig="threePt" dir="t"/>
          </a:scene3d>
        </p:spPr>
        <p:txBody>
          <a:bodyPr wrap="square" rtlCol="0">
            <a:spAutoFit/>
          </a:bodyPr>
          <a:lstStyle/>
          <a:p>
            <a:pPr algn="ctr"/>
            <a:r>
              <a:rPr lang="en-US" sz="2000" b="1" dirty="0"/>
              <a:t>CAMUNDA 7 IS OUR WORKFLOW BIAS FOR NEW APPS</a:t>
            </a:r>
            <a:endParaRPr lang="en-US" sz="2000" dirty="0"/>
          </a:p>
          <a:p>
            <a:pPr algn="ctr"/>
            <a:r>
              <a:rPr lang="en-US" sz="2000" b="1" dirty="0"/>
              <a:t>CHANGE MY MIND</a:t>
            </a:r>
          </a:p>
        </p:txBody>
      </p:sp>
      <p:cxnSp>
        <p:nvCxnSpPr>
          <p:cNvPr id="10" name="Straight Connector 9">
            <a:extLst>
              <a:ext uri="{FF2B5EF4-FFF2-40B4-BE49-F238E27FC236}">
                <a16:creationId xmlns:a16="http://schemas.microsoft.com/office/drawing/2014/main" id="{36DAC38B-5AFE-0C79-7D4C-DD2E7CC465AC}"/>
              </a:ext>
            </a:extLst>
          </p:cNvPr>
          <p:cNvCxnSpPr/>
          <p:nvPr/>
        </p:nvCxnSpPr>
        <p:spPr>
          <a:xfrm flipV="1">
            <a:off x="8503920" y="4396740"/>
            <a:ext cx="1897380" cy="8763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E0377193-CBA4-D99B-4A58-56E5FE443374}"/>
              </a:ext>
            </a:extLst>
          </p:cNvPr>
          <p:cNvSpPr txBox="1"/>
          <p:nvPr/>
        </p:nvSpPr>
        <p:spPr>
          <a:xfrm>
            <a:off x="9406354" y="1427020"/>
            <a:ext cx="2040272" cy="1015663"/>
          </a:xfrm>
          <a:prstGeom prst="rect">
            <a:avLst/>
          </a:prstGeom>
          <a:solidFill>
            <a:srgbClr val="FFFFF3"/>
          </a:solidFill>
          <a:scene3d>
            <a:camera prst="perspectiveHeroicExtremeRightFacing">
              <a:rot lat="2700000" lon="20640000" rev="319141"/>
            </a:camera>
            <a:lightRig rig="threePt" dir="t"/>
          </a:scene3d>
        </p:spPr>
        <p:txBody>
          <a:bodyPr wrap="square" rtlCol="0">
            <a:spAutoFit/>
          </a:bodyPr>
          <a:lstStyle/>
          <a:p>
            <a:pPr algn="ctr"/>
            <a:r>
              <a:rPr lang="en-US" sz="2000" b="1" dirty="0"/>
              <a:t>ARCHITECTURE CONTROL </a:t>
            </a:r>
            <a:br>
              <a:rPr lang="en-US" sz="2000" b="1" dirty="0"/>
            </a:br>
            <a:r>
              <a:rPr lang="en-US" sz="2000" b="1" dirty="0"/>
              <a:t>BOARD</a:t>
            </a:r>
          </a:p>
        </p:txBody>
      </p:sp>
    </p:spTree>
    <p:extLst>
      <p:ext uri="{BB962C8B-B14F-4D97-AF65-F5344CB8AC3E}">
        <p14:creationId xmlns:p14="http://schemas.microsoft.com/office/powerpoint/2010/main" val="3814084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439C763A-1738-864B-B3DE-5B8643F5E635}"/>
              </a:ext>
            </a:extLst>
          </p:cNvPr>
          <p:cNvSpPr/>
          <p:nvPr/>
        </p:nvSpPr>
        <p:spPr>
          <a:xfrm>
            <a:off x="3673642" y="2382252"/>
            <a:ext cx="7507705" cy="2783305"/>
          </a:xfrm>
          <a:custGeom>
            <a:avLst/>
            <a:gdLst>
              <a:gd name="connsiteX0" fmla="*/ 0 w 7570331"/>
              <a:gd name="connsiteY0" fmla="*/ 0 h 2783954"/>
              <a:gd name="connsiteX1" fmla="*/ 1114926 w 7570331"/>
              <a:gd name="connsiteY1" fmla="*/ 296779 h 2783954"/>
              <a:gd name="connsiteX2" fmla="*/ 2165684 w 7570331"/>
              <a:gd name="connsiteY2" fmla="*/ 1171073 h 2783954"/>
              <a:gd name="connsiteX3" fmla="*/ 3874169 w 7570331"/>
              <a:gd name="connsiteY3" fmla="*/ 1668379 h 2783954"/>
              <a:gd name="connsiteX4" fmla="*/ 5061284 w 7570331"/>
              <a:gd name="connsiteY4" fmla="*/ 1860884 h 2783954"/>
              <a:gd name="connsiteX5" fmla="*/ 5975684 w 7570331"/>
              <a:gd name="connsiteY5" fmla="*/ 2422358 h 2783954"/>
              <a:gd name="connsiteX6" fmla="*/ 6593305 w 7570331"/>
              <a:gd name="connsiteY6" fmla="*/ 2727158 h 2783954"/>
              <a:gd name="connsiteX7" fmla="*/ 7507705 w 7570331"/>
              <a:gd name="connsiteY7" fmla="*/ 2783305 h 2783954"/>
              <a:gd name="connsiteX8" fmla="*/ 7491663 w 7570331"/>
              <a:gd name="connsiteY8" fmla="*/ 2759242 h 2783954"/>
              <a:gd name="connsiteX9" fmla="*/ 7499684 w 7570331"/>
              <a:gd name="connsiteY9" fmla="*/ 2759242 h 2783954"/>
              <a:gd name="connsiteX0" fmla="*/ 0 w 7570331"/>
              <a:gd name="connsiteY0" fmla="*/ 0 h 2783954"/>
              <a:gd name="connsiteX1" fmla="*/ 1114926 w 7570331"/>
              <a:gd name="connsiteY1" fmla="*/ 296779 h 2783954"/>
              <a:gd name="connsiteX2" fmla="*/ 2165684 w 7570331"/>
              <a:gd name="connsiteY2" fmla="*/ 1171073 h 2783954"/>
              <a:gd name="connsiteX3" fmla="*/ 3874169 w 7570331"/>
              <a:gd name="connsiteY3" fmla="*/ 1668379 h 2783954"/>
              <a:gd name="connsiteX4" fmla="*/ 5061284 w 7570331"/>
              <a:gd name="connsiteY4" fmla="*/ 1860884 h 2783954"/>
              <a:gd name="connsiteX5" fmla="*/ 5975684 w 7570331"/>
              <a:gd name="connsiteY5" fmla="*/ 2422358 h 2783954"/>
              <a:gd name="connsiteX6" fmla="*/ 6593305 w 7570331"/>
              <a:gd name="connsiteY6" fmla="*/ 2727158 h 2783954"/>
              <a:gd name="connsiteX7" fmla="*/ 7507705 w 7570331"/>
              <a:gd name="connsiteY7" fmla="*/ 2783305 h 2783954"/>
              <a:gd name="connsiteX8" fmla="*/ 7491663 w 7570331"/>
              <a:gd name="connsiteY8" fmla="*/ 2759242 h 2783954"/>
              <a:gd name="connsiteX0" fmla="*/ 0 w 7507705"/>
              <a:gd name="connsiteY0" fmla="*/ 0 h 2783305"/>
              <a:gd name="connsiteX1" fmla="*/ 1114926 w 7507705"/>
              <a:gd name="connsiteY1" fmla="*/ 296779 h 2783305"/>
              <a:gd name="connsiteX2" fmla="*/ 2165684 w 7507705"/>
              <a:gd name="connsiteY2" fmla="*/ 1171073 h 2783305"/>
              <a:gd name="connsiteX3" fmla="*/ 3874169 w 7507705"/>
              <a:gd name="connsiteY3" fmla="*/ 1668379 h 2783305"/>
              <a:gd name="connsiteX4" fmla="*/ 5061284 w 7507705"/>
              <a:gd name="connsiteY4" fmla="*/ 1860884 h 2783305"/>
              <a:gd name="connsiteX5" fmla="*/ 5975684 w 7507705"/>
              <a:gd name="connsiteY5" fmla="*/ 2422358 h 2783305"/>
              <a:gd name="connsiteX6" fmla="*/ 6593305 w 7507705"/>
              <a:gd name="connsiteY6" fmla="*/ 2727158 h 2783305"/>
              <a:gd name="connsiteX7" fmla="*/ 7507705 w 7507705"/>
              <a:gd name="connsiteY7" fmla="*/ 2783305 h 2783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07705" h="2783305">
                <a:moveTo>
                  <a:pt x="0" y="0"/>
                </a:moveTo>
                <a:cubicBezTo>
                  <a:pt x="376989" y="50800"/>
                  <a:pt x="753979" y="101600"/>
                  <a:pt x="1114926" y="296779"/>
                </a:cubicBezTo>
                <a:cubicBezTo>
                  <a:pt x="1475873" y="491958"/>
                  <a:pt x="1705810" y="942473"/>
                  <a:pt x="2165684" y="1171073"/>
                </a:cubicBezTo>
                <a:cubicBezTo>
                  <a:pt x="2625558" y="1399673"/>
                  <a:pt x="3391569" y="1553411"/>
                  <a:pt x="3874169" y="1668379"/>
                </a:cubicBezTo>
                <a:cubicBezTo>
                  <a:pt x="4356769" y="1783347"/>
                  <a:pt x="4711032" y="1735221"/>
                  <a:pt x="5061284" y="1860884"/>
                </a:cubicBezTo>
                <a:cubicBezTo>
                  <a:pt x="5411537" y="1986547"/>
                  <a:pt x="5720347" y="2277979"/>
                  <a:pt x="5975684" y="2422358"/>
                </a:cubicBezTo>
                <a:cubicBezTo>
                  <a:pt x="6231021" y="2566737"/>
                  <a:pt x="6337968" y="2667000"/>
                  <a:pt x="6593305" y="2727158"/>
                </a:cubicBezTo>
                <a:cubicBezTo>
                  <a:pt x="6848642" y="2787316"/>
                  <a:pt x="7357979" y="2777958"/>
                  <a:pt x="7507705" y="2783305"/>
                </a:cubicBezTo>
              </a:path>
            </a:pathLst>
          </a:custGeom>
          <a:noFill/>
          <a:ln w="76200">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CA7853-3A4A-4C53-BC54-6B06E38B1AAC}"/>
              </a:ext>
            </a:extLst>
          </p:cNvPr>
          <p:cNvSpPr>
            <a:spLocks noGrp="1"/>
          </p:cNvSpPr>
          <p:nvPr>
            <p:ph type="title"/>
          </p:nvPr>
        </p:nvSpPr>
        <p:spPr/>
        <p:txBody>
          <a:bodyPr/>
          <a:lstStyle/>
          <a:p>
            <a:r>
              <a:rPr lang="en-US" dirty="0"/>
              <a:t>Problems With Standards and Biases</a:t>
            </a:r>
          </a:p>
        </p:txBody>
      </p:sp>
      <p:sp>
        <p:nvSpPr>
          <p:cNvPr id="3" name="Content Placeholder 2">
            <a:extLst>
              <a:ext uri="{FF2B5EF4-FFF2-40B4-BE49-F238E27FC236}">
                <a16:creationId xmlns:a16="http://schemas.microsoft.com/office/drawing/2014/main" id="{07C185D6-3EA0-F9E7-24E9-F95A5C3F88B7}"/>
              </a:ext>
            </a:extLst>
          </p:cNvPr>
          <p:cNvSpPr>
            <a:spLocks noGrp="1"/>
          </p:cNvSpPr>
          <p:nvPr>
            <p:ph idx="1"/>
          </p:nvPr>
        </p:nvSpPr>
        <p:spPr/>
        <p:txBody>
          <a:bodyPr>
            <a:normAutofit/>
          </a:bodyPr>
          <a:lstStyle/>
          <a:p>
            <a:r>
              <a:rPr lang="en-US" dirty="0"/>
              <a:t>A catalog of standards or biases navigates from a solution</a:t>
            </a:r>
          </a:p>
          <a:p>
            <a:r>
              <a:rPr lang="en-US" dirty="0"/>
              <a:t>We want to navigate from a problem</a:t>
            </a:r>
          </a:p>
          <a:p>
            <a:r>
              <a:rPr lang="en-US" dirty="0"/>
              <a:t>…in a context</a:t>
            </a:r>
          </a:p>
          <a:p>
            <a:r>
              <a:rPr lang="en-US" dirty="0"/>
              <a:t>…to a solution</a:t>
            </a:r>
          </a:p>
          <a:p>
            <a:r>
              <a:rPr lang="en-US" dirty="0"/>
              <a:t>…understanding tradeoffs</a:t>
            </a:r>
          </a:p>
          <a:p>
            <a:r>
              <a:rPr lang="en-US" dirty="0"/>
              <a:t>…specific to our organization</a:t>
            </a:r>
          </a:p>
          <a:p>
            <a:r>
              <a:rPr lang="en-US" dirty="0"/>
              <a:t>…with working examples to inspire and reuse</a:t>
            </a:r>
          </a:p>
          <a:p>
            <a:r>
              <a:rPr lang="en-US" dirty="0"/>
              <a:t>…and pointers to related problems and their solutions</a:t>
            </a:r>
          </a:p>
          <a:p>
            <a:endParaRPr lang="en-US" dirty="0"/>
          </a:p>
        </p:txBody>
      </p:sp>
      <p:sp>
        <p:nvSpPr>
          <p:cNvPr id="4" name="Slide Number Placeholder 3">
            <a:extLst>
              <a:ext uri="{FF2B5EF4-FFF2-40B4-BE49-F238E27FC236}">
                <a16:creationId xmlns:a16="http://schemas.microsoft.com/office/drawing/2014/main" id="{1F78A2F5-1148-1D50-0921-1CC101F60A86}"/>
              </a:ext>
            </a:extLst>
          </p:cNvPr>
          <p:cNvSpPr>
            <a:spLocks noGrp="1"/>
          </p:cNvSpPr>
          <p:nvPr>
            <p:ph type="sldNum" sz="quarter" idx="12"/>
          </p:nvPr>
        </p:nvSpPr>
        <p:spPr/>
        <p:txBody>
          <a:bodyPr/>
          <a:lstStyle/>
          <a:p>
            <a:fld id="{E6E087A0-8E33-4AD2-B40F-AC5841A95ADE}" type="slidenum">
              <a:rPr lang="en-US" smtClean="0"/>
              <a:t>18</a:t>
            </a:fld>
            <a:endParaRPr lang="en-US"/>
          </a:p>
        </p:txBody>
      </p:sp>
      <p:pic>
        <p:nvPicPr>
          <p:cNvPr id="19" name="Graphic 18" descr="Sun with solid fill">
            <a:extLst>
              <a:ext uri="{FF2B5EF4-FFF2-40B4-BE49-F238E27FC236}">
                <a16:creationId xmlns:a16="http://schemas.microsoft.com/office/drawing/2014/main" id="{982E1A61-93D3-61C4-633C-92341BA9F10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8041" y="1900989"/>
            <a:ext cx="914400" cy="914400"/>
          </a:xfrm>
          <a:prstGeom prst="rect">
            <a:avLst/>
          </a:prstGeom>
        </p:spPr>
      </p:pic>
      <p:pic>
        <p:nvPicPr>
          <p:cNvPr id="21" name="Graphic 20" descr="Cloud with solid fill">
            <a:extLst>
              <a:ext uri="{FF2B5EF4-FFF2-40B4-BE49-F238E27FC236}">
                <a16:creationId xmlns:a16="http://schemas.microsoft.com/office/drawing/2014/main" id="{7B221BB4-2D0D-0600-706E-3523D872497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59052" y="1813846"/>
            <a:ext cx="2053389" cy="1615154"/>
          </a:xfrm>
          <a:prstGeom prst="rect">
            <a:avLst/>
          </a:prstGeom>
        </p:spPr>
      </p:pic>
      <p:pic>
        <p:nvPicPr>
          <p:cNvPr id="22" name="Graphic 21" descr="Cloud with solid fill">
            <a:extLst>
              <a:ext uri="{FF2B5EF4-FFF2-40B4-BE49-F238E27FC236}">
                <a16:creationId xmlns:a16="http://schemas.microsoft.com/office/drawing/2014/main" id="{7220D91F-0BC7-90CB-646C-3DE1746FB4C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26442" y="1515456"/>
            <a:ext cx="1965358" cy="1276622"/>
          </a:xfrm>
          <a:prstGeom prst="rect">
            <a:avLst/>
          </a:prstGeom>
        </p:spPr>
      </p:pic>
      <p:pic>
        <p:nvPicPr>
          <p:cNvPr id="27" name="Graphic 26" descr="Downhill skiing with solid fill">
            <a:extLst>
              <a:ext uri="{FF2B5EF4-FFF2-40B4-BE49-F238E27FC236}">
                <a16:creationId xmlns:a16="http://schemas.microsoft.com/office/drawing/2014/main" id="{92B3169B-757F-D854-6D1B-8FDB5873AEF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20931361">
            <a:off x="6918003" y="3456401"/>
            <a:ext cx="682099" cy="682099"/>
          </a:xfrm>
          <a:prstGeom prst="rect">
            <a:avLst/>
          </a:prstGeom>
        </p:spPr>
      </p:pic>
    </p:spTree>
    <p:extLst>
      <p:ext uri="{BB962C8B-B14F-4D97-AF65-F5344CB8AC3E}">
        <p14:creationId xmlns:p14="http://schemas.microsoft.com/office/powerpoint/2010/main" val="27630726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EEC34-F2A3-42F2-4619-E26D58FCBC9F}"/>
              </a:ext>
            </a:extLst>
          </p:cNvPr>
          <p:cNvSpPr>
            <a:spLocks noGrp="1"/>
          </p:cNvSpPr>
          <p:nvPr>
            <p:ph type="title"/>
          </p:nvPr>
        </p:nvSpPr>
        <p:spPr/>
        <p:txBody>
          <a:bodyPr/>
          <a:lstStyle/>
          <a:p>
            <a:r>
              <a:rPr lang="en-US" dirty="0"/>
              <a:t>Solution?</a:t>
            </a:r>
          </a:p>
        </p:txBody>
      </p:sp>
      <p:sp>
        <p:nvSpPr>
          <p:cNvPr id="4" name="Slide Number Placeholder 3">
            <a:extLst>
              <a:ext uri="{FF2B5EF4-FFF2-40B4-BE49-F238E27FC236}">
                <a16:creationId xmlns:a16="http://schemas.microsoft.com/office/drawing/2014/main" id="{B3978FF2-3601-CB04-1B2E-105647FC3947}"/>
              </a:ext>
            </a:extLst>
          </p:cNvPr>
          <p:cNvSpPr>
            <a:spLocks noGrp="1"/>
          </p:cNvSpPr>
          <p:nvPr>
            <p:ph type="sldNum" sz="quarter" idx="12"/>
          </p:nvPr>
        </p:nvSpPr>
        <p:spPr/>
        <p:txBody>
          <a:bodyPr/>
          <a:lstStyle/>
          <a:p>
            <a:fld id="{E6E087A0-8E33-4AD2-B40F-AC5841A95ADE}" type="slidenum">
              <a:rPr lang="en-US" smtClean="0"/>
              <a:t>19</a:t>
            </a:fld>
            <a:endParaRPr lang="en-US"/>
          </a:p>
        </p:txBody>
      </p:sp>
      <p:grpSp>
        <p:nvGrpSpPr>
          <p:cNvPr id="7" name="Group 6">
            <a:extLst>
              <a:ext uri="{FF2B5EF4-FFF2-40B4-BE49-F238E27FC236}">
                <a16:creationId xmlns:a16="http://schemas.microsoft.com/office/drawing/2014/main" id="{D16FB874-D662-A901-0685-0334BAD99783}"/>
              </a:ext>
            </a:extLst>
          </p:cNvPr>
          <p:cNvGrpSpPr/>
          <p:nvPr/>
        </p:nvGrpSpPr>
        <p:grpSpPr>
          <a:xfrm>
            <a:off x="3714750" y="1939664"/>
            <a:ext cx="4762500" cy="3429000"/>
            <a:chOff x="3714750" y="1939664"/>
            <a:chExt cx="4762500" cy="3429000"/>
          </a:xfrm>
        </p:grpSpPr>
        <p:pic>
          <p:nvPicPr>
            <p:cNvPr id="1026" name="Picture 2" descr="Spongebob's Imagination Rainbow Meme Generator - Imgflip">
              <a:extLst>
                <a:ext uri="{FF2B5EF4-FFF2-40B4-BE49-F238E27FC236}">
                  <a16:creationId xmlns:a16="http://schemas.microsoft.com/office/drawing/2014/main" id="{5AF7FF8E-719A-154F-5119-8D689046F8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4750" y="1939664"/>
              <a:ext cx="4762500" cy="3429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F75E474-3266-360E-ACC5-5BB790C77CAE}"/>
                </a:ext>
              </a:extLst>
            </p:cNvPr>
            <p:cNvSpPr txBox="1"/>
            <p:nvPr/>
          </p:nvSpPr>
          <p:spPr>
            <a:xfrm>
              <a:off x="4856480" y="2550160"/>
              <a:ext cx="2600960" cy="2223965"/>
            </a:xfrm>
            <a:prstGeom prst="rect">
              <a:avLst/>
            </a:prstGeom>
            <a:noFill/>
          </p:spPr>
          <p:txBody>
            <a:bodyPr wrap="square" rtlCol="0">
              <a:prstTxWarp prst="textArchUp">
                <a:avLst/>
              </a:prstTxWarp>
              <a:spAutoFit/>
            </a:bodyPr>
            <a:lstStyle/>
            <a:p>
              <a:pPr algn="ctr"/>
              <a:r>
                <a:rPr lang="en-US" sz="4400" dirty="0">
                  <a:ln w="28575">
                    <a:solidFill>
                      <a:schemeClr val="tx1"/>
                    </a:solidFill>
                  </a:ln>
                  <a:solidFill>
                    <a:schemeClr val="bg1"/>
                  </a:solidFill>
                  <a:latin typeface="Impact" panose="020B0806030902050204" pitchFamily="34" charset="0"/>
                </a:rPr>
                <a:t>PATTERNS</a:t>
              </a:r>
            </a:p>
          </p:txBody>
        </p:sp>
      </p:grpSp>
    </p:spTree>
    <p:extLst>
      <p:ext uri="{BB962C8B-B14F-4D97-AF65-F5344CB8AC3E}">
        <p14:creationId xmlns:p14="http://schemas.microsoft.com/office/powerpoint/2010/main" val="3697664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B0B25-4A4B-76D4-4F42-D6D24766FADB}"/>
              </a:ext>
            </a:extLst>
          </p:cNvPr>
          <p:cNvSpPr>
            <a:spLocks noGrp="1"/>
          </p:cNvSpPr>
          <p:nvPr>
            <p:ph type="title"/>
          </p:nvPr>
        </p:nvSpPr>
        <p:spPr/>
        <p:txBody>
          <a:bodyPr>
            <a:normAutofit/>
          </a:bodyPr>
          <a:lstStyle/>
          <a:p>
            <a:r>
              <a:rPr lang="en-US" dirty="0"/>
              <a:t>What Are Patterns?</a:t>
            </a:r>
          </a:p>
        </p:txBody>
      </p:sp>
      <p:sp>
        <p:nvSpPr>
          <p:cNvPr id="3" name="Content Placeholder 2">
            <a:extLst>
              <a:ext uri="{FF2B5EF4-FFF2-40B4-BE49-F238E27FC236}">
                <a16:creationId xmlns:a16="http://schemas.microsoft.com/office/drawing/2014/main" id="{8F14185B-9359-445C-B6F8-BAAF8B2507B7}"/>
              </a:ext>
            </a:extLst>
          </p:cNvPr>
          <p:cNvSpPr>
            <a:spLocks noGrp="1"/>
          </p:cNvSpPr>
          <p:nvPr>
            <p:ph idx="1"/>
          </p:nvPr>
        </p:nvSpPr>
        <p:spPr/>
        <p:txBody>
          <a:bodyPr>
            <a:noAutofit/>
          </a:bodyPr>
          <a:lstStyle/>
          <a:p>
            <a:pPr marL="0" indent="0">
              <a:buNone/>
            </a:pPr>
            <a:endParaRPr lang="en-US" sz="2400" dirty="0"/>
          </a:p>
          <a:p>
            <a:pPr marL="0" indent="0">
              <a:buNone/>
            </a:pPr>
            <a:r>
              <a:rPr lang="en-US" sz="2400" dirty="0"/>
              <a:t>"Each </a:t>
            </a:r>
            <a:r>
              <a:rPr lang="en-US" sz="2400" b="1" dirty="0"/>
              <a:t>pattern</a:t>
            </a:r>
            <a:r>
              <a:rPr lang="en-US" sz="2400" dirty="0"/>
              <a:t> is a three-part </a:t>
            </a:r>
            <a:r>
              <a:rPr lang="en-US" sz="2400" b="1" dirty="0"/>
              <a:t>rule</a:t>
            </a:r>
            <a:r>
              <a:rPr lang="en-US" sz="2400" dirty="0"/>
              <a:t>, which expresses a relation between a certain </a:t>
            </a:r>
            <a:r>
              <a:rPr lang="en-US" sz="2400" b="1" dirty="0"/>
              <a:t>context</a:t>
            </a:r>
            <a:r>
              <a:rPr lang="en-US" sz="2400" dirty="0"/>
              <a:t>, a certain system of </a:t>
            </a:r>
            <a:r>
              <a:rPr lang="en-US" sz="2400" b="1" dirty="0"/>
              <a:t>forces</a:t>
            </a:r>
            <a:r>
              <a:rPr lang="en-US" sz="2400" dirty="0"/>
              <a:t> which occurs repeatedly in that context, and a certain </a:t>
            </a:r>
            <a:r>
              <a:rPr lang="en-US" sz="2400" b="1" dirty="0"/>
              <a:t>software configuration </a:t>
            </a:r>
            <a:r>
              <a:rPr lang="en-US" sz="2400" dirty="0"/>
              <a:t>which allows these forces to resolve themselves."</a:t>
            </a:r>
            <a:endParaRPr lang="en-US" sz="2400" i="1" dirty="0"/>
          </a:p>
          <a:p>
            <a:pPr marL="0" indent="0">
              <a:buNone/>
            </a:pPr>
            <a:endParaRPr lang="en-US" sz="2400" dirty="0"/>
          </a:p>
          <a:p>
            <a:pPr marL="0" indent="0">
              <a:buNone/>
            </a:pPr>
            <a:r>
              <a:rPr lang="en-US" sz="2400" dirty="0"/>
              <a:t>"A </a:t>
            </a:r>
            <a:r>
              <a:rPr lang="en-US" sz="2400" b="1" dirty="0"/>
              <a:t>pattern language </a:t>
            </a:r>
            <a:r>
              <a:rPr lang="en-US" sz="2400" dirty="0"/>
              <a:t>defines a collection of patterns and the rules to combine them into an architectural style. Pattern languages describe software frameworks or families of related systems."</a:t>
            </a:r>
          </a:p>
        </p:txBody>
      </p:sp>
      <p:sp>
        <p:nvSpPr>
          <p:cNvPr id="4" name="Slide Number Placeholder 3">
            <a:extLst>
              <a:ext uri="{FF2B5EF4-FFF2-40B4-BE49-F238E27FC236}">
                <a16:creationId xmlns:a16="http://schemas.microsoft.com/office/drawing/2014/main" id="{921A5E6A-C0E7-0FCA-466F-6A0092948E22}"/>
              </a:ext>
            </a:extLst>
          </p:cNvPr>
          <p:cNvSpPr>
            <a:spLocks noGrp="1"/>
          </p:cNvSpPr>
          <p:nvPr>
            <p:ph type="sldNum" sz="quarter" idx="12"/>
          </p:nvPr>
        </p:nvSpPr>
        <p:spPr/>
        <p:txBody>
          <a:bodyPr/>
          <a:lstStyle/>
          <a:p>
            <a:fld id="{286E2F1E-7CA5-438C-A0B7-E9724D4421E7}" type="slidenum">
              <a:rPr lang="en-US" smtClean="0"/>
              <a:t>20</a:t>
            </a:fld>
            <a:endParaRPr lang="en-US"/>
          </a:p>
        </p:txBody>
      </p:sp>
    </p:spTree>
    <p:extLst>
      <p:ext uri="{BB962C8B-B14F-4D97-AF65-F5344CB8AC3E}">
        <p14:creationId xmlns:p14="http://schemas.microsoft.com/office/powerpoint/2010/main" val="980895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D69E-5AFE-3C73-60C1-55848F875363}"/>
              </a:ext>
            </a:extLst>
          </p:cNvPr>
          <p:cNvSpPr>
            <a:spLocks noGrp="1"/>
          </p:cNvSpPr>
          <p:nvPr>
            <p:ph type="title"/>
          </p:nvPr>
        </p:nvSpPr>
        <p:spPr/>
        <p:txBody>
          <a:bodyPr/>
          <a:lstStyle/>
          <a:p>
            <a:r>
              <a:rPr lang="en-US" dirty="0"/>
              <a:t>Why Do Patterns Make Sense?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9EB50E2-17EB-EA0C-08E7-80705D8BB9DA}"/>
                  </a:ext>
                </a:extLst>
              </p:cNvPr>
              <p:cNvSpPr>
                <a:spLocks noGrp="1"/>
              </p:cNvSpPr>
              <p:nvPr>
                <p:ph idx="1"/>
              </p:nvPr>
            </p:nvSpPr>
            <p:spPr>
              <a:xfrm>
                <a:off x="838200" y="1164922"/>
                <a:ext cx="10515600" cy="5012042"/>
              </a:xfrm>
            </p:spPr>
            <p:txBody>
              <a:bodyPr>
                <a:normAutofit fontScale="77500" lnSpcReduction="20000"/>
              </a:bodyPr>
              <a:lstStyle/>
              <a:p>
                <a:pPr>
                  <a:lnSpc>
                    <a:spcPct val="120000"/>
                  </a:lnSpc>
                </a:pPr>
                <a:r>
                  <a:rPr lang="en-US" dirty="0"/>
                  <a:t>Patterns capture </a:t>
                </a:r>
                <a:r>
                  <a:rPr lang="en-US" b="1" dirty="0"/>
                  <a:t>solutions</a:t>
                </a:r>
                <a:r>
                  <a:rPr lang="en-US" dirty="0"/>
                  <a:t>, not just abstract principles or strategies</a:t>
                </a:r>
              </a:p>
              <a:p>
                <a:pPr>
                  <a:lnSpc>
                    <a:spcPct val="120000"/>
                  </a:lnSpc>
                </a:pPr>
                <a:r>
                  <a:rPr lang="en-US" dirty="0"/>
                  <a:t>Each specific solution tries to resolve the forces acting upon it</a:t>
                </a:r>
              </a:p>
              <a:p>
                <a:pPr>
                  <a:lnSpc>
                    <a:spcPct val="120000"/>
                  </a:lnSpc>
                </a:pPr>
                <a:r>
                  <a:rPr lang="en-US" dirty="0"/>
                  <a:t>Each engineering problem has an associated solution space</a:t>
                </a:r>
              </a:p>
              <a:p>
                <a:pPr>
                  <a:lnSpc>
                    <a:spcPct val="120000"/>
                  </a:lnSpc>
                </a:pPr>
                <a:r>
                  <a:rPr lang="en-US" dirty="0"/>
                  <a:t>Solution space is limited</a:t>
                </a:r>
              </a:p>
              <a:p>
                <a:pPr lvl="1">
                  <a:lnSpc>
                    <a:spcPct val="120000"/>
                  </a:lnSpc>
                </a:pPr>
                <a:r>
                  <a:rPr lang="en-US" dirty="0"/>
                  <a:t>Laws of physics </a:t>
                </a:r>
              </a:p>
              <a:p>
                <a:pPr lvl="1">
                  <a:lnSpc>
                    <a:spcPct val="120000"/>
                  </a:lnSpc>
                </a:pPr>
                <a:r>
                  <a:rPr lang="en-US" dirty="0"/>
                  <a:t>Business issues (cost, skillset, etc.)</a:t>
                </a:r>
              </a:p>
              <a:p>
                <a:pPr>
                  <a:lnSpc>
                    <a:spcPct val="120000"/>
                  </a:lnSpc>
                </a:pPr>
                <a:r>
                  <a:rPr lang="en-US" dirty="0"/>
                  <a:t>Patterns capture solutions </a:t>
                </a:r>
                <a:r>
                  <a:rPr lang="en-US" b="1" dirty="0"/>
                  <a:t>with a track record</a:t>
                </a:r>
                <a:r>
                  <a:rPr lang="en-US" dirty="0"/>
                  <a:t>, not theories or speculation</a:t>
                </a:r>
              </a:p>
              <a:p>
                <a:pPr>
                  <a:lnSpc>
                    <a:spcPct val="120000"/>
                  </a:lnSpc>
                </a:pPr>
                <a:r>
                  <a:rPr lang="en-US" dirty="0"/>
                  <a:t>Enough systems have been built to observe that a [relatively] small number of patterns exist in each given domain that enumerate all [or most] suitable solutions</a:t>
                </a:r>
              </a:p>
              <a:p>
                <a:pPr marL="0" indent="0" algn="ctr">
                  <a:lnSpc>
                    <a:spcPct val="120000"/>
                  </a:lnSpc>
                  <a:buNone/>
                </a:pPr>
                <a14:m>
                  <m:oMath xmlns:m="http://schemas.openxmlformats.org/officeDocument/2006/math">
                    <m:r>
                      <a:rPr lang="en-US" sz="4000" i="1" smtClean="0">
                        <a:latin typeface="Cambria Math" panose="02040503050406030204" pitchFamily="18" charset="0"/>
                        <a:ea typeface="Cambria Math" panose="02040503050406030204" pitchFamily="18" charset="0"/>
                        <a:sym typeface="Wingdings" panose="05000000000000000000" pitchFamily="2" charset="2"/>
                      </a:rPr>
                      <m:t>⟹</m:t>
                    </m:r>
                    <m:r>
                      <a:rPr lang="en-US" sz="4000" b="0" i="1" smtClean="0">
                        <a:latin typeface="Cambria Math" panose="02040503050406030204" pitchFamily="18" charset="0"/>
                        <a:ea typeface="Cambria Math" panose="02040503050406030204" pitchFamily="18" charset="0"/>
                        <a:sym typeface="Wingdings" panose="05000000000000000000" pitchFamily="2" charset="2"/>
                      </a:rPr>
                      <m:t>  </m:t>
                    </m:r>
                  </m:oMath>
                </a14:m>
                <a:r>
                  <a:rPr lang="en-US" i="1" dirty="0"/>
                  <a:t>Patterns describe structures that are useful, useable, and used!</a:t>
                </a:r>
              </a:p>
            </p:txBody>
          </p:sp>
        </mc:Choice>
        <mc:Fallback xmlns="">
          <p:sp>
            <p:nvSpPr>
              <p:cNvPr id="3" name="Content Placeholder 2">
                <a:extLst>
                  <a:ext uri="{FF2B5EF4-FFF2-40B4-BE49-F238E27FC236}">
                    <a16:creationId xmlns:a16="http://schemas.microsoft.com/office/drawing/2014/main" id="{49EB50E2-17EB-EA0C-08E7-80705D8BB9DA}"/>
                  </a:ext>
                </a:extLst>
              </p:cNvPr>
              <p:cNvSpPr>
                <a:spLocks noGrp="1" noRot="1" noChangeAspect="1" noMove="1" noResize="1" noEditPoints="1" noAdjustHandles="1" noChangeArrowheads="1" noChangeShapeType="1" noTextEdit="1"/>
              </p:cNvSpPr>
              <p:nvPr>
                <p:ph idx="1"/>
              </p:nvPr>
            </p:nvSpPr>
            <p:spPr>
              <a:xfrm>
                <a:off x="838200" y="1164922"/>
                <a:ext cx="10515600" cy="5012042"/>
              </a:xfrm>
              <a:blipFill>
                <a:blip r:embed="rId3"/>
                <a:stretch>
                  <a:fillRect l="-696" t="-85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31E0AA8-4867-45A5-11D8-91BA9443173F}"/>
              </a:ext>
            </a:extLst>
          </p:cNvPr>
          <p:cNvSpPr>
            <a:spLocks noGrp="1"/>
          </p:cNvSpPr>
          <p:nvPr>
            <p:ph type="sldNum" sz="quarter" idx="12"/>
          </p:nvPr>
        </p:nvSpPr>
        <p:spPr/>
        <p:txBody>
          <a:bodyPr/>
          <a:lstStyle/>
          <a:p>
            <a:fld id="{E6E087A0-8E33-4AD2-B40F-AC5841A95ADE}" type="slidenum">
              <a:rPr lang="en-US" smtClean="0"/>
              <a:t>21</a:t>
            </a:fld>
            <a:endParaRPr lang="en-US"/>
          </a:p>
        </p:txBody>
      </p:sp>
    </p:spTree>
    <p:extLst>
      <p:ext uri="{BB962C8B-B14F-4D97-AF65-F5344CB8AC3E}">
        <p14:creationId xmlns:p14="http://schemas.microsoft.com/office/powerpoint/2010/main" val="13995817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8833D-1B82-BAD6-EF67-B3EE98DBE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C3E7E7-FD11-6550-74F7-A1E96943662F}"/>
              </a:ext>
            </a:extLst>
          </p:cNvPr>
          <p:cNvSpPr>
            <a:spLocks noGrp="1"/>
          </p:cNvSpPr>
          <p:nvPr>
            <p:ph type="title"/>
          </p:nvPr>
        </p:nvSpPr>
        <p:spPr/>
        <p:txBody>
          <a:bodyPr/>
          <a:lstStyle/>
          <a:p>
            <a:r>
              <a:rPr lang="en-US" dirty="0"/>
              <a:t>Pattern Examples</a:t>
            </a:r>
          </a:p>
        </p:txBody>
      </p:sp>
      <p:graphicFrame>
        <p:nvGraphicFramePr>
          <p:cNvPr id="5" name="Content Placeholder 4">
            <a:extLst>
              <a:ext uri="{FF2B5EF4-FFF2-40B4-BE49-F238E27FC236}">
                <a16:creationId xmlns:a16="http://schemas.microsoft.com/office/drawing/2014/main" id="{07744A27-6943-7998-3E5C-6F8C9E332132}"/>
              </a:ext>
            </a:extLst>
          </p:cNvPr>
          <p:cNvGraphicFramePr>
            <a:graphicFrameLocks noGrp="1"/>
          </p:cNvGraphicFramePr>
          <p:nvPr>
            <p:ph idx="1"/>
            <p:extLst>
              <p:ext uri="{D42A27DB-BD31-4B8C-83A1-F6EECF244321}">
                <p14:modId xmlns:p14="http://schemas.microsoft.com/office/powerpoint/2010/main" val="1531825054"/>
              </p:ext>
            </p:extLst>
          </p:nvPr>
        </p:nvGraphicFramePr>
        <p:xfrm>
          <a:off x="2007108" y="989965"/>
          <a:ext cx="8177784" cy="5547360"/>
        </p:xfrm>
        <a:graphic>
          <a:graphicData uri="http://schemas.openxmlformats.org/drawingml/2006/table">
            <a:tbl>
              <a:tblPr firstRow="1" bandRow="1">
                <a:tableStyleId>{2D5ABB26-0587-4C30-8999-92F81FD0307C}</a:tableStyleId>
              </a:tblPr>
              <a:tblGrid>
                <a:gridCol w="1901038">
                  <a:extLst>
                    <a:ext uri="{9D8B030D-6E8A-4147-A177-3AD203B41FA5}">
                      <a16:colId xmlns:a16="http://schemas.microsoft.com/office/drawing/2014/main" val="789836643"/>
                    </a:ext>
                  </a:extLst>
                </a:gridCol>
                <a:gridCol w="6276746">
                  <a:extLst>
                    <a:ext uri="{9D8B030D-6E8A-4147-A177-3AD203B41FA5}">
                      <a16:colId xmlns:a16="http://schemas.microsoft.com/office/drawing/2014/main" val="1149230821"/>
                    </a:ext>
                  </a:extLst>
                </a:gridCol>
              </a:tblGrid>
              <a:tr h="276278">
                <a:tc>
                  <a:txBody>
                    <a:bodyPr/>
                    <a:lstStyle/>
                    <a:p>
                      <a:r>
                        <a:rPr lang="en-US" sz="2000" b="1" dirty="0"/>
                        <a:t>Category</a:t>
                      </a:r>
                    </a:p>
                  </a:txBody>
                  <a:tcPr>
                    <a:lnB w="12700" cap="flat" cmpd="sng" algn="ctr">
                      <a:solidFill>
                        <a:schemeClr val="bg1">
                          <a:lumMod val="50000"/>
                        </a:schemeClr>
                      </a:solidFill>
                      <a:prstDash val="solid"/>
                      <a:round/>
                      <a:headEnd type="none" w="med" len="med"/>
                      <a:tailEnd type="none" w="med" len="med"/>
                    </a:lnB>
                  </a:tcPr>
                </a:tc>
                <a:tc>
                  <a:txBody>
                    <a:bodyPr/>
                    <a:lstStyle/>
                    <a:p>
                      <a:r>
                        <a:rPr lang="en-US" sz="2000" b="1" dirty="0"/>
                        <a:t>Pattern</a:t>
                      </a:r>
                    </a:p>
                  </a:txBody>
                  <a:tcPr>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640002546"/>
                  </a:ext>
                </a:extLst>
              </a:tr>
              <a:tr h="2762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Messaging</a:t>
                      </a:r>
                    </a:p>
                  </a:txBody>
                  <a:tcP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dirty="0"/>
                        <a:t>Publisher/Subscriber</a:t>
                      </a:r>
                    </a:p>
                  </a:txBody>
                  <a:tcP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4155124105"/>
                  </a:ext>
                </a:extLst>
              </a:tr>
              <a:tr h="276278">
                <a:tc>
                  <a:txBody>
                    <a:bodyPr/>
                    <a:lstStyle/>
                    <a:p>
                      <a:endParaRPr lang="en-US" sz="2000" dirty="0"/>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Guaranteed Messaging</a:t>
                      </a:r>
                    </a:p>
                  </a:txBody>
                  <a:tcPr>
                    <a:lnL>
                      <a:noFill/>
                    </a:lnL>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671121540"/>
                  </a:ext>
                </a:extLst>
              </a:tr>
              <a:tr h="276278">
                <a:tc>
                  <a:txBody>
                    <a:bodyPr/>
                    <a:lstStyle/>
                    <a:p>
                      <a:endParaRPr lang="en-US" sz="2000" dirty="0"/>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Queue with Keys (Sequential Convoy)</a:t>
                      </a:r>
                    </a:p>
                  </a:txBody>
                  <a:tcPr>
                    <a:lnL>
                      <a:noFill/>
                    </a:lnL>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065964715"/>
                  </a:ext>
                </a:extLst>
              </a:tr>
              <a:tr h="276278">
                <a:tc>
                  <a:txBody>
                    <a:bodyPr/>
                    <a:lstStyle/>
                    <a:p>
                      <a:endParaRPr lang="en-US" sz="2000" dirty="0"/>
                    </a:p>
                  </a:txBody>
                  <a:tcP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Dead Letter Queue</a:t>
                      </a:r>
                    </a:p>
                  </a:txBody>
                  <a:tcP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81609876"/>
                  </a:ext>
                </a:extLst>
              </a:tr>
              <a:tr h="276278">
                <a:tc>
                  <a:txBody>
                    <a:bodyPr/>
                    <a:lstStyle/>
                    <a:p>
                      <a:r>
                        <a:rPr lang="en-US" sz="2000" dirty="0"/>
                        <a:t>Storage</a:t>
                      </a:r>
                    </a:p>
                  </a:txBody>
                  <a:tcP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dirty="0"/>
                        <a:t>Relational Database</a:t>
                      </a:r>
                    </a:p>
                  </a:txBody>
                  <a:tcP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201088129"/>
                  </a:ext>
                </a:extLst>
              </a:tr>
              <a:tr h="276278">
                <a:tc>
                  <a:txBody>
                    <a:bodyPr/>
                    <a:lstStyle/>
                    <a:p>
                      <a:endParaRPr lang="en-US" sz="2000" dirty="0"/>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dirty="0"/>
                        <a:t>Key-Value Store</a:t>
                      </a:r>
                    </a:p>
                  </a:txBody>
                  <a:tcP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8943289"/>
                  </a:ext>
                </a:extLst>
              </a:tr>
              <a:tr h="276278">
                <a:tc>
                  <a:txBody>
                    <a:bodyPr/>
                    <a:lstStyle/>
                    <a:p>
                      <a:endParaRPr lang="en-US" sz="2000" dirty="0"/>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Two-Dimensional Key-Value Store</a:t>
                      </a:r>
                    </a:p>
                  </a:txBody>
                  <a:tcP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20631921"/>
                  </a:ext>
                </a:extLst>
              </a:tr>
              <a:tr h="276278">
                <a:tc>
                  <a:txBody>
                    <a:bodyPr/>
                    <a:lstStyle/>
                    <a:p>
                      <a:endParaRPr lang="en-US" sz="2000" dirty="0"/>
                    </a:p>
                  </a:txBody>
                  <a:tcP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r>
                        <a:rPr lang="en-US" sz="2000" dirty="0"/>
                        <a:t>Cache</a:t>
                      </a:r>
                    </a:p>
                  </a:txBody>
                  <a:tcP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30712083"/>
                  </a:ext>
                </a:extLst>
              </a:tr>
              <a:tr h="276278">
                <a:tc>
                  <a:txBody>
                    <a:bodyPr/>
                    <a:lstStyle/>
                    <a:p>
                      <a:r>
                        <a:rPr lang="en-US" sz="2000" dirty="0"/>
                        <a:t>Resiliency</a:t>
                      </a:r>
                    </a:p>
                  </a:txBody>
                  <a:tcP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dirty="0"/>
                        <a:t>Bulkhead </a:t>
                      </a:r>
                    </a:p>
                  </a:txBody>
                  <a:tcP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395834999"/>
                  </a:ext>
                </a:extLst>
              </a:tr>
              <a:tr h="276278">
                <a:tc>
                  <a:txBody>
                    <a:bodyPr/>
                    <a:lstStyle/>
                    <a:p>
                      <a:endParaRPr lang="en-US" sz="2000" dirty="0"/>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2000" dirty="0"/>
                        <a:t>Stateless Services </a:t>
                      </a:r>
                    </a:p>
                  </a:txBody>
                  <a:tcP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276070054"/>
                  </a:ext>
                </a:extLst>
              </a:tr>
              <a:tr h="276278">
                <a:tc>
                  <a:txBody>
                    <a:bodyPr/>
                    <a:lstStyle/>
                    <a:p>
                      <a:endParaRPr lang="en-US" sz="2000" dirty="0"/>
                    </a:p>
                  </a:txBody>
                  <a:tcP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r>
                        <a:rPr lang="en-US" sz="2000" dirty="0"/>
                        <a:t>Horizontal Scalability</a:t>
                      </a:r>
                    </a:p>
                  </a:txBody>
                  <a:tcP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341153230"/>
                  </a:ext>
                </a:extLst>
              </a:tr>
              <a:tr h="276278">
                <a:tc>
                  <a:txBody>
                    <a:bodyPr/>
                    <a:lstStyle/>
                    <a:p>
                      <a:r>
                        <a:rPr lang="en-US" sz="2000" dirty="0"/>
                        <a:t>Data</a:t>
                      </a:r>
                    </a:p>
                  </a:txBody>
                  <a:tcPr>
                    <a:lnT w="12700" cap="flat" cmpd="sng" algn="ctr">
                      <a:solidFill>
                        <a:schemeClr val="bg1">
                          <a:lumMod val="50000"/>
                        </a:schemeClr>
                      </a:solidFill>
                      <a:prstDash val="solid"/>
                      <a:round/>
                      <a:headEnd type="none" w="med" len="med"/>
                      <a:tailEnd type="none" w="med" len="med"/>
                    </a:lnT>
                    <a:lnB>
                      <a:noFill/>
                    </a:lnB>
                  </a:tcPr>
                </a:tc>
                <a:tc>
                  <a:txBody>
                    <a:bodyPr/>
                    <a:lstStyle/>
                    <a:p>
                      <a:r>
                        <a:rPr lang="en-US" sz="2000" dirty="0"/>
                        <a:t>Bi-temporal </a:t>
                      </a:r>
                      <a:r>
                        <a:rPr lang="en-US" sz="2000" dirty="0" err="1"/>
                        <a:t>Milestoning</a:t>
                      </a:r>
                      <a:endParaRPr lang="en-US" sz="2000" dirty="0"/>
                    </a:p>
                  </a:txBody>
                  <a:tcP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013941189"/>
                  </a:ext>
                </a:extLst>
              </a:tr>
              <a:tr h="276278">
                <a:tc>
                  <a:txBody>
                    <a:bodyPr/>
                    <a:lstStyle/>
                    <a:p>
                      <a:endParaRPr lang="en-US" sz="2000" dirty="0"/>
                    </a:p>
                  </a:txBody>
                  <a:tcPr>
                    <a:lnT w="12700" cap="flat" cmpd="sng" algn="ctr">
                      <a:noFill/>
                      <a:prstDash val="solid"/>
                      <a:round/>
                      <a:headEnd type="none" w="med" len="med"/>
                      <a:tailEnd type="none" w="med" len="med"/>
                    </a:lnT>
                  </a:tcPr>
                </a:tc>
                <a:tc>
                  <a:txBody>
                    <a:bodyPr/>
                    <a:lstStyle/>
                    <a:p>
                      <a:r>
                        <a:rPr lang="en-US" sz="2000" dirty="0">
                          <a:solidFill>
                            <a:schemeClr val="tx1"/>
                          </a:solidFill>
                        </a:rPr>
                        <a:t>High Water Mark Filters</a:t>
                      </a:r>
                    </a:p>
                  </a:txBody>
                  <a:tcPr>
                    <a:lnT w="12700" cap="flat" cmpd="sng" algn="ctr">
                      <a:solidFill>
                        <a:schemeClr val="bg1">
                          <a:lumMod val="50000"/>
                        </a:schemeClr>
                      </a:solidFill>
                      <a:prstDash val="solid"/>
                      <a:round/>
                      <a:headEnd type="none" w="med" len="med"/>
                      <a:tailEnd type="none" w="med" len="med"/>
                    </a:lnT>
                  </a:tcPr>
                </a:tc>
                <a:extLst>
                  <a:ext uri="{0D108BD9-81ED-4DB2-BD59-A6C34878D82A}">
                    <a16:rowId xmlns:a16="http://schemas.microsoft.com/office/drawing/2014/main" val="1245546954"/>
                  </a:ext>
                </a:extLst>
              </a:tr>
            </a:tbl>
          </a:graphicData>
        </a:graphic>
      </p:graphicFrame>
      <p:sp>
        <p:nvSpPr>
          <p:cNvPr id="4" name="Slide Number Placeholder 3">
            <a:extLst>
              <a:ext uri="{FF2B5EF4-FFF2-40B4-BE49-F238E27FC236}">
                <a16:creationId xmlns:a16="http://schemas.microsoft.com/office/drawing/2014/main" id="{1D3836AE-138C-4C46-70D6-EA0F5CDDB211}"/>
              </a:ext>
            </a:extLst>
          </p:cNvPr>
          <p:cNvSpPr>
            <a:spLocks noGrp="1"/>
          </p:cNvSpPr>
          <p:nvPr>
            <p:ph type="sldNum" sz="quarter" idx="12"/>
          </p:nvPr>
        </p:nvSpPr>
        <p:spPr/>
        <p:txBody>
          <a:bodyPr/>
          <a:lstStyle/>
          <a:p>
            <a:fld id="{E6E087A0-8E33-4AD2-B40F-AC5841A95ADE}" type="slidenum">
              <a:rPr lang="en-US" smtClean="0"/>
              <a:t>22</a:t>
            </a:fld>
            <a:endParaRPr lang="en-US"/>
          </a:p>
        </p:txBody>
      </p:sp>
    </p:spTree>
    <p:extLst>
      <p:ext uri="{BB962C8B-B14F-4D97-AF65-F5344CB8AC3E}">
        <p14:creationId xmlns:p14="http://schemas.microsoft.com/office/powerpoint/2010/main" val="33587636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66045-1D18-109B-E73C-D1EA5520A018}"/>
              </a:ext>
            </a:extLst>
          </p:cNvPr>
          <p:cNvSpPr>
            <a:spLocks noGrp="1"/>
          </p:cNvSpPr>
          <p:nvPr>
            <p:ph type="title"/>
          </p:nvPr>
        </p:nvSpPr>
        <p:spPr/>
        <p:txBody>
          <a:bodyPr/>
          <a:lstStyle/>
          <a:p>
            <a:r>
              <a:rPr lang="en-US" dirty="0"/>
              <a:t>Pattern Description Template</a:t>
            </a:r>
          </a:p>
        </p:txBody>
      </p:sp>
      <p:graphicFrame>
        <p:nvGraphicFramePr>
          <p:cNvPr id="4" name="Table 4">
            <a:extLst>
              <a:ext uri="{FF2B5EF4-FFF2-40B4-BE49-F238E27FC236}">
                <a16:creationId xmlns:a16="http://schemas.microsoft.com/office/drawing/2014/main" id="{C02B2191-FB31-879E-209C-ED084DD5F68A}"/>
              </a:ext>
            </a:extLst>
          </p:cNvPr>
          <p:cNvGraphicFramePr>
            <a:graphicFrameLocks noGrp="1"/>
          </p:cNvGraphicFramePr>
          <p:nvPr>
            <p:ph idx="1"/>
            <p:extLst>
              <p:ext uri="{D42A27DB-BD31-4B8C-83A1-F6EECF244321}">
                <p14:modId xmlns:p14="http://schemas.microsoft.com/office/powerpoint/2010/main" val="1752856807"/>
              </p:ext>
            </p:extLst>
          </p:nvPr>
        </p:nvGraphicFramePr>
        <p:xfrm>
          <a:off x="838200" y="2088157"/>
          <a:ext cx="10515600" cy="3423920"/>
        </p:xfrm>
        <a:graphic>
          <a:graphicData uri="http://schemas.openxmlformats.org/drawingml/2006/table">
            <a:tbl>
              <a:tblPr firstRow="1" bandRow="1">
                <a:tableStyleId>{2D5ABB26-0587-4C30-8999-92F81FD0307C}</a:tableStyleId>
              </a:tblPr>
              <a:tblGrid>
                <a:gridCol w="2129287">
                  <a:extLst>
                    <a:ext uri="{9D8B030D-6E8A-4147-A177-3AD203B41FA5}">
                      <a16:colId xmlns:a16="http://schemas.microsoft.com/office/drawing/2014/main" val="3049304632"/>
                    </a:ext>
                  </a:extLst>
                </a:gridCol>
                <a:gridCol w="8386313">
                  <a:extLst>
                    <a:ext uri="{9D8B030D-6E8A-4147-A177-3AD203B41FA5}">
                      <a16:colId xmlns:a16="http://schemas.microsoft.com/office/drawing/2014/main" val="1995877292"/>
                    </a:ext>
                  </a:extLst>
                </a:gridCol>
              </a:tblGrid>
              <a:tr h="3708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solidFill>
                            <a:srgbClr val="C00000"/>
                          </a:solidFill>
                        </a:rPr>
                        <a:t>Pattern: [Pattern Name - a descriptive and unique name]</a:t>
                      </a:r>
                    </a:p>
                  </a:txBody>
                  <a:tcPr>
                    <a:lnB w="6350" cap="flat" cmpd="sng" algn="ctr">
                      <a:solidFill>
                        <a:schemeClr val="tx1"/>
                      </a:solidFill>
                      <a:prstDash val="solid"/>
                      <a:round/>
                      <a:headEnd type="none" w="med" len="med"/>
                      <a:tailEnd type="none" w="med" len="med"/>
                    </a:lnB>
                  </a:tcPr>
                </a:tc>
                <a:tc hMerge="1">
                  <a:txBody>
                    <a:bodyPr/>
                    <a:lstStyle/>
                    <a:p>
                      <a:endParaRPr lang="en-US" dirty="0"/>
                    </a:p>
                  </a:txBody>
                  <a:tcPr>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4426479"/>
                  </a:ext>
                </a:extLst>
              </a:tr>
              <a:tr h="370840">
                <a:tc>
                  <a:txBody>
                    <a:bodyPr/>
                    <a:lstStyle/>
                    <a:p>
                      <a:r>
                        <a:rPr lang="en-US" b="1" dirty="0"/>
                        <a:t>Description</a:t>
                      </a:r>
                    </a:p>
                  </a:txBody>
                  <a:tcP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A description of the goal behind the pattern and the reason for using it</a:t>
                      </a:r>
                    </a:p>
                  </a:txBody>
                  <a:tcP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1898659"/>
                  </a:ext>
                </a:extLst>
              </a:tr>
              <a:tr h="370840">
                <a:tc>
                  <a:txBody>
                    <a:bodyPr/>
                    <a:lstStyle/>
                    <a:p>
                      <a:r>
                        <a:rPr lang="en-US" b="1" dirty="0"/>
                        <a:t>Motivation</a:t>
                      </a:r>
                    </a:p>
                  </a:txBody>
                  <a:tcP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A scenario consisting of a problem and a context in which this pattern can be used</a:t>
                      </a:r>
                    </a:p>
                  </a:txBody>
                  <a:tcP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063332"/>
                  </a:ext>
                </a:extLst>
              </a:tr>
              <a:tr h="370840">
                <a:tc>
                  <a:txBody>
                    <a:bodyPr/>
                    <a:lstStyle/>
                    <a:p>
                      <a:r>
                        <a:rPr lang="en-US" b="1" dirty="0"/>
                        <a:t>Applicability</a:t>
                      </a:r>
                    </a:p>
                  </a:txBody>
                  <a:tcP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Situations in which this pattern is usable; the context for the pattern</a:t>
                      </a:r>
                    </a:p>
                  </a:txBody>
                  <a:tcP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4225638"/>
                  </a:ext>
                </a:extLst>
              </a:tr>
              <a:tr h="370840">
                <a:tc>
                  <a:txBody>
                    <a:bodyPr/>
                    <a:lstStyle/>
                    <a:p>
                      <a:r>
                        <a:rPr lang="en-US" b="1" dirty="0"/>
                        <a:t>Structure</a:t>
                      </a:r>
                    </a:p>
                  </a:txBody>
                  <a:tcP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A graphical representation of the pattern</a:t>
                      </a:r>
                    </a:p>
                  </a:txBody>
                  <a:tcP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8437393"/>
                  </a:ext>
                </a:extLst>
              </a:tr>
              <a:tr h="370840">
                <a:tc>
                  <a:txBody>
                    <a:bodyPr/>
                    <a:lstStyle/>
                    <a:p>
                      <a:r>
                        <a:rPr lang="en-US" b="1" dirty="0"/>
                        <a:t>Consequences</a:t>
                      </a:r>
                    </a:p>
                  </a:txBody>
                  <a:tcP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A description of the results, side effects, and trade offs caused by using the pattern</a:t>
                      </a:r>
                    </a:p>
                  </a:txBody>
                  <a:tcP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4757294"/>
                  </a:ext>
                </a:extLst>
              </a:tr>
              <a:tr h="370840">
                <a:tc>
                  <a:txBody>
                    <a:bodyPr/>
                    <a:lstStyle/>
                    <a:p>
                      <a:r>
                        <a:rPr lang="en-US" b="1" dirty="0"/>
                        <a:t>Implementation</a:t>
                      </a:r>
                    </a:p>
                  </a:txBody>
                  <a:tcP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A description or an example of an implementation of the pattern</a:t>
                      </a:r>
                    </a:p>
                  </a:txBody>
                  <a:tcP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799381"/>
                  </a:ext>
                </a:extLst>
              </a:tr>
              <a:tr h="370840">
                <a:tc>
                  <a:txBody>
                    <a:bodyPr/>
                    <a:lstStyle/>
                    <a:p>
                      <a:r>
                        <a:rPr lang="en-US" b="1" dirty="0"/>
                        <a:t>Related Patterns</a:t>
                      </a:r>
                    </a:p>
                  </a:txBody>
                  <a:tcP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Other patterns that have some relationship with the pattern</a:t>
                      </a:r>
                    </a:p>
                  </a:txBody>
                  <a:tcP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30865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Known uses</a:t>
                      </a:r>
                    </a:p>
                  </a:txBody>
                  <a:tcP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Examples of real usages of the pattern</a:t>
                      </a:r>
                    </a:p>
                  </a:txBody>
                  <a:tcP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4145045"/>
                  </a:ext>
                </a:extLst>
              </a:tr>
            </a:tbl>
          </a:graphicData>
        </a:graphic>
      </p:graphicFrame>
      <p:sp>
        <p:nvSpPr>
          <p:cNvPr id="6" name="TextBox 5">
            <a:extLst>
              <a:ext uri="{FF2B5EF4-FFF2-40B4-BE49-F238E27FC236}">
                <a16:creationId xmlns:a16="http://schemas.microsoft.com/office/drawing/2014/main" id="{615B6ABB-DCA2-EB48-C8E2-375EB71A305D}"/>
              </a:ext>
            </a:extLst>
          </p:cNvPr>
          <p:cNvSpPr txBox="1"/>
          <p:nvPr/>
        </p:nvSpPr>
        <p:spPr>
          <a:xfrm>
            <a:off x="9734843" y="1326508"/>
            <a:ext cx="1674136" cy="369332"/>
          </a:xfrm>
          <a:prstGeom prst="rect">
            <a:avLst/>
          </a:prstGeom>
          <a:noFill/>
          <a:ln>
            <a:solidFill>
              <a:schemeClr val="tx1"/>
            </a:solidFill>
          </a:ln>
        </p:spPr>
        <p:txBody>
          <a:bodyPr wrap="square">
            <a:spAutoFit/>
          </a:bodyPr>
          <a:lstStyle/>
          <a:p>
            <a:r>
              <a:rPr lang="en-US" dirty="0"/>
              <a:t>Category</a:t>
            </a:r>
          </a:p>
        </p:txBody>
      </p:sp>
      <p:sp>
        <p:nvSpPr>
          <p:cNvPr id="7" name="TextBox 6">
            <a:extLst>
              <a:ext uri="{FF2B5EF4-FFF2-40B4-BE49-F238E27FC236}">
                <a16:creationId xmlns:a16="http://schemas.microsoft.com/office/drawing/2014/main" id="{0C1EE1D3-BB22-1AF7-3BA0-D075C0EF78E1}"/>
              </a:ext>
            </a:extLst>
          </p:cNvPr>
          <p:cNvSpPr txBox="1"/>
          <p:nvPr/>
        </p:nvSpPr>
        <p:spPr>
          <a:xfrm>
            <a:off x="9734843" y="1695840"/>
            <a:ext cx="1674136" cy="369332"/>
          </a:xfrm>
          <a:prstGeom prst="rect">
            <a:avLst/>
          </a:prstGeom>
          <a:noFill/>
          <a:ln>
            <a:solidFill>
              <a:schemeClr val="tx1"/>
            </a:solidFill>
          </a:ln>
        </p:spPr>
        <p:txBody>
          <a:bodyPr wrap="square">
            <a:spAutoFit/>
          </a:bodyPr>
          <a:lstStyle/>
          <a:p>
            <a:r>
              <a:rPr lang="en-US" dirty="0"/>
              <a:t>Sub-category</a:t>
            </a:r>
          </a:p>
        </p:txBody>
      </p:sp>
      <p:sp>
        <p:nvSpPr>
          <p:cNvPr id="3" name="Slide Number Placeholder 2">
            <a:extLst>
              <a:ext uri="{FF2B5EF4-FFF2-40B4-BE49-F238E27FC236}">
                <a16:creationId xmlns:a16="http://schemas.microsoft.com/office/drawing/2014/main" id="{6387C619-4652-EF33-1839-D8A4B4A796D9}"/>
              </a:ext>
            </a:extLst>
          </p:cNvPr>
          <p:cNvSpPr>
            <a:spLocks noGrp="1"/>
          </p:cNvSpPr>
          <p:nvPr>
            <p:ph type="sldNum" sz="quarter" idx="12"/>
          </p:nvPr>
        </p:nvSpPr>
        <p:spPr/>
        <p:txBody>
          <a:bodyPr/>
          <a:lstStyle/>
          <a:p>
            <a:fld id="{286E2F1E-7CA5-438C-A0B7-E9724D4421E7}" type="slidenum">
              <a:rPr lang="en-US" smtClean="0"/>
              <a:t>23</a:t>
            </a:fld>
            <a:endParaRPr lang="en-US"/>
          </a:p>
        </p:txBody>
      </p:sp>
    </p:spTree>
    <p:extLst>
      <p:ext uri="{BB962C8B-B14F-4D97-AF65-F5344CB8AC3E}">
        <p14:creationId xmlns:p14="http://schemas.microsoft.com/office/powerpoint/2010/main" val="1955858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5B34D-6535-F559-1BD7-89166D72C1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5027A8-06A2-ADD7-0B89-BD54C9902EA6}"/>
              </a:ext>
            </a:extLst>
          </p:cNvPr>
          <p:cNvSpPr>
            <a:spLocks noGrp="1"/>
          </p:cNvSpPr>
          <p:nvPr>
            <p:ph type="title"/>
          </p:nvPr>
        </p:nvSpPr>
        <p:spPr/>
        <p:txBody>
          <a:bodyPr/>
          <a:lstStyle/>
          <a:p>
            <a:r>
              <a:rPr lang="en-US" dirty="0"/>
              <a:t>Pattern Description Example</a:t>
            </a:r>
          </a:p>
        </p:txBody>
      </p:sp>
      <p:graphicFrame>
        <p:nvGraphicFramePr>
          <p:cNvPr id="4" name="Table 4">
            <a:extLst>
              <a:ext uri="{FF2B5EF4-FFF2-40B4-BE49-F238E27FC236}">
                <a16:creationId xmlns:a16="http://schemas.microsoft.com/office/drawing/2014/main" id="{BEE374DF-C5F6-E926-0737-2DD6F05BF855}"/>
              </a:ext>
            </a:extLst>
          </p:cNvPr>
          <p:cNvGraphicFramePr>
            <a:graphicFrameLocks noGrp="1"/>
          </p:cNvGraphicFramePr>
          <p:nvPr>
            <p:ph idx="1"/>
            <p:extLst>
              <p:ext uri="{D42A27DB-BD31-4B8C-83A1-F6EECF244321}">
                <p14:modId xmlns:p14="http://schemas.microsoft.com/office/powerpoint/2010/main" val="2940154424"/>
              </p:ext>
            </p:extLst>
          </p:nvPr>
        </p:nvGraphicFramePr>
        <p:xfrm>
          <a:off x="838200" y="1621813"/>
          <a:ext cx="10515600" cy="4780280"/>
        </p:xfrm>
        <a:graphic>
          <a:graphicData uri="http://schemas.openxmlformats.org/drawingml/2006/table">
            <a:tbl>
              <a:tblPr firstRow="1" bandRow="1">
                <a:tableStyleId>{2D5ABB26-0587-4C30-8999-92F81FD0307C}</a:tableStyleId>
              </a:tblPr>
              <a:tblGrid>
                <a:gridCol w="1886712">
                  <a:extLst>
                    <a:ext uri="{9D8B030D-6E8A-4147-A177-3AD203B41FA5}">
                      <a16:colId xmlns:a16="http://schemas.microsoft.com/office/drawing/2014/main" val="3049304632"/>
                    </a:ext>
                  </a:extLst>
                </a:gridCol>
                <a:gridCol w="8628888">
                  <a:extLst>
                    <a:ext uri="{9D8B030D-6E8A-4147-A177-3AD203B41FA5}">
                      <a16:colId xmlns:a16="http://schemas.microsoft.com/office/drawing/2014/main" val="1995877292"/>
                    </a:ext>
                  </a:extLst>
                </a:gridCol>
              </a:tblGrid>
              <a:tr h="3708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solidFill>
                            <a:srgbClr val="C00000"/>
                          </a:solidFill>
                        </a:rPr>
                        <a:t>Pattern: Sequential Convoy </a:t>
                      </a:r>
                      <a:r>
                        <a:rPr lang="en-US" sz="2400" dirty="0"/>
                        <a:t>[</a:t>
                      </a:r>
                      <a:r>
                        <a:rPr lang="en-US" sz="2400" dirty="0">
                          <a:hlinkClick r:id="rId3"/>
                        </a:rPr>
                        <a:t>from MSFT</a:t>
                      </a:r>
                      <a:r>
                        <a:rPr lang="en-US" sz="2400" dirty="0"/>
                        <a:t>]</a:t>
                      </a:r>
                      <a:endParaRPr lang="en-US" sz="2400" b="0" dirty="0">
                        <a:solidFill>
                          <a:srgbClr val="C00000"/>
                        </a:solidFill>
                      </a:endParaRPr>
                    </a:p>
                  </a:txBody>
                  <a:tcPr>
                    <a:lnB w="6350" cap="flat" cmpd="sng" algn="ctr">
                      <a:solidFill>
                        <a:schemeClr val="tx1"/>
                      </a:solidFill>
                      <a:prstDash val="solid"/>
                      <a:round/>
                      <a:headEnd type="none" w="med" len="med"/>
                      <a:tailEnd type="none" w="med" len="med"/>
                    </a:lnB>
                  </a:tcPr>
                </a:tc>
                <a:tc hMerge="1">
                  <a:txBody>
                    <a:bodyPr/>
                    <a:lstStyle/>
                    <a:p>
                      <a:endParaRPr lang="en-US" dirty="0"/>
                    </a:p>
                  </a:txBody>
                  <a:tcPr>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4426479"/>
                  </a:ext>
                </a:extLst>
              </a:tr>
              <a:tr h="370840">
                <a:tc>
                  <a:txBody>
                    <a:bodyPr/>
                    <a:lstStyle/>
                    <a:p>
                      <a:r>
                        <a:rPr lang="en-US" b="1" dirty="0"/>
                        <a:t>Description</a:t>
                      </a:r>
                    </a:p>
                  </a:txBody>
                  <a:tcPr marL="45720" marR="4572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600" b="0" i="0" kern="1200" dirty="0">
                          <a:solidFill>
                            <a:schemeClr val="tx1"/>
                          </a:solidFill>
                          <a:effectLst/>
                          <a:latin typeface="+mn-lt"/>
                          <a:ea typeface="+mn-ea"/>
                          <a:cs typeface="+mn-cs"/>
                        </a:rPr>
                        <a:t>Process related messages in a defined order, without blocking processing of other messages</a:t>
                      </a:r>
                      <a:endParaRPr lang="en-US" sz="1600" dirty="0"/>
                    </a:p>
                  </a:txBody>
                  <a:tcP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1898659"/>
                  </a:ext>
                </a:extLst>
              </a:tr>
              <a:tr h="370840">
                <a:tc>
                  <a:txBody>
                    <a:bodyPr/>
                    <a:lstStyle/>
                    <a:p>
                      <a:r>
                        <a:rPr lang="en-US" b="1" dirty="0"/>
                        <a:t>Motivation</a:t>
                      </a:r>
                    </a:p>
                  </a:txBody>
                  <a:tcPr marL="45720" marR="4572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600" b="0" i="0" kern="1200" dirty="0">
                          <a:solidFill>
                            <a:schemeClr val="tx1"/>
                          </a:solidFill>
                          <a:effectLst/>
                          <a:latin typeface="+mn-lt"/>
                          <a:ea typeface="+mn-ea"/>
                          <a:cs typeface="+mn-cs"/>
                        </a:rPr>
                        <a:t>Maintain FIFO order within subsets of messages, while still being able to scale out to handle load</a:t>
                      </a:r>
                      <a:endParaRPr lang="en-US" sz="1600" dirty="0"/>
                    </a:p>
                  </a:txBody>
                  <a:tcP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063332"/>
                  </a:ext>
                </a:extLst>
              </a:tr>
              <a:tr h="370840">
                <a:tc>
                  <a:txBody>
                    <a:bodyPr/>
                    <a:lstStyle/>
                    <a:p>
                      <a:r>
                        <a:rPr lang="en-US" b="1" dirty="0"/>
                        <a:t>Applicability</a:t>
                      </a:r>
                    </a:p>
                  </a:txBody>
                  <a:tcPr marL="45720" marR="4572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600" b="0" i="0" kern="1200" dirty="0">
                          <a:solidFill>
                            <a:schemeClr val="tx1"/>
                          </a:solidFill>
                          <a:effectLst/>
                          <a:latin typeface="+mn-lt"/>
                          <a:ea typeface="+mn-ea"/>
                          <a:cs typeface="+mn-cs"/>
                        </a:rPr>
                        <a:t>You have messages that arrive in order and must be processed in the same order. Arriving messages can be "categorized" in such a way that the category becomes a unit of scale for the system.</a:t>
                      </a:r>
                    </a:p>
                  </a:txBody>
                  <a:tcP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4225638"/>
                  </a:ext>
                </a:extLst>
              </a:tr>
              <a:tr h="425427">
                <a:tc>
                  <a:txBody>
                    <a:bodyPr/>
                    <a:lstStyle/>
                    <a:p>
                      <a:r>
                        <a:rPr lang="en-US" b="1" dirty="0"/>
                        <a:t>Structure</a:t>
                      </a:r>
                    </a:p>
                  </a:txBody>
                  <a:tcPr marL="45720" marR="4572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600" dirty="0"/>
                    </a:p>
                    <a:p>
                      <a:endParaRPr lang="en-US" sz="1600" dirty="0"/>
                    </a:p>
                    <a:p>
                      <a:endParaRPr lang="en-US" sz="1600" dirty="0"/>
                    </a:p>
                    <a:p>
                      <a:endParaRPr lang="en-US" sz="1600" dirty="0"/>
                    </a:p>
                  </a:txBody>
                  <a:tcP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8437393"/>
                  </a:ext>
                </a:extLst>
              </a:tr>
              <a:tr h="370840">
                <a:tc>
                  <a:txBody>
                    <a:bodyPr/>
                    <a:lstStyle/>
                    <a:p>
                      <a:r>
                        <a:rPr lang="en-US" b="1" dirty="0"/>
                        <a:t>Consequences</a:t>
                      </a:r>
                    </a:p>
                  </a:txBody>
                  <a:tcPr marL="45720" marR="4572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600" dirty="0"/>
                        <a:t>Scale out by Category; Category sizes may differ by a lot; throughput limitations; evolving categories; defining category (session) boundaries</a:t>
                      </a:r>
                    </a:p>
                  </a:txBody>
                  <a:tcP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4757294"/>
                  </a:ext>
                </a:extLst>
              </a:tr>
              <a:tr h="370840">
                <a:tc>
                  <a:txBody>
                    <a:bodyPr/>
                    <a:lstStyle/>
                    <a:p>
                      <a:r>
                        <a:rPr lang="en-US" b="1" dirty="0"/>
                        <a:t>Implementation</a:t>
                      </a:r>
                    </a:p>
                  </a:txBody>
                  <a:tcPr marL="45720" marR="4572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600" dirty="0"/>
                        <a:t>Azure Service Bus Message Sessions</a:t>
                      </a:r>
                    </a:p>
                  </a:txBody>
                  <a:tcP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799381"/>
                  </a:ext>
                </a:extLst>
              </a:tr>
              <a:tr h="370840">
                <a:tc>
                  <a:txBody>
                    <a:bodyPr/>
                    <a:lstStyle/>
                    <a:p>
                      <a:r>
                        <a:rPr lang="en-US" b="1" dirty="0"/>
                        <a:t>Related Patterns</a:t>
                      </a:r>
                    </a:p>
                  </a:txBody>
                  <a:tcPr marL="45720" marR="4572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600" dirty="0"/>
                        <a:t>Guaranteed Messaging, Competing Consumers</a:t>
                      </a:r>
                    </a:p>
                  </a:txBody>
                  <a:tcP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30865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Known uses</a:t>
                      </a:r>
                    </a:p>
                  </a:txBody>
                  <a:tcPr marL="45720" marR="4572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Intraday P&amp;L Accounting System [links, contact info]</a:t>
                      </a:r>
                    </a:p>
                  </a:txBody>
                  <a:tcP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4145045"/>
                  </a:ext>
                </a:extLst>
              </a:tr>
            </a:tbl>
          </a:graphicData>
        </a:graphic>
      </p:graphicFrame>
      <p:sp>
        <p:nvSpPr>
          <p:cNvPr id="6" name="TextBox 5">
            <a:extLst>
              <a:ext uri="{FF2B5EF4-FFF2-40B4-BE49-F238E27FC236}">
                <a16:creationId xmlns:a16="http://schemas.microsoft.com/office/drawing/2014/main" id="{9C1FD91A-BB78-59AD-2847-CF7F11DC4C33}"/>
              </a:ext>
            </a:extLst>
          </p:cNvPr>
          <p:cNvSpPr txBox="1"/>
          <p:nvPr/>
        </p:nvSpPr>
        <p:spPr>
          <a:xfrm>
            <a:off x="9734843" y="1326508"/>
            <a:ext cx="1674136" cy="369332"/>
          </a:xfrm>
          <a:prstGeom prst="rect">
            <a:avLst/>
          </a:prstGeom>
          <a:noFill/>
          <a:ln>
            <a:solidFill>
              <a:schemeClr val="tx1"/>
            </a:solidFill>
          </a:ln>
        </p:spPr>
        <p:txBody>
          <a:bodyPr wrap="square">
            <a:spAutoFit/>
          </a:bodyPr>
          <a:lstStyle/>
          <a:p>
            <a:r>
              <a:rPr lang="en-US" dirty="0"/>
              <a:t>Messaging</a:t>
            </a:r>
          </a:p>
        </p:txBody>
      </p:sp>
      <p:sp>
        <p:nvSpPr>
          <p:cNvPr id="3" name="Slide Number Placeholder 2">
            <a:extLst>
              <a:ext uri="{FF2B5EF4-FFF2-40B4-BE49-F238E27FC236}">
                <a16:creationId xmlns:a16="http://schemas.microsoft.com/office/drawing/2014/main" id="{76936273-511B-305D-75C2-BBD42EC42E42}"/>
              </a:ext>
            </a:extLst>
          </p:cNvPr>
          <p:cNvSpPr>
            <a:spLocks noGrp="1"/>
          </p:cNvSpPr>
          <p:nvPr>
            <p:ph type="sldNum" sz="quarter" idx="12"/>
          </p:nvPr>
        </p:nvSpPr>
        <p:spPr/>
        <p:txBody>
          <a:bodyPr/>
          <a:lstStyle/>
          <a:p>
            <a:fld id="{286E2F1E-7CA5-438C-A0B7-E9724D4421E7}" type="slidenum">
              <a:rPr lang="en-US" smtClean="0"/>
              <a:t>24</a:t>
            </a:fld>
            <a:endParaRPr lang="en-US"/>
          </a:p>
        </p:txBody>
      </p:sp>
      <p:grpSp>
        <p:nvGrpSpPr>
          <p:cNvPr id="23" name="Group 22">
            <a:extLst>
              <a:ext uri="{FF2B5EF4-FFF2-40B4-BE49-F238E27FC236}">
                <a16:creationId xmlns:a16="http://schemas.microsoft.com/office/drawing/2014/main" id="{CA6AFFC1-4062-CC62-3373-38D3B04850B8}"/>
              </a:ext>
            </a:extLst>
          </p:cNvPr>
          <p:cNvGrpSpPr/>
          <p:nvPr/>
        </p:nvGrpSpPr>
        <p:grpSpPr>
          <a:xfrm>
            <a:off x="3114587" y="3635153"/>
            <a:ext cx="7095744" cy="977701"/>
            <a:chOff x="2505456" y="3717449"/>
            <a:chExt cx="7095744" cy="977701"/>
          </a:xfrm>
        </p:grpSpPr>
        <p:sp>
          <p:nvSpPr>
            <p:cNvPr id="5" name="Rectangle 4">
              <a:extLst>
                <a:ext uri="{FF2B5EF4-FFF2-40B4-BE49-F238E27FC236}">
                  <a16:creationId xmlns:a16="http://schemas.microsoft.com/office/drawing/2014/main" id="{8B05CA27-5127-3783-4B6E-5F8EDFF070D4}"/>
                </a:ext>
              </a:extLst>
            </p:cNvPr>
            <p:cNvSpPr/>
            <p:nvPr/>
          </p:nvSpPr>
          <p:spPr>
            <a:xfrm>
              <a:off x="2505456" y="3961080"/>
              <a:ext cx="1353312" cy="61264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Producer</a:t>
              </a:r>
            </a:p>
          </p:txBody>
        </p:sp>
        <p:grpSp>
          <p:nvGrpSpPr>
            <p:cNvPr id="19" name="Group 18">
              <a:extLst>
                <a:ext uri="{FF2B5EF4-FFF2-40B4-BE49-F238E27FC236}">
                  <a16:creationId xmlns:a16="http://schemas.microsoft.com/office/drawing/2014/main" id="{9E5EBDD2-3D93-A1C1-FDF3-460560897CCE}"/>
                </a:ext>
              </a:extLst>
            </p:cNvPr>
            <p:cNvGrpSpPr/>
            <p:nvPr/>
          </p:nvGrpSpPr>
          <p:grpSpPr>
            <a:xfrm>
              <a:off x="7994904" y="3839658"/>
              <a:ext cx="1606296" cy="855492"/>
              <a:chOff x="7409688" y="3839658"/>
              <a:chExt cx="1606296" cy="855492"/>
            </a:xfrm>
          </p:grpSpPr>
          <p:sp>
            <p:nvSpPr>
              <p:cNvPr id="9" name="Rectangle 8">
                <a:extLst>
                  <a:ext uri="{FF2B5EF4-FFF2-40B4-BE49-F238E27FC236}">
                    <a16:creationId xmlns:a16="http://schemas.microsoft.com/office/drawing/2014/main" id="{A3A0B6F5-C27A-7B2C-5C33-8F7D97027053}"/>
                  </a:ext>
                </a:extLst>
              </p:cNvPr>
              <p:cNvSpPr/>
              <p:nvPr/>
            </p:nvSpPr>
            <p:spPr>
              <a:xfrm>
                <a:off x="7409688" y="3839658"/>
                <a:ext cx="1606296" cy="35953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Consumer A</a:t>
                </a:r>
              </a:p>
            </p:txBody>
          </p:sp>
          <p:sp>
            <p:nvSpPr>
              <p:cNvPr id="10" name="Rectangle 9">
                <a:extLst>
                  <a:ext uri="{FF2B5EF4-FFF2-40B4-BE49-F238E27FC236}">
                    <a16:creationId xmlns:a16="http://schemas.microsoft.com/office/drawing/2014/main" id="{5E1C8153-9770-823B-BFAA-B2D943663E86}"/>
                  </a:ext>
                </a:extLst>
              </p:cNvPr>
              <p:cNvSpPr/>
              <p:nvPr/>
            </p:nvSpPr>
            <p:spPr>
              <a:xfrm>
                <a:off x="7409688" y="4335611"/>
                <a:ext cx="1606296" cy="35953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Consumer B</a:t>
                </a:r>
              </a:p>
            </p:txBody>
          </p:sp>
        </p:grpSp>
        <p:cxnSp>
          <p:nvCxnSpPr>
            <p:cNvPr id="12" name="Straight Arrow Connector 11">
              <a:extLst>
                <a:ext uri="{FF2B5EF4-FFF2-40B4-BE49-F238E27FC236}">
                  <a16:creationId xmlns:a16="http://schemas.microsoft.com/office/drawing/2014/main" id="{E83C9818-173B-CF43-88BF-040480E9472C}"/>
                </a:ext>
              </a:extLst>
            </p:cNvPr>
            <p:cNvCxnSpPr>
              <a:stCxn id="5" idx="3"/>
              <a:endCxn id="8" idx="1"/>
            </p:cNvCxnSpPr>
            <p:nvPr/>
          </p:nvCxnSpPr>
          <p:spPr>
            <a:xfrm>
              <a:off x="3858768" y="4267404"/>
              <a:ext cx="1886712" cy="0"/>
            </a:xfrm>
            <a:prstGeom prst="straightConnector1">
              <a:avLst/>
            </a:prstGeom>
            <a:ln>
              <a:solidFill>
                <a:schemeClr val="tx1"/>
              </a:solidFill>
              <a:headEnd w="lg" len="med"/>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9E576094-3A51-2720-C9AD-7FEE1AB5F446}"/>
                </a:ext>
              </a:extLst>
            </p:cNvPr>
            <p:cNvCxnSpPr>
              <a:cxnSpLocks/>
              <a:endCxn id="9" idx="1"/>
            </p:cNvCxnSpPr>
            <p:nvPr/>
          </p:nvCxnSpPr>
          <p:spPr>
            <a:xfrm flipV="1">
              <a:off x="5745480" y="4019428"/>
              <a:ext cx="2249424" cy="179769"/>
            </a:xfrm>
            <a:prstGeom prst="straightConnector1">
              <a:avLst/>
            </a:prstGeom>
            <a:ln>
              <a:solidFill>
                <a:schemeClr val="tx1"/>
              </a:solidFill>
              <a:headEnd w="lg" len="med"/>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7E800BA3-E4BA-EEBF-450E-13EAE70B21C0}"/>
                </a:ext>
              </a:extLst>
            </p:cNvPr>
            <p:cNvCxnSpPr>
              <a:cxnSpLocks/>
              <a:stCxn id="8" idx="1"/>
              <a:endCxn id="10" idx="1"/>
            </p:cNvCxnSpPr>
            <p:nvPr/>
          </p:nvCxnSpPr>
          <p:spPr>
            <a:xfrm>
              <a:off x="5745480" y="4267404"/>
              <a:ext cx="2249424" cy="247977"/>
            </a:xfrm>
            <a:prstGeom prst="straightConnector1">
              <a:avLst/>
            </a:prstGeom>
            <a:ln>
              <a:solidFill>
                <a:schemeClr val="tx1"/>
              </a:solidFill>
              <a:headEnd w="lg" len="med"/>
              <a:tailEnd type="arrow"/>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C7A2F600-9DA2-87F7-9514-A0C27EBEBE12}"/>
                </a:ext>
              </a:extLst>
            </p:cNvPr>
            <p:cNvSpPr/>
            <p:nvPr/>
          </p:nvSpPr>
          <p:spPr>
            <a:xfrm>
              <a:off x="5745480" y="3961080"/>
              <a:ext cx="1353312" cy="61264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Queue with Keys</a:t>
              </a:r>
            </a:p>
          </p:txBody>
        </p:sp>
        <p:sp>
          <p:nvSpPr>
            <p:cNvPr id="20" name="TextBox 19">
              <a:extLst>
                <a:ext uri="{FF2B5EF4-FFF2-40B4-BE49-F238E27FC236}">
                  <a16:creationId xmlns:a16="http://schemas.microsoft.com/office/drawing/2014/main" id="{FB9831D9-E486-2B95-1FC9-C19B95CFB89E}"/>
                </a:ext>
              </a:extLst>
            </p:cNvPr>
            <p:cNvSpPr txBox="1"/>
            <p:nvPr/>
          </p:nvSpPr>
          <p:spPr>
            <a:xfrm>
              <a:off x="4059936" y="3934021"/>
              <a:ext cx="1358064" cy="338554"/>
            </a:xfrm>
            <a:prstGeom prst="rect">
              <a:avLst/>
            </a:prstGeom>
            <a:noFill/>
          </p:spPr>
          <p:txBody>
            <a:bodyPr wrap="none" rtlCol="0">
              <a:spAutoFit/>
            </a:bodyPr>
            <a:lstStyle/>
            <a:p>
              <a:r>
                <a:rPr lang="en-US" sz="1600" dirty="0"/>
                <a:t>A2  B2  B1  A1</a:t>
              </a:r>
            </a:p>
          </p:txBody>
        </p:sp>
        <p:sp>
          <p:nvSpPr>
            <p:cNvPr id="21" name="TextBox 20">
              <a:extLst>
                <a:ext uri="{FF2B5EF4-FFF2-40B4-BE49-F238E27FC236}">
                  <a16:creationId xmlns:a16="http://schemas.microsoft.com/office/drawing/2014/main" id="{49D6B7C3-D96D-C63C-A116-80BDDCDD7AF9}"/>
                </a:ext>
              </a:extLst>
            </p:cNvPr>
            <p:cNvSpPr txBox="1"/>
            <p:nvPr/>
          </p:nvSpPr>
          <p:spPr>
            <a:xfrm>
              <a:off x="7157826" y="4138093"/>
              <a:ext cx="732893" cy="338554"/>
            </a:xfrm>
            <a:prstGeom prst="rect">
              <a:avLst/>
            </a:prstGeom>
            <a:noFill/>
          </p:spPr>
          <p:txBody>
            <a:bodyPr wrap="none" rtlCol="0">
              <a:spAutoFit/>
            </a:bodyPr>
            <a:lstStyle/>
            <a:p>
              <a:r>
                <a:rPr lang="en-US" sz="1600" dirty="0"/>
                <a:t>B2  B1</a:t>
              </a:r>
            </a:p>
          </p:txBody>
        </p:sp>
        <p:sp>
          <p:nvSpPr>
            <p:cNvPr id="22" name="TextBox 21">
              <a:extLst>
                <a:ext uri="{FF2B5EF4-FFF2-40B4-BE49-F238E27FC236}">
                  <a16:creationId xmlns:a16="http://schemas.microsoft.com/office/drawing/2014/main" id="{F128EC49-081F-8CA4-C75E-0F8313C119C4}"/>
                </a:ext>
              </a:extLst>
            </p:cNvPr>
            <p:cNvSpPr txBox="1"/>
            <p:nvPr/>
          </p:nvSpPr>
          <p:spPr>
            <a:xfrm>
              <a:off x="7157826" y="3717449"/>
              <a:ext cx="726481" cy="338554"/>
            </a:xfrm>
            <a:prstGeom prst="rect">
              <a:avLst/>
            </a:prstGeom>
            <a:noFill/>
          </p:spPr>
          <p:txBody>
            <a:bodyPr wrap="none" rtlCol="0">
              <a:spAutoFit/>
            </a:bodyPr>
            <a:lstStyle/>
            <a:p>
              <a:r>
                <a:rPr lang="en-US" sz="1600" dirty="0"/>
                <a:t>A2  A1</a:t>
              </a:r>
            </a:p>
          </p:txBody>
        </p:sp>
      </p:grpSp>
    </p:spTree>
    <p:extLst>
      <p:ext uri="{BB962C8B-B14F-4D97-AF65-F5344CB8AC3E}">
        <p14:creationId xmlns:p14="http://schemas.microsoft.com/office/powerpoint/2010/main" val="22597839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1F47B282-F5FA-E898-3306-A5AA78C65D1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23892" y="1131364"/>
            <a:ext cx="4081030" cy="4088818"/>
          </a:xfrm>
          <a:prstGeom prst="rect">
            <a:avLst/>
          </a:prstGeom>
        </p:spPr>
      </p:pic>
      <p:sp>
        <p:nvSpPr>
          <p:cNvPr id="2" name="Title 1">
            <a:extLst>
              <a:ext uri="{FF2B5EF4-FFF2-40B4-BE49-F238E27FC236}">
                <a16:creationId xmlns:a16="http://schemas.microsoft.com/office/drawing/2014/main" id="{4C0F8EE1-5A15-3A0F-63EA-153F55BDBA89}"/>
              </a:ext>
            </a:extLst>
          </p:cNvPr>
          <p:cNvSpPr>
            <a:spLocks noGrp="1"/>
          </p:cNvSpPr>
          <p:nvPr>
            <p:ph type="title"/>
          </p:nvPr>
        </p:nvSpPr>
        <p:spPr/>
        <p:txBody>
          <a:bodyPr/>
          <a:lstStyle/>
          <a:p>
            <a:r>
              <a:rPr lang="en-US" dirty="0"/>
              <a:t>Pattern Misuse</a:t>
            </a:r>
          </a:p>
        </p:txBody>
      </p:sp>
      <p:sp>
        <p:nvSpPr>
          <p:cNvPr id="3" name="Content Placeholder 2">
            <a:extLst>
              <a:ext uri="{FF2B5EF4-FFF2-40B4-BE49-F238E27FC236}">
                <a16:creationId xmlns:a16="http://schemas.microsoft.com/office/drawing/2014/main" id="{354648B4-64DF-46F5-8A95-386A68D65C4C}"/>
              </a:ext>
            </a:extLst>
          </p:cNvPr>
          <p:cNvSpPr>
            <a:spLocks noGrp="1"/>
          </p:cNvSpPr>
          <p:nvPr>
            <p:ph idx="1"/>
          </p:nvPr>
        </p:nvSpPr>
        <p:spPr/>
        <p:txBody>
          <a:bodyPr>
            <a:normAutofit fontScale="92500" lnSpcReduction="20000"/>
          </a:bodyPr>
          <a:lstStyle/>
          <a:p>
            <a:pPr>
              <a:lnSpc>
                <a:spcPct val="120000"/>
              </a:lnSpc>
            </a:pPr>
            <a:r>
              <a:rPr lang="en-US" dirty="0"/>
              <a:t>Causes</a:t>
            </a:r>
          </a:p>
          <a:p>
            <a:pPr lvl="1">
              <a:lnSpc>
                <a:spcPct val="120000"/>
              </a:lnSpc>
            </a:pPr>
            <a:r>
              <a:rPr lang="en-US" dirty="0"/>
              <a:t>Exuberance when patterns are discovered</a:t>
            </a:r>
          </a:p>
          <a:p>
            <a:pPr lvl="1">
              <a:lnSpc>
                <a:spcPct val="120000"/>
              </a:lnSpc>
            </a:pPr>
            <a:r>
              <a:rPr lang="en-US" dirty="0"/>
              <a:t>Not understanding or ignoring the context</a:t>
            </a:r>
          </a:p>
          <a:p>
            <a:pPr lvl="1">
              <a:lnSpc>
                <a:spcPct val="120000"/>
              </a:lnSpc>
            </a:pPr>
            <a:r>
              <a:rPr lang="en-US" dirty="0"/>
              <a:t>Not keeping the system simple</a:t>
            </a:r>
          </a:p>
          <a:p>
            <a:pPr lvl="1">
              <a:lnSpc>
                <a:spcPct val="120000"/>
              </a:lnSpc>
            </a:pPr>
            <a:r>
              <a:rPr lang="en-US" dirty="0"/>
              <a:t>“Anticipatory Design”</a:t>
            </a:r>
          </a:p>
          <a:p>
            <a:pPr lvl="1">
              <a:lnSpc>
                <a:spcPct val="120000"/>
              </a:lnSpc>
            </a:pPr>
            <a:r>
              <a:rPr lang="en-US" dirty="0"/>
              <a:t>Ambiguous definition of a pattern</a:t>
            </a:r>
          </a:p>
          <a:p>
            <a:pPr>
              <a:lnSpc>
                <a:spcPct val="120000"/>
              </a:lnSpc>
            </a:pPr>
            <a:r>
              <a:rPr lang="en-US" dirty="0"/>
              <a:t>Treatment</a:t>
            </a:r>
          </a:p>
          <a:p>
            <a:pPr lvl="1">
              <a:lnSpc>
                <a:spcPct val="120000"/>
              </a:lnSpc>
            </a:pPr>
            <a:r>
              <a:rPr lang="en-US" dirty="0"/>
              <a:t>Only use a pattern if </a:t>
            </a:r>
          </a:p>
          <a:p>
            <a:pPr lvl="2">
              <a:lnSpc>
                <a:spcPct val="120000"/>
              </a:lnSpc>
            </a:pPr>
            <a:r>
              <a:rPr lang="en-US" dirty="0"/>
              <a:t>you have the problem it solves</a:t>
            </a:r>
          </a:p>
          <a:p>
            <a:pPr lvl="2">
              <a:lnSpc>
                <a:spcPct val="120000"/>
              </a:lnSpc>
            </a:pPr>
            <a:r>
              <a:rPr lang="en-US" dirty="0"/>
              <a:t>the positives outweigh the negatives</a:t>
            </a:r>
          </a:p>
          <a:p>
            <a:pPr lvl="1">
              <a:lnSpc>
                <a:spcPct val="120000"/>
              </a:lnSpc>
            </a:pPr>
            <a:r>
              <a:rPr lang="en-US" dirty="0"/>
              <a:t>Ensure that the entire team understands the patterns in use</a:t>
            </a:r>
          </a:p>
          <a:p>
            <a:pPr lvl="1">
              <a:lnSpc>
                <a:spcPct val="120000"/>
              </a:lnSpc>
            </a:pPr>
            <a:r>
              <a:rPr lang="en-US" dirty="0"/>
              <a:t>Involve the Architecture Function</a:t>
            </a:r>
          </a:p>
        </p:txBody>
      </p:sp>
      <p:sp>
        <p:nvSpPr>
          <p:cNvPr id="4" name="Slide Number Placeholder 3">
            <a:extLst>
              <a:ext uri="{FF2B5EF4-FFF2-40B4-BE49-F238E27FC236}">
                <a16:creationId xmlns:a16="http://schemas.microsoft.com/office/drawing/2014/main" id="{82FBED91-BE63-580A-37A9-959E6A7E5289}"/>
              </a:ext>
            </a:extLst>
          </p:cNvPr>
          <p:cNvSpPr>
            <a:spLocks noGrp="1"/>
          </p:cNvSpPr>
          <p:nvPr>
            <p:ph type="sldNum" sz="quarter" idx="12"/>
          </p:nvPr>
        </p:nvSpPr>
        <p:spPr/>
        <p:txBody>
          <a:bodyPr/>
          <a:lstStyle/>
          <a:p>
            <a:fld id="{E6E087A0-8E33-4AD2-B40F-AC5841A95ADE}" type="slidenum">
              <a:rPr lang="en-US" smtClean="0"/>
              <a:t>25</a:t>
            </a:fld>
            <a:endParaRPr lang="en-US"/>
          </a:p>
        </p:txBody>
      </p:sp>
    </p:spTree>
    <p:extLst>
      <p:ext uri="{BB962C8B-B14F-4D97-AF65-F5344CB8AC3E}">
        <p14:creationId xmlns:p14="http://schemas.microsoft.com/office/powerpoint/2010/main" val="6580703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FDCC6-7EA5-7010-1F79-F906C896AEDB}"/>
              </a:ext>
            </a:extLst>
          </p:cNvPr>
          <p:cNvSpPr>
            <a:spLocks noGrp="1"/>
          </p:cNvSpPr>
          <p:nvPr>
            <p:ph type="title"/>
          </p:nvPr>
        </p:nvSpPr>
        <p:spPr/>
        <p:txBody>
          <a:bodyPr/>
          <a:lstStyle/>
          <a:p>
            <a:r>
              <a:rPr lang="en-US" dirty="0"/>
              <a:t>Where Do Patterns Come From?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8B9C79E-B442-A058-22AF-246D502B04D9}"/>
                  </a:ext>
                </a:extLst>
              </p:cNvPr>
              <p:cNvSpPr>
                <a:spLocks noGrp="1"/>
              </p:cNvSpPr>
              <p:nvPr>
                <p:ph idx="1"/>
              </p:nvPr>
            </p:nvSpPr>
            <p:spPr/>
            <p:txBody>
              <a:bodyPr>
                <a:normAutofit fontScale="92500"/>
              </a:bodyPr>
              <a:lstStyle/>
              <a:p>
                <a:pPr>
                  <a:lnSpc>
                    <a:spcPct val="120000"/>
                  </a:lnSpc>
                </a:pPr>
                <a:r>
                  <a:rPr lang="en-US" dirty="0"/>
                  <a:t>Harvested from within the organization</a:t>
                </a:r>
              </a:p>
              <a:p>
                <a:pPr>
                  <a:lnSpc>
                    <a:spcPct val="120000"/>
                  </a:lnSpc>
                </a:pPr>
                <a:r>
                  <a:rPr lang="en-US" dirty="0"/>
                  <a:t>Collected from outside the organization</a:t>
                </a:r>
              </a:p>
              <a:p>
                <a:pPr lvl="1">
                  <a:lnSpc>
                    <a:spcPct val="120000"/>
                  </a:lnSpc>
                </a:pPr>
                <a:r>
                  <a:rPr lang="en-US" dirty="0"/>
                  <a:t>Many hard problems have been solved, solutions have been codified</a:t>
                </a:r>
              </a:p>
              <a:p>
                <a:pPr lvl="1">
                  <a:lnSpc>
                    <a:spcPct val="120000"/>
                  </a:lnSpc>
                </a:pPr>
                <a:r>
                  <a:rPr lang="en-US" dirty="0"/>
                  <a:t>Cloud vendors </a:t>
                </a:r>
              </a:p>
              <a:p>
                <a:pPr lvl="2">
                  <a:lnSpc>
                    <a:spcPct val="120000"/>
                  </a:lnSpc>
                </a:pPr>
                <a:r>
                  <a:rPr lang="en-US" dirty="0"/>
                  <a:t>Harvested solutions implemented on their respective clouds</a:t>
                </a:r>
              </a:p>
              <a:p>
                <a:pPr lvl="2">
                  <a:lnSpc>
                    <a:spcPct val="120000"/>
                  </a:lnSpc>
                </a:pPr>
                <a:r>
                  <a:rPr lang="en-US" dirty="0"/>
                  <a:t>Published pattern catalogs</a:t>
                </a:r>
              </a:p>
              <a:p>
                <a:pPr lvl="2">
                  <a:lnSpc>
                    <a:spcPct val="120000"/>
                  </a:lnSpc>
                </a:pPr>
                <a:r>
                  <a:rPr lang="en-US" dirty="0"/>
                  <a:t>Defined different architecture pattern languages </a:t>
                </a:r>
              </a:p>
              <a:p>
                <a:pPr lvl="1">
                  <a:lnSpc>
                    <a:spcPct val="120000"/>
                  </a:lnSpc>
                </a:pPr>
                <a:r>
                  <a:rPr lang="en-US" dirty="0"/>
                  <a:t>Sign of maturity: Algorithms </a:t>
                </a:r>
                <a:r>
                  <a:rPr lang="en-US" dirty="0">
                    <a:sym typeface="Wingdings" panose="05000000000000000000" pitchFamily="2" charset="2"/>
                  </a:rPr>
                  <a:t> Design Patterns  Architectural Patterns</a:t>
                </a:r>
                <a:endParaRPr lang="en-US" dirty="0"/>
              </a:p>
              <a:p>
                <a:pPr lvl="1">
                  <a:lnSpc>
                    <a:spcPct val="120000"/>
                  </a:lnSpc>
                </a:pPr>
                <a:r>
                  <a:rPr lang="en-US" dirty="0"/>
                  <a:t>Cloud Architecture Patterns are Architecture Patterns</a:t>
                </a:r>
              </a:p>
              <a:p>
                <a:pPr marL="0" indent="0" algn="ctr">
                  <a:lnSpc>
                    <a:spcPct val="120000"/>
                  </a:lnSpc>
                  <a:buNone/>
                </a:pPr>
                <a14:m>
                  <m:oMath xmlns:m="http://schemas.openxmlformats.org/officeDocument/2006/math">
                    <m:r>
                      <a:rPr lang="en-US" i="1">
                        <a:latin typeface="Cambria Math" panose="02040503050406030204" pitchFamily="18" charset="0"/>
                        <a:ea typeface="Cambria Math" panose="02040503050406030204" pitchFamily="18" charset="0"/>
                        <a:sym typeface="Wingdings" panose="05000000000000000000" pitchFamily="2" charset="2"/>
                      </a:rPr>
                      <m:t>⟹ </m:t>
                    </m:r>
                  </m:oMath>
                </a14:m>
                <a:r>
                  <a:rPr lang="en-US" i="1" dirty="0"/>
                  <a:t>Collect, select, adapt, and curate</a:t>
                </a:r>
              </a:p>
            </p:txBody>
          </p:sp>
        </mc:Choice>
        <mc:Fallback xmlns="">
          <p:sp>
            <p:nvSpPr>
              <p:cNvPr id="3" name="Content Placeholder 2">
                <a:extLst>
                  <a:ext uri="{FF2B5EF4-FFF2-40B4-BE49-F238E27FC236}">
                    <a16:creationId xmlns:a16="http://schemas.microsoft.com/office/drawing/2014/main" id="{B8B9C79E-B442-A058-22AF-246D502B04D9}"/>
                  </a:ext>
                </a:extLst>
              </p:cNvPr>
              <p:cNvSpPr>
                <a:spLocks noGrp="1" noRot="1" noChangeAspect="1" noMove="1" noResize="1" noEditPoints="1" noAdjustHandles="1" noChangeArrowheads="1" noChangeShapeType="1" noTextEdit="1"/>
              </p:cNvSpPr>
              <p:nvPr>
                <p:ph idx="1"/>
              </p:nvPr>
            </p:nvSpPr>
            <p:spPr>
              <a:blipFill>
                <a:blip r:embed="rId3"/>
                <a:stretch>
                  <a:fillRect l="-928" t="-12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AA3CFF7D-FEC0-9C50-5CB4-9EEF7DC644D3}"/>
              </a:ext>
            </a:extLst>
          </p:cNvPr>
          <p:cNvSpPr>
            <a:spLocks noGrp="1"/>
          </p:cNvSpPr>
          <p:nvPr>
            <p:ph type="sldNum" sz="quarter" idx="12"/>
          </p:nvPr>
        </p:nvSpPr>
        <p:spPr/>
        <p:txBody>
          <a:bodyPr/>
          <a:lstStyle/>
          <a:p>
            <a:fld id="{E6E087A0-8E33-4AD2-B40F-AC5841A95ADE}" type="slidenum">
              <a:rPr lang="en-US" smtClean="0"/>
              <a:t>26</a:t>
            </a:fld>
            <a:endParaRPr lang="en-US"/>
          </a:p>
        </p:txBody>
      </p:sp>
    </p:spTree>
    <p:extLst>
      <p:ext uri="{BB962C8B-B14F-4D97-AF65-F5344CB8AC3E}">
        <p14:creationId xmlns:p14="http://schemas.microsoft.com/office/powerpoint/2010/main" val="38219081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A7493-C072-BE31-42F0-9D81D91BCD70}"/>
              </a:ext>
            </a:extLst>
          </p:cNvPr>
          <p:cNvSpPr>
            <a:spLocks noGrp="1"/>
          </p:cNvSpPr>
          <p:nvPr>
            <p:ph type="title"/>
          </p:nvPr>
        </p:nvSpPr>
        <p:spPr/>
        <p:txBody>
          <a:bodyPr/>
          <a:lstStyle/>
          <a:p>
            <a:r>
              <a:rPr lang="en-US" dirty="0"/>
              <a:t>Pattern Catalog Examples</a:t>
            </a:r>
          </a:p>
        </p:txBody>
      </p:sp>
      <p:sp>
        <p:nvSpPr>
          <p:cNvPr id="3" name="Content Placeholder 2">
            <a:extLst>
              <a:ext uri="{FF2B5EF4-FFF2-40B4-BE49-F238E27FC236}">
                <a16:creationId xmlns:a16="http://schemas.microsoft.com/office/drawing/2014/main" id="{815A455A-BA54-DC8F-C31C-6C7B50E6ECD4}"/>
              </a:ext>
            </a:extLst>
          </p:cNvPr>
          <p:cNvSpPr>
            <a:spLocks noGrp="1"/>
          </p:cNvSpPr>
          <p:nvPr>
            <p:ph idx="1"/>
          </p:nvPr>
        </p:nvSpPr>
        <p:spPr/>
        <p:txBody>
          <a:bodyPr>
            <a:normAutofit fontScale="92500" lnSpcReduction="10000"/>
          </a:bodyPr>
          <a:lstStyle/>
          <a:p>
            <a:pPr>
              <a:lnSpc>
                <a:spcPct val="110000"/>
              </a:lnSpc>
            </a:pPr>
            <a:r>
              <a:rPr lang="en-US" dirty="0"/>
              <a:t>Microsoft</a:t>
            </a:r>
            <a:br>
              <a:rPr lang="en-US" dirty="0"/>
            </a:br>
            <a:r>
              <a:rPr lang="en-US" sz="2400" dirty="0">
                <a:hlinkClick r:id="rId3"/>
              </a:rPr>
              <a:t>https://learn.microsoft.com/en-us/azure/architecture/patterns/</a:t>
            </a:r>
            <a:r>
              <a:rPr lang="en-US" sz="2400" dirty="0"/>
              <a:t> </a:t>
            </a:r>
            <a:br>
              <a:rPr lang="en-US" sz="2400" dirty="0"/>
            </a:br>
            <a:r>
              <a:rPr lang="en-US" sz="2600" dirty="0"/>
              <a:t>“The following cloud design patterns are technology-agnostic, which makes them suitable for any distributed system. You can apply these patterns across Azure, other cloud platforms, on-premises setups, and hybrid environments.” – </a:t>
            </a:r>
            <a:r>
              <a:rPr lang="en-US" sz="2600" i="1" dirty="0"/>
              <a:t>Microsoft</a:t>
            </a:r>
            <a:r>
              <a:rPr lang="en-US" sz="2600" dirty="0"/>
              <a:t> </a:t>
            </a:r>
          </a:p>
          <a:p>
            <a:pPr>
              <a:lnSpc>
                <a:spcPct val="110000"/>
              </a:lnSpc>
            </a:pPr>
            <a:r>
              <a:rPr lang="en-US" dirty="0"/>
              <a:t>Amazon</a:t>
            </a:r>
            <a:br>
              <a:rPr lang="en-US" dirty="0"/>
            </a:br>
            <a:r>
              <a:rPr lang="en-US" sz="2400" dirty="0">
                <a:hlinkClick r:id="rId4"/>
              </a:rPr>
              <a:t>https://docs.aws.amazon.com/prescriptive-guidance/latest/cloud-design-patterns/introduction.html</a:t>
            </a:r>
            <a:br>
              <a:rPr lang="en-US" sz="2400" dirty="0"/>
            </a:br>
            <a:r>
              <a:rPr lang="en-US" sz="2400" dirty="0">
                <a:hlinkClick r:id="rId5"/>
              </a:rPr>
              <a:t>https://aws.amazon.com/blogs/compute/understanding-asynchronous-messaging-for-microservices/</a:t>
            </a:r>
            <a:r>
              <a:rPr lang="en-US" sz="2400" dirty="0"/>
              <a:t> </a:t>
            </a:r>
          </a:p>
          <a:p>
            <a:pPr>
              <a:lnSpc>
                <a:spcPct val="110000"/>
              </a:lnSpc>
            </a:pPr>
            <a:r>
              <a:rPr lang="en-US" dirty="0"/>
              <a:t>Google</a:t>
            </a:r>
            <a:br>
              <a:rPr lang="en-US" dirty="0"/>
            </a:br>
            <a:r>
              <a:rPr lang="en-US" sz="2400" dirty="0">
                <a:hlinkClick r:id="rId6"/>
              </a:rPr>
              <a:t>https://cloud.google.com/architecture</a:t>
            </a:r>
            <a:r>
              <a:rPr lang="en-US" sz="2400" dirty="0"/>
              <a:t> </a:t>
            </a:r>
            <a:endParaRPr lang="en-US" sz="2400" dirty="0">
              <a:solidFill>
                <a:srgbClr val="FF0000"/>
              </a:solidFill>
            </a:endParaRPr>
          </a:p>
          <a:p>
            <a:pPr>
              <a:lnSpc>
                <a:spcPct val="110000"/>
              </a:lnSpc>
            </a:pPr>
            <a:endParaRPr lang="en-US" dirty="0"/>
          </a:p>
        </p:txBody>
      </p:sp>
      <p:sp>
        <p:nvSpPr>
          <p:cNvPr id="4" name="Slide Number Placeholder 3">
            <a:extLst>
              <a:ext uri="{FF2B5EF4-FFF2-40B4-BE49-F238E27FC236}">
                <a16:creationId xmlns:a16="http://schemas.microsoft.com/office/drawing/2014/main" id="{9114216B-222C-0744-8E90-BBD190D12248}"/>
              </a:ext>
            </a:extLst>
          </p:cNvPr>
          <p:cNvSpPr>
            <a:spLocks noGrp="1"/>
          </p:cNvSpPr>
          <p:nvPr>
            <p:ph type="sldNum" sz="quarter" idx="12"/>
          </p:nvPr>
        </p:nvSpPr>
        <p:spPr/>
        <p:txBody>
          <a:bodyPr/>
          <a:lstStyle/>
          <a:p>
            <a:fld id="{E6E087A0-8E33-4AD2-B40F-AC5841A95ADE}" type="slidenum">
              <a:rPr lang="en-US" smtClean="0"/>
              <a:t>27</a:t>
            </a:fld>
            <a:endParaRPr lang="en-US" dirty="0"/>
          </a:p>
        </p:txBody>
      </p:sp>
    </p:spTree>
    <p:extLst>
      <p:ext uri="{BB962C8B-B14F-4D97-AF65-F5344CB8AC3E}">
        <p14:creationId xmlns:p14="http://schemas.microsoft.com/office/powerpoint/2010/main" val="8769225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A8629-9E94-4ED0-7EC0-0D0E2BCFB839}"/>
              </a:ext>
            </a:extLst>
          </p:cNvPr>
          <p:cNvSpPr>
            <a:spLocks noGrp="1"/>
          </p:cNvSpPr>
          <p:nvPr>
            <p:ph type="title"/>
          </p:nvPr>
        </p:nvSpPr>
        <p:spPr>
          <a:xfrm>
            <a:off x="838200" y="177235"/>
            <a:ext cx="10515600" cy="774743"/>
          </a:xfrm>
        </p:spPr>
        <p:txBody>
          <a:bodyPr>
            <a:normAutofit/>
          </a:bodyPr>
          <a:lstStyle/>
          <a:p>
            <a:r>
              <a:rPr lang="en-US" dirty="0"/>
              <a:t>Use Case: Stock Trading Accounting</a:t>
            </a:r>
          </a:p>
        </p:txBody>
      </p:sp>
      <p:sp>
        <p:nvSpPr>
          <p:cNvPr id="3" name="Content Placeholder 2">
            <a:extLst>
              <a:ext uri="{FF2B5EF4-FFF2-40B4-BE49-F238E27FC236}">
                <a16:creationId xmlns:a16="http://schemas.microsoft.com/office/drawing/2014/main" id="{EA81E5DC-0E82-5124-FE1A-2E9FB9D2AC1C}"/>
              </a:ext>
            </a:extLst>
          </p:cNvPr>
          <p:cNvSpPr>
            <a:spLocks noGrp="1"/>
          </p:cNvSpPr>
          <p:nvPr>
            <p:ph idx="1"/>
          </p:nvPr>
        </p:nvSpPr>
        <p:spPr>
          <a:xfrm>
            <a:off x="838200" y="1164922"/>
            <a:ext cx="10515600" cy="5012042"/>
          </a:xfrm>
        </p:spPr>
        <p:txBody>
          <a:bodyPr>
            <a:normAutofit fontScale="92500"/>
          </a:bodyPr>
          <a:lstStyle/>
          <a:p>
            <a:pPr marL="0" indent="0">
              <a:lnSpc>
                <a:spcPct val="110000"/>
              </a:lnSpc>
              <a:buNone/>
            </a:pPr>
            <a:r>
              <a:rPr lang="en-US" dirty="0"/>
              <a:t>A stock brokerage </a:t>
            </a:r>
          </a:p>
          <a:p>
            <a:pPr marL="0" indent="0">
              <a:lnSpc>
                <a:spcPct val="110000"/>
              </a:lnSpc>
              <a:buNone/>
            </a:pPr>
            <a:r>
              <a:rPr lang="en-US" dirty="0"/>
              <a:t>…buys/sells stocks</a:t>
            </a:r>
          </a:p>
          <a:p>
            <a:pPr marL="0" indent="0">
              <a:lnSpc>
                <a:spcPct val="110000"/>
              </a:lnSpc>
              <a:buNone/>
            </a:pPr>
            <a:r>
              <a:rPr lang="en-US" dirty="0"/>
              <a:t>…across many accounts</a:t>
            </a:r>
          </a:p>
          <a:p>
            <a:pPr marL="0" indent="0">
              <a:lnSpc>
                <a:spcPct val="110000"/>
              </a:lnSpc>
              <a:buNone/>
            </a:pPr>
            <a:r>
              <a:rPr lang="en-US" dirty="0"/>
              <a:t>…using FIFO accounting</a:t>
            </a:r>
          </a:p>
          <a:p>
            <a:pPr marL="0" indent="0">
              <a:lnSpc>
                <a:spcPct val="110000"/>
              </a:lnSpc>
              <a:buNone/>
            </a:pPr>
            <a:r>
              <a:rPr lang="en-US" dirty="0"/>
              <a:t>…calculates position quantities and P&amp;L</a:t>
            </a:r>
          </a:p>
          <a:p>
            <a:pPr marL="0" indent="0">
              <a:lnSpc>
                <a:spcPct val="110000"/>
              </a:lnSpc>
              <a:buNone/>
            </a:pPr>
            <a:r>
              <a:rPr lang="en-US" dirty="0"/>
              <a:t>…used for real time reporting and compliance</a:t>
            </a:r>
          </a:p>
          <a:p>
            <a:pPr marL="0" indent="0">
              <a:lnSpc>
                <a:spcPct val="110000"/>
              </a:lnSpc>
              <a:buNone/>
            </a:pPr>
            <a:endParaRPr lang="en-US" dirty="0"/>
          </a:p>
          <a:p>
            <a:pPr marL="0" indent="0">
              <a:lnSpc>
                <a:spcPct val="110000"/>
              </a:lnSpc>
              <a:buNone/>
            </a:pPr>
            <a:r>
              <a:rPr lang="en-US" dirty="0"/>
              <a:t>Need to implement a system that captures trades and calculates quantities and P&amp;L in real time for each trade and for each account</a:t>
            </a:r>
          </a:p>
          <a:p>
            <a:pPr marL="0" indent="0">
              <a:lnSpc>
                <a:spcPct val="110000"/>
              </a:lnSpc>
              <a:buNone/>
            </a:pPr>
            <a:endParaRPr lang="en-US" dirty="0"/>
          </a:p>
        </p:txBody>
      </p:sp>
      <p:sp>
        <p:nvSpPr>
          <p:cNvPr id="4" name="Slide Number Placeholder 3">
            <a:extLst>
              <a:ext uri="{FF2B5EF4-FFF2-40B4-BE49-F238E27FC236}">
                <a16:creationId xmlns:a16="http://schemas.microsoft.com/office/drawing/2014/main" id="{8C05035E-96E2-6DB1-92CB-491F369DD281}"/>
              </a:ext>
            </a:extLst>
          </p:cNvPr>
          <p:cNvSpPr>
            <a:spLocks noGrp="1"/>
          </p:cNvSpPr>
          <p:nvPr>
            <p:ph type="sldNum" sz="quarter" idx="12"/>
          </p:nvPr>
        </p:nvSpPr>
        <p:spPr>
          <a:xfrm>
            <a:off x="8610600" y="6356350"/>
            <a:ext cx="2743200" cy="365125"/>
          </a:xfrm>
        </p:spPr>
        <p:txBody>
          <a:bodyPr/>
          <a:lstStyle/>
          <a:p>
            <a:fld id="{E6E087A0-8E33-4AD2-B40F-AC5841A95ADE}" type="slidenum">
              <a:rPr lang="en-US" smtClean="0"/>
              <a:pPr/>
              <a:t>28</a:t>
            </a:fld>
            <a:endParaRPr lang="en-US"/>
          </a:p>
        </p:txBody>
      </p:sp>
      <p:pic>
        <p:nvPicPr>
          <p:cNvPr id="1026" name="Picture 2" descr="CDN media">
            <a:extLst>
              <a:ext uri="{FF2B5EF4-FFF2-40B4-BE49-F238E27FC236}">
                <a16:creationId xmlns:a16="http://schemas.microsoft.com/office/drawing/2014/main" id="{1B87E139-D017-6CD4-04BD-911D067664A3}"/>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colorTemperature colorTemp="7200"/>
                    </a14:imgEffect>
                  </a14:imgLayer>
                </a14:imgProps>
              </a:ext>
              <a:ext uri="{28A0092B-C50C-407E-A947-70E740481C1C}">
                <a14:useLocalDpi xmlns:a14="http://schemas.microsoft.com/office/drawing/2010/main" val="0"/>
              </a:ext>
            </a:extLst>
          </a:blip>
          <a:srcRect/>
          <a:stretch>
            <a:fillRect/>
          </a:stretch>
        </p:blipFill>
        <p:spPr bwMode="auto">
          <a:xfrm>
            <a:off x="8200188" y="1165225"/>
            <a:ext cx="3153612" cy="3260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68585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76117-34A9-B0E1-815B-D52C1DA3931F}"/>
              </a:ext>
            </a:extLst>
          </p:cNvPr>
          <p:cNvSpPr>
            <a:spLocks noGrp="1"/>
          </p:cNvSpPr>
          <p:nvPr>
            <p:ph type="title"/>
          </p:nvPr>
        </p:nvSpPr>
        <p:spPr/>
        <p:txBody>
          <a:bodyPr/>
          <a:lstStyle/>
          <a:p>
            <a:r>
              <a:rPr lang="en-US" dirty="0"/>
              <a:t>Disclaimer</a:t>
            </a:r>
          </a:p>
        </p:txBody>
      </p:sp>
      <p:sp>
        <p:nvSpPr>
          <p:cNvPr id="3" name="Content Placeholder 2">
            <a:extLst>
              <a:ext uri="{FF2B5EF4-FFF2-40B4-BE49-F238E27FC236}">
                <a16:creationId xmlns:a16="http://schemas.microsoft.com/office/drawing/2014/main" id="{9F157D45-FF6D-1731-7C2A-DCAFBADC9983}"/>
              </a:ext>
            </a:extLst>
          </p:cNvPr>
          <p:cNvSpPr>
            <a:spLocks noGrp="1"/>
          </p:cNvSpPr>
          <p:nvPr>
            <p:ph idx="1"/>
          </p:nvPr>
        </p:nvSpPr>
        <p:spPr/>
        <p:txBody>
          <a:bodyPr anchor="ctr"/>
          <a:lstStyle/>
          <a:p>
            <a:pPr marL="0" indent="0" algn="ctr">
              <a:buNone/>
            </a:pPr>
            <a:r>
              <a:rPr lang="en-US" dirty="0"/>
              <a:t>Nothing that follows is accounting advice, nor legal advice,</a:t>
            </a:r>
            <a:br>
              <a:rPr lang="en-US" dirty="0"/>
            </a:br>
            <a:r>
              <a:rPr lang="en-US" dirty="0"/>
              <a:t>nor technology implementation advice</a:t>
            </a:r>
          </a:p>
          <a:p>
            <a:pPr marL="0" indent="0" algn="ctr">
              <a:buNone/>
            </a:pPr>
            <a:endParaRPr lang="en-US" dirty="0"/>
          </a:p>
          <a:p>
            <a:pPr marL="0" indent="0" algn="ctr">
              <a:buNone/>
            </a:pPr>
            <a:r>
              <a:rPr lang="en-US" dirty="0"/>
              <a:t>Always consult your accountant, lawyer, engineer </a:t>
            </a:r>
            <a:br>
              <a:rPr lang="en-US" dirty="0"/>
            </a:br>
            <a:r>
              <a:rPr lang="en-US" dirty="0"/>
              <a:t>as appropriate</a:t>
            </a:r>
          </a:p>
        </p:txBody>
      </p:sp>
      <p:sp>
        <p:nvSpPr>
          <p:cNvPr id="4" name="Slide Number Placeholder 3">
            <a:extLst>
              <a:ext uri="{FF2B5EF4-FFF2-40B4-BE49-F238E27FC236}">
                <a16:creationId xmlns:a16="http://schemas.microsoft.com/office/drawing/2014/main" id="{76479199-D808-1A1C-41DF-8AD930C6A6E3}"/>
              </a:ext>
            </a:extLst>
          </p:cNvPr>
          <p:cNvSpPr>
            <a:spLocks noGrp="1"/>
          </p:cNvSpPr>
          <p:nvPr>
            <p:ph type="sldNum" sz="quarter" idx="12"/>
          </p:nvPr>
        </p:nvSpPr>
        <p:spPr/>
        <p:txBody>
          <a:bodyPr/>
          <a:lstStyle/>
          <a:p>
            <a:fld id="{E6E087A0-8E33-4AD2-B40F-AC5841A95ADE}" type="slidenum">
              <a:rPr lang="en-US" smtClean="0"/>
              <a:t>29</a:t>
            </a:fld>
            <a:endParaRPr lang="en-US"/>
          </a:p>
        </p:txBody>
      </p:sp>
    </p:spTree>
    <p:extLst>
      <p:ext uri="{BB962C8B-B14F-4D97-AF65-F5344CB8AC3E}">
        <p14:creationId xmlns:p14="http://schemas.microsoft.com/office/powerpoint/2010/main" val="19234000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0CA5B-6EBE-B859-6735-76C54FAD5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5A5335-8932-CE14-FAB2-961D01CCCC7A}"/>
              </a:ext>
            </a:extLst>
          </p:cNvPr>
          <p:cNvSpPr>
            <a:spLocks noGrp="1"/>
          </p:cNvSpPr>
          <p:nvPr>
            <p:ph type="title"/>
          </p:nvPr>
        </p:nvSpPr>
        <p:spPr/>
        <p:txBody>
          <a:bodyPr/>
          <a:lstStyle/>
          <a:p>
            <a:r>
              <a:rPr lang="en-US" dirty="0"/>
              <a:t>Stock Trading Scenario</a:t>
            </a:r>
          </a:p>
        </p:txBody>
      </p:sp>
      <p:graphicFrame>
        <p:nvGraphicFramePr>
          <p:cNvPr id="6" name="Content Placeholder 5">
            <a:extLst>
              <a:ext uri="{FF2B5EF4-FFF2-40B4-BE49-F238E27FC236}">
                <a16:creationId xmlns:a16="http://schemas.microsoft.com/office/drawing/2014/main" id="{03352DD3-002C-8697-1D78-A20165D5DEE5}"/>
              </a:ext>
            </a:extLst>
          </p:cNvPr>
          <p:cNvGraphicFramePr>
            <a:graphicFrameLocks noGrp="1"/>
          </p:cNvGraphicFramePr>
          <p:nvPr>
            <p:ph idx="1"/>
            <p:extLst>
              <p:ext uri="{D42A27DB-BD31-4B8C-83A1-F6EECF244321}">
                <p14:modId xmlns:p14="http://schemas.microsoft.com/office/powerpoint/2010/main" val="896555883"/>
              </p:ext>
            </p:extLst>
          </p:nvPr>
        </p:nvGraphicFramePr>
        <p:xfrm>
          <a:off x="638355" y="2026053"/>
          <a:ext cx="10915292" cy="3337560"/>
        </p:xfrm>
        <a:graphic>
          <a:graphicData uri="http://schemas.openxmlformats.org/drawingml/2006/table">
            <a:tbl>
              <a:tblPr/>
              <a:tblGrid>
                <a:gridCol w="1069253">
                  <a:extLst>
                    <a:ext uri="{9D8B030D-6E8A-4147-A177-3AD203B41FA5}">
                      <a16:colId xmlns:a16="http://schemas.microsoft.com/office/drawing/2014/main" val="1574812237"/>
                    </a:ext>
                  </a:extLst>
                </a:gridCol>
                <a:gridCol w="1069253">
                  <a:extLst>
                    <a:ext uri="{9D8B030D-6E8A-4147-A177-3AD203B41FA5}">
                      <a16:colId xmlns:a16="http://schemas.microsoft.com/office/drawing/2014/main" val="198343079"/>
                    </a:ext>
                  </a:extLst>
                </a:gridCol>
                <a:gridCol w="1069253">
                  <a:extLst>
                    <a:ext uri="{9D8B030D-6E8A-4147-A177-3AD203B41FA5}">
                      <a16:colId xmlns:a16="http://schemas.microsoft.com/office/drawing/2014/main" val="140291755"/>
                    </a:ext>
                  </a:extLst>
                </a:gridCol>
                <a:gridCol w="1069253">
                  <a:extLst>
                    <a:ext uri="{9D8B030D-6E8A-4147-A177-3AD203B41FA5}">
                      <a16:colId xmlns:a16="http://schemas.microsoft.com/office/drawing/2014/main" val="3627422893"/>
                    </a:ext>
                  </a:extLst>
                </a:gridCol>
                <a:gridCol w="601455">
                  <a:extLst>
                    <a:ext uri="{9D8B030D-6E8A-4147-A177-3AD203B41FA5}">
                      <a16:colId xmlns:a16="http://schemas.microsoft.com/office/drawing/2014/main" val="433124793"/>
                    </a:ext>
                  </a:extLst>
                </a:gridCol>
                <a:gridCol w="1069253">
                  <a:extLst>
                    <a:ext uri="{9D8B030D-6E8A-4147-A177-3AD203B41FA5}">
                      <a16:colId xmlns:a16="http://schemas.microsoft.com/office/drawing/2014/main" val="787837074"/>
                    </a:ext>
                  </a:extLst>
                </a:gridCol>
                <a:gridCol w="1158358">
                  <a:extLst>
                    <a:ext uri="{9D8B030D-6E8A-4147-A177-3AD203B41FA5}">
                      <a16:colId xmlns:a16="http://schemas.microsoft.com/office/drawing/2014/main" val="2088553229"/>
                    </a:ext>
                  </a:extLst>
                </a:gridCol>
                <a:gridCol w="1381119">
                  <a:extLst>
                    <a:ext uri="{9D8B030D-6E8A-4147-A177-3AD203B41FA5}">
                      <a16:colId xmlns:a16="http://schemas.microsoft.com/office/drawing/2014/main" val="3461346526"/>
                    </a:ext>
                  </a:extLst>
                </a:gridCol>
                <a:gridCol w="1069253">
                  <a:extLst>
                    <a:ext uri="{9D8B030D-6E8A-4147-A177-3AD203B41FA5}">
                      <a16:colId xmlns:a16="http://schemas.microsoft.com/office/drawing/2014/main" val="623776368"/>
                    </a:ext>
                  </a:extLst>
                </a:gridCol>
                <a:gridCol w="1358842">
                  <a:extLst>
                    <a:ext uri="{9D8B030D-6E8A-4147-A177-3AD203B41FA5}">
                      <a16:colId xmlns:a16="http://schemas.microsoft.com/office/drawing/2014/main" val="1311648517"/>
                    </a:ext>
                  </a:extLst>
                </a:gridCol>
              </a:tblGrid>
              <a:tr h="623532">
                <a:tc>
                  <a:txBody>
                    <a:bodyPr/>
                    <a:lstStyle/>
                    <a:p>
                      <a:pPr algn="l" fontAlgn="b"/>
                      <a:r>
                        <a:rPr lang="en-US" sz="1900" b="1" i="0" u="none" strike="noStrike">
                          <a:solidFill>
                            <a:srgbClr val="000000"/>
                          </a:solidFill>
                          <a:effectLst/>
                          <a:latin typeface="Aptos Narrow" panose="020B0004020202020204" pitchFamily="34" charset="0"/>
                        </a:rPr>
                        <a:t>Time</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a:solidFill>
                            <a:srgbClr val="000000"/>
                          </a:solidFill>
                          <a:effectLst/>
                          <a:latin typeface="Aptos Narrow" panose="020B0004020202020204" pitchFamily="34" charset="0"/>
                        </a:rPr>
                        <a:t>Account</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a:solidFill>
                            <a:srgbClr val="000000"/>
                          </a:solidFill>
                          <a:effectLst/>
                          <a:latin typeface="Aptos Narrow" panose="020B0004020202020204" pitchFamily="34" charset="0"/>
                        </a:rPr>
                        <a:t>Sec</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a:solidFill>
                            <a:srgbClr val="000000"/>
                          </a:solidFill>
                          <a:effectLst/>
                          <a:latin typeface="Aptos Narrow" panose="020B0004020202020204" pitchFamily="34" charset="0"/>
                        </a:rPr>
                        <a:t>Buy/Sell</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a:solidFill>
                            <a:srgbClr val="000000"/>
                          </a:solidFill>
                          <a:effectLst/>
                          <a:latin typeface="Aptos Narrow" panose="020B0004020202020204" pitchFamily="34" charset="0"/>
                        </a:rPr>
                        <a:t>Qty</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a:solidFill>
                            <a:srgbClr val="000000"/>
                          </a:solidFill>
                          <a:effectLst/>
                          <a:latin typeface="Aptos Narrow" panose="020B0004020202020204" pitchFamily="34" charset="0"/>
                        </a:rPr>
                        <a:t>Price</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a:solidFill>
                            <a:srgbClr val="000000"/>
                          </a:solidFill>
                          <a:effectLst/>
                          <a:latin typeface="Aptos Narrow" panose="020B0004020202020204" pitchFamily="34" charset="0"/>
                        </a:rPr>
                        <a:t>Cost Basis</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a:solidFill>
                            <a:srgbClr val="000000"/>
                          </a:solidFill>
                          <a:effectLst/>
                          <a:latin typeface="Aptos Narrow" panose="020B0004020202020204" pitchFamily="34" charset="0"/>
                        </a:rPr>
                        <a:t>Trade</a:t>
                      </a:r>
                      <a:br>
                        <a:rPr lang="en-US" sz="1900" b="1" i="0" u="none" strike="noStrike">
                          <a:solidFill>
                            <a:srgbClr val="000000"/>
                          </a:solidFill>
                          <a:effectLst/>
                          <a:latin typeface="Aptos Narrow" panose="020B0004020202020204" pitchFamily="34" charset="0"/>
                        </a:rPr>
                      </a:br>
                      <a:r>
                        <a:rPr lang="en-US" sz="1900" b="1" i="0" u="none" strike="noStrike">
                          <a:solidFill>
                            <a:srgbClr val="000000"/>
                          </a:solidFill>
                          <a:effectLst/>
                          <a:latin typeface="Aptos Narrow" panose="020B0004020202020204" pitchFamily="34" charset="0"/>
                        </a:rPr>
                        <a:t>Profit/Loss</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a:solidFill>
                            <a:srgbClr val="000000"/>
                          </a:solidFill>
                          <a:effectLst/>
                          <a:latin typeface="Aptos Narrow" panose="020B0004020202020204" pitchFamily="34" charset="0"/>
                        </a:rPr>
                        <a:t>Sec Qty</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dirty="0">
                          <a:solidFill>
                            <a:srgbClr val="000000"/>
                          </a:solidFill>
                          <a:effectLst/>
                          <a:latin typeface="Aptos Narrow" panose="020B0004020202020204" pitchFamily="34" charset="0"/>
                        </a:rPr>
                        <a:t>Realized</a:t>
                      </a:r>
                      <a:br>
                        <a:rPr lang="en-US" sz="1900" b="1" i="0" u="none" strike="noStrike" dirty="0">
                          <a:solidFill>
                            <a:srgbClr val="000000"/>
                          </a:solidFill>
                          <a:effectLst/>
                          <a:latin typeface="Aptos Narrow" panose="020B0004020202020204" pitchFamily="34" charset="0"/>
                        </a:rPr>
                      </a:br>
                      <a:r>
                        <a:rPr lang="en-US" sz="1900" b="1" i="0" u="none" strike="noStrike" dirty="0">
                          <a:solidFill>
                            <a:srgbClr val="000000"/>
                          </a:solidFill>
                          <a:effectLst/>
                          <a:latin typeface="Aptos Narrow" panose="020B0004020202020204" pitchFamily="34" charset="0"/>
                        </a:rPr>
                        <a:t>Profit/Loss</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172177872"/>
                  </a:ext>
                </a:extLst>
              </a:tr>
              <a:tr h="311766">
                <a:tc>
                  <a:txBody>
                    <a:bodyPr/>
                    <a:lstStyle/>
                    <a:p>
                      <a:pPr algn="r" fontAlgn="b"/>
                      <a:r>
                        <a:rPr lang="en-US" sz="1900" b="0" i="0" u="none" strike="noStrike">
                          <a:solidFill>
                            <a:srgbClr val="000000"/>
                          </a:solidFill>
                          <a:effectLst/>
                          <a:latin typeface="Aptos Narrow" panose="020B0004020202020204" pitchFamily="34" charset="0"/>
                        </a:rPr>
                        <a:t>9:30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dirty="0">
                          <a:solidFill>
                            <a:srgbClr val="000000"/>
                          </a:solidFill>
                          <a:effectLst/>
                          <a:latin typeface="Aptos Narrow" panose="020B0004020202020204" pitchFamily="34" charset="0"/>
                        </a:rPr>
                        <a:t>MSFT</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3C7D22"/>
                          </a:solidFill>
                          <a:effectLst/>
                          <a:latin typeface="Aptos Narrow" panose="020B0004020202020204" pitchFamily="34" charset="0"/>
                        </a:rPr>
                        <a:t>Buy</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450.00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extLst>
                  <a:ext uri="{0D108BD9-81ED-4DB2-BD59-A6C34878D82A}">
                    <a16:rowId xmlns:a16="http://schemas.microsoft.com/office/drawing/2014/main" val="1468211024"/>
                  </a:ext>
                </a:extLst>
              </a:tr>
              <a:tr h="311766">
                <a:tc>
                  <a:txBody>
                    <a:bodyPr/>
                    <a:lstStyle/>
                    <a:p>
                      <a:pPr algn="r" fontAlgn="b"/>
                      <a:r>
                        <a:rPr lang="en-US" sz="1900" b="0" i="0" u="none" strike="noStrike" dirty="0">
                          <a:solidFill>
                            <a:srgbClr val="000000"/>
                          </a:solidFill>
                          <a:effectLst/>
                          <a:latin typeface="Aptos Narrow" panose="020B0004020202020204" pitchFamily="34" charset="0"/>
                        </a:rPr>
                        <a:t>9:35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70C0"/>
                          </a:solidFill>
                          <a:effectLst/>
                          <a:latin typeface="Aptos Narrow" panose="020B0004020202020204" pitchFamily="34" charset="0"/>
                        </a:rPr>
                        <a:t>IBM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3C7D22"/>
                          </a:solidFill>
                          <a:effectLst/>
                          <a:latin typeface="Aptos Narrow" panose="020B0004020202020204" pitchFamily="34" charset="0"/>
                        </a:rPr>
                        <a:t>Buy</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40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240.00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40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07169038"/>
                  </a:ext>
                </a:extLst>
              </a:tr>
              <a:tr h="311766">
                <a:tc>
                  <a:txBody>
                    <a:bodyPr/>
                    <a:lstStyle/>
                    <a:p>
                      <a:pPr algn="r" fontAlgn="b"/>
                      <a:r>
                        <a:rPr lang="en-US" sz="1900" b="0" i="0" u="none" strike="noStrike">
                          <a:solidFill>
                            <a:srgbClr val="000000"/>
                          </a:solidFill>
                          <a:effectLst/>
                          <a:latin typeface="Aptos Narrow" panose="020B0004020202020204" pitchFamily="34" charset="0"/>
                        </a:rPr>
                        <a:t>10:10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dirty="0">
                          <a:solidFill>
                            <a:srgbClr val="000000"/>
                          </a:solidFill>
                          <a:effectLst/>
                          <a:latin typeface="Aptos Narrow" panose="020B0004020202020204" pitchFamily="34" charset="0"/>
                        </a:rPr>
                        <a:t>MSFT</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3C7D22"/>
                          </a:solidFill>
                          <a:effectLst/>
                          <a:latin typeface="Aptos Narrow" panose="020B0004020202020204" pitchFamily="34" charset="0"/>
                        </a:rPr>
                        <a:t>Buy</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50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480.00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dirty="0">
                          <a:solidFill>
                            <a:srgbClr val="000000"/>
                          </a:solidFill>
                          <a:effectLst/>
                          <a:latin typeface="Aptos Narrow" panose="020B0004020202020204" pitchFamily="34" charset="0"/>
                        </a:rPr>
                        <a:t>150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extLst>
                  <a:ext uri="{0D108BD9-81ED-4DB2-BD59-A6C34878D82A}">
                    <a16:rowId xmlns:a16="http://schemas.microsoft.com/office/drawing/2014/main" val="2920021723"/>
                  </a:ext>
                </a:extLst>
              </a:tr>
              <a:tr h="311766">
                <a:tc>
                  <a:txBody>
                    <a:bodyPr/>
                    <a:lstStyle/>
                    <a:p>
                      <a:pPr algn="r" fontAlgn="b"/>
                      <a:r>
                        <a:rPr lang="en-US" sz="1900" b="0" i="0" u="none" strike="noStrike">
                          <a:solidFill>
                            <a:srgbClr val="000000"/>
                          </a:solidFill>
                          <a:effectLst/>
                          <a:latin typeface="Aptos Narrow" panose="020B0004020202020204" pitchFamily="34" charset="0"/>
                        </a:rPr>
                        <a:t>10:15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dirty="0">
                          <a:solidFill>
                            <a:srgbClr val="000000"/>
                          </a:solidFill>
                          <a:effectLst/>
                          <a:latin typeface="Aptos Narrow" panose="020B0004020202020204" pitchFamily="34" charset="0"/>
                        </a:rPr>
                        <a:t>MSFT</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EE0000"/>
                          </a:solidFill>
                          <a:effectLst/>
                          <a:latin typeface="Aptos Narrow" panose="020B0004020202020204" pitchFamily="34" charset="0"/>
                        </a:rPr>
                        <a:t>Sell</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-50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475.00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450.00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dirty="0">
                          <a:solidFill>
                            <a:srgbClr val="000000"/>
                          </a:solidFill>
                          <a:effectLst/>
                          <a:latin typeface="Aptos Narrow" panose="020B0004020202020204" pitchFamily="34" charset="0"/>
                        </a:rPr>
                        <a:t> $     1,250.00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1,250.00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extLst>
                  <a:ext uri="{0D108BD9-81ED-4DB2-BD59-A6C34878D82A}">
                    <a16:rowId xmlns:a16="http://schemas.microsoft.com/office/drawing/2014/main" val="1280561941"/>
                  </a:ext>
                </a:extLst>
              </a:tr>
              <a:tr h="311766">
                <a:tc>
                  <a:txBody>
                    <a:bodyPr/>
                    <a:lstStyle/>
                    <a:p>
                      <a:pPr algn="r" fontAlgn="b"/>
                      <a:r>
                        <a:rPr lang="en-US" sz="1900" b="0" i="0" u="none" strike="noStrike" dirty="0">
                          <a:solidFill>
                            <a:srgbClr val="000000"/>
                          </a:solidFill>
                          <a:effectLst/>
                          <a:latin typeface="Aptos Narrow" panose="020B0004020202020204" pitchFamily="34" charset="0"/>
                        </a:rPr>
                        <a:t>10:40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70C0"/>
                          </a:solidFill>
                          <a:effectLst/>
                          <a:latin typeface="Aptos Narrow" panose="020B0004020202020204" pitchFamily="34" charset="0"/>
                        </a:rPr>
                        <a:t>IBM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3C7D22"/>
                          </a:solidFill>
                          <a:effectLst/>
                          <a:latin typeface="Aptos Narrow" panose="020B0004020202020204" pitchFamily="34" charset="0"/>
                        </a:rPr>
                        <a:t>Buy</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60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260.00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100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1,250.00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699660737"/>
                  </a:ext>
                </a:extLst>
              </a:tr>
              <a:tr h="311766">
                <a:tc>
                  <a:txBody>
                    <a:bodyPr/>
                    <a:lstStyle/>
                    <a:p>
                      <a:pPr algn="r" fontAlgn="b"/>
                      <a:r>
                        <a:rPr lang="en-US" sz="1900" b="0" i="0" u="none" strike="noStrike">
                          <a:solidFill>
                            <a:srgbClr val="000000"/>
                          </a:solidFill>
                          <a:effectLst/>
                          <a:latin typeface="Aptos Narrow" panose="020B0004020202020204" pitchFamily="34" charset="0"/>
                        </a:rPr>
                        <a:t>11:30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MSFT</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EE0000"/>
                          </a:solidFill>
                          <a:effectLst/>
                          <a:latin typeface="Aptos Narrow" panose="020B0004020202020204" pitchFamily="34" charset="0"/>
                        </a:rPr>
                        <a:t>Sell</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-50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445.00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450.00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dirty="0">
                          <a:solidFill>
                            <a:srgbClr val="000000"/>
                          </a:solidFill>
                          <a:effectLst/>
                          <a:latin typeface="Aptos Narrow" panose="020B0004020202020204" pitchFamily="34" charset="0"/>
                        </a:rPr>
                        <a:t> $      (250.00)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50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1,000.00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extLst>
                  <a:ext uri="{0D108BD9-81ED-4DB2-BD59-A6C34878D82A}">
                    <a16:rowId xmlns:a16="http://schemas.microsoft.com/office/drawing/2014/main" val="2887220849"/>
                  </a:ext>
                </a:extLst>
              </a:tr>
              <a:tr h="311766">
                <a:tc>
                  <a:txBody>
                    <a:bodyPr/>
                    <a:lstStyle/>
                    <a:p>
                      <a:pPr algn="r" fontAlgn="b"/>
                      <a:r>
                        <a:rPr lang="en-US" sz="1900" b="0" i="0" u="none" strike="noStrike" dirty="0">
                          <a:solidFill>
                            <a:srgbClr val="000000"/>
                          </a:solidFill>
                          <a:effectLst/>
                          <a:latin typeface="Aptos Narrow" panose="020B0004020202020204" pitchFamily="34" charset="0"/>
                        </a:rPr>
                        <a:t>11:45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70C0"/>
                          </a:solidFill>
                          <a:effectLst/>
                          <a:latin typeface="Aptos Narrow" panose="020B0004020202020204" pitchFamily="34" charset="0"/>
                        </a:rPr>
                        <a:t>IBM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EE0000"/>
                          </a:solidFill>
                          <a:effectLst/>
                          <a:latin typeface="Aptos Narrow" panose="020B0004020202020204" pitchFamily="34" charset="0"/>
                        </a:rPr>
                        <a:t>Sell</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-20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a:solidFill>
                            <a:srgbClr val="000000"/>
                          </a:solidFill>
                          <a:effectLst/>
                          <a:latin typeface="Aptos Narrow" panose="020B0004020202020204" pitchFamily="34" charset="0"/>
                        </a:rPr>
                        <a:t> $  250.00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240.00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200.00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20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1,200.00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1585643125"/>
                  </a:ext>
                </a:extLst>
              </a:tr>
            </a:tbl>
          </a:graphicData>
        </a:graphic>
      </p:graphicFrame>
      <p:sp>
        <p:nvSpPr>
          <p:cNvPr id="4" name="Slide Number Placeholder 3">
            <a:extLst>
              <a:ext uri="{FF2B5EF4-FFF2-40B4-BE49-F238E27FC236}">
                <a16:creationId xmlns:a16="http://schemas.microsoft.com/office/drawing/2014/main" id="{8825F228-8DA4-08FB-482D-015CAFE6FD5B}"/>
              </a:ext>
            </a:extLst>
          </p:cNvPr>
          <p:cNvSpPr>
            <a:spLocks noGrp="1"/>
          </p:cNvSpPr>
          <p:nvPr>
            <p:ph type="sldNum" sz="quarter" idx="12"/>
          </p:nvPr>
        </p:nvSpPr>
        <p:spPr/>
        <p:txBody>
          <a:bodyPr/>
          <a:lstStyle/>
          <a:p>
            <a:fld id="{E6E087A0-8E33-4AD2-B40F-AC5841A95ADE}" type="slidenum">
              <a:rPr lang="en-US" smtClean="0"/>
              <a:t>30</a:t>
            </a:fld>
            <a:endParaRPr lang="en-US"/>
          </a:p>
        </p:txBody>
      </p:sp>
    </p:spTree>
    <p:extLst>
      <p:ext uri="{BB962C8B-B14F-4D97-AF65-F5344CB8AC3E}">
        <p14:creationId xmlns:p14="http://schemas.microsoft.com/office/powerpoint/2010/main" val="7324927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0CB96-0E84-ED95-FC10-9DD7D24E08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47FFB0-C3B0-E0B0-0B12-0C43BF4CE493}"/>
              </a:ext>
            </a:extLst>
          </p:cNvPr>
          <p:cNvSpPr>
            <a:spLocks noGrp="1"/>
          </p:cNvSpPr>
          <p:nvPr>
            <p:ph type="title"/>
          </p:nvPr>
        </p:nvSpPr>
        <p:spPr/>
        <p:txBody>
          <a:bodyPr/>
          <a:lstStyle/>
          <a:p>
            <a:r>
              <a:rPr lang="en-US" dirty="0"/>
              <a:t>Why FIFO Matters</a:t>
            </a:r>
          </a:p>
        </p:txBody>
      </p:sp>
      <p:sp>
        <p:nvSpPr>
          <p:cNvPr id="4" name="Slide Number Placeholder 3">
            <a:extLst>
              <a:ext uri="{FF2B5EF4-FFF2-40B4-BE49-F238E27FC236}">
                <a16:creationId xmlns:a16="http://schemas.microsoft.com/office/drawing/2014/main" id="{09A2841D-BF9E-1F76-D7D6-15EC877E409E}"/>
              </a:ext>
            </a:extLst>
          </p:cNvPr>
          <p:cNvSpPr>
            <a:spLocks noGrp="1"/>
          </p:cNvSpPr>
          <p:nvPr>
            <p:ph type="sldNum" sz="quarter" idx="12"/>
          </p:nvPr>
        </p:nvSpPr>
        <p:spPr/>
        <p:txBody>
          <a:bodyPr/>
          <a:lstStyle/>
          <a:p>
            <a:fld id="{E6E087A0-8E33-4AD2-B40F-AC5841A95ADE}" type="slidenum">
              <a:rPr lang="en-US" smtClean="0"/>
              <a:t>31</a:t>
            </a:fld>
            <a:endParaRPr lang="en-US"/>
          </a:p>
        </p:txBody>
      </p:sp>
      <p:graphicFrame>
        <p:nvGraphicFramePr>
          <p:cNvPr id="14" name="Content Placeholder 13">
            <a:extLst>
              <a:ext uri="{FF2B5EF4-FFF2-40B4-BE49-F238E27FC236}">
                <a16:creationId xmlns:a16="http://schemas.microsoft.com/office/drawing/2014/main" id="{43895B1C-C842-DF06-8055-648DC8AA9804}"/>
              </a:ext>
            </a:extLst>
          </p:cNvPr>
          <p:cNvGraphicFramePr>
            <a:graphicFrameLocks noGrp="1"/>
          </p:cNvGraphicFramePr>
          <p:nvPr>
            <p:ph idx="1"/>
          </p:nvPr>
        </p:nvGraphicFramePr>
        <p:xfrm>
          <a:off x="641228" y="2029367"/>
          <a:ext cx="10909544" cy="3337560"/>
        </p:xfrm>
        <a:graphic>
          <a:graphicData uri="http://schemas.openxmlformats.org/drawingml/2006/table">
            <a:tbl>
              <a:tblPr/>
              <a:tblGrid>
                <a:gridCol w="1068690">
                  <a:extLst>
                    <a:ext uri="{9D8B030D-6E8A-4147-A177-3AD203B41FA5}">
                      <a16:colId xmlns:a16="http://schemas.microsoft.com/office/drawing/2014/main" val="3255350026"/>
                    </a:ext>
                  </a:extLst>
                </a:gridCol>
                <a:gridCol w="1068690">
                  <a:extLst>
                    <a:ext uri="{9D8B030D-6E8A-4147-A177-3AD203B41FA5}">
                      <a16:colId xmlns:a16="http://schemas.microsoft.com/office/drawing/2014/main" val="427188072"/>
                    </a:ext>
                  </a:extLst>
                </a:gridCol>
                <a:gridCol w="1068690">
                  <a:extLst>
                    <a:ext uri="{9D8B030D-6E8A-4147-A177-3AD203B41FA5}">
                      <a16:colId xmlns:a16="http://schemas.microsoft.com/office/drawing/2014/main" val="533681328"/>
                    </a:ext>
                  </a:extLst>
                </a:gridCol>
                <a:gridCol w="1068690">
                  <a:extLst>
                    <a:ext uri="{9D8B030D-6E8A-4147-A177-3AD203B41FA5}">
                      <a16:colId xmlns:a16="http://schemas.microsoft.com/office/drawing/2014/main" val="3358538885"/>
                    </a:ext>
                  </a:extLst>
                </a:gridCol>
                <a:gridCol w="601138">
                  <a:extLst>
                    <a:ext uri="{9D8B030D-6E8A-4147-A177-3AD203B41FA5}">
                      <a16:colId xmlns:a16="http://schemas.microsoft.com/office/drawing/2014/main" val="1653290926"/>
                    </a:ext>
                  </a:extLst>
                </a:gridCol>
                <a:gridCol w="1068690">
                  <a:extLst>
                    <a:ext uri="{9D8B030D-6E8A-4147-A177-3AD203B41FA5}">
                      <a16:colId xmlns:a16="http://schemas.microsoft.com/office/drawing/2014/main" val="2744985292"/>
                    </a:ext>
                  </a:extLst>
                </a:gridCol>
                <a:gridCol w="1157749">
                  <a:extLst>
                    <a:ext uri="{9D8B030D-6E8A-4147-A177-3AD203B41FA5}">
                      <a16:colId xmlns:a16="http://schemas.microsoft.com/office/drawing/2014/main" val="3309337780"/>
                    </a:ext>
                  </a:extLst>
                </a:gridCol>
                <a:gridCol w="1380391">
                  <a:extLst>
                    <a:ext uri="{9D8B030D-6E8A-4147-A177-3AD203B41FA5}">
                      <a16:colId xmlns:a16="http://schemas.microsoft.com/office/drawing/2014/main" val="145478416"/>
                    </a:ext>
                  </a:extLst>
                </a:gridCol>
                <a:gridCol w="1068690">
                  <a:extLst>
                    <a:ext uri="{9D8B030D-6E8A-4147-A177-3AD203B41FA5}">
                      <a16:colId xmlns:a16="http://schemas.microsoft.com/office/drawing/2014/main" val="2090686371"/>
                    </a:ext>
                  </a:extLst>
                </a:gridCol>
                <a:gridCol w="1358126">
                  <a:extLst>
                    <a:ext uri="{9D8B030D-6E8A-4147-A177-3AD203B41FA5}">
                      <a16:colId xmlns:a16="http://schemas.microsoft.com/office/drawing/2014/main" val="645066259"/>
                    </a:ext>
                  </a:extLst>
                </a:gridCol>
              </a:tblGrid>
              <a:tr h="621792">
                <a:tc>
                  <a:txBody>
                    <a:bodyPr/>
                    <a:lstStyle/>
                    <a:p>
                      <a:pPr algn="l" fontAlgn="b"/>
                      <a:r>
                        <a:rPr lang="en-US" sz="1900" b="1" i="0" u="none" strike="noStrike" dirty="0">
                          <a:solidFill>
                            <a:srgbClr val="000000"/>
                          </a:solidFill>
                          <a:effectLst/>
                          <a:latin typeface="Aptos Narrow" panose="020B0004020202020204" pitchFamily="34" charset="0"/>
                        </a:rPr>
                        <a:t>Time</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dirty="0">
                          <a:solidFill>
                            <a:srgbClr val="000000"/>
                          </a:solidFill>
                          <a:effectLst/>
                          <a:latin typeface="Aptos Narrow" panose="020B0004020202020204" pitchFamily="34" charset="0"/>
                        </a:rPr>
                        <a:t>Account</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dirty="0">
                          <a:solidFill>
                            <a:srgbClr val="000000"/>
                          </a:solidFill>
                          <a:effectLst/>
                          <a:latin typeface="Aptos Narrow" panose="020B0004020202020204" pitchFamily="34" charset="0"/>
                        </a:rPr>
                        <a:t>Sec</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a:solidFill>
                            <a:srgbClr val="000000"/>
                          </a:solidFill>
                          <a:effectLst/>
                          <a:latin typeface="Aptos Narrow" panose="020B0004020202020204" pitchFamily="34" charset="0"/>
                        </a:rPr>
                        <a:t>Buy/Sell</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dirty="0">
                          <a:solidFill>
                            <a:srgbClr val="000000"/>
                          </a:solidFill>
                          <a:effectLst/>
                          <a:latin typeface="Aptos Narrow" panose="020B0004020202020204" pitchFamily="34" charset="0"/>
                        </a:rPr>
                        <a:t>Qty</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a:solidFill>
                            <a:srgbClr val="000000"/>
                          </a:solidFill>
                          <a:effectLst/>
                          <a:latin typeface="Aptos Narrow" panose="020B0004020202020204" pitchFamily="34" charset="0"/>
                        </a:rPr>
                        <a:t>Price</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dirty="0">
                          <a:solidFill>
                            <a:srgbClr val="000000"/>
                          </a:solidFill>
                          <a:effectLst/>
                          <a:latin typeface="Aptos Narrow" panose="020B0004020202020204" pitchFamily="34" charset="0"/>
                        </a:rPr>
                        <a:t>Cost Basis</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dirty="0">
                          <a:solidFill>
                            <a:srgbClr val="000000"/>
                          </a:solidFill>
                          <a:effectLst/>
                          <a:latin typeface="Aptos Narrow" panose="020B0004020202020204" pitchFamily="34" charset="0"/>
                        </a:rPr>
                        <a:t>Trade</a:t>
                      </a:r>
                      <a:br>
                        <a:rPr lang="en-US" sz="1900" b="1" i="0" u="none" strike="noStrike" dirty="0">
                          <a:solidFill>
                            <a:srgbClr val="000000"/>
                          </a:solidFill>
                          <a:effectLst/>
                          <a:latin typeface="Aptos Narrow" panose="020B0004020202020204" pitchFamily="34" charset="0"/>
                        </a:rPr>
                      </a:br>
                      <a:r>
                        <a:rPr lang="en-US" sz="1900" b="1" i="0" u="none" strike="noStrike" dirty="0">
                          <a:solidFill>
                            <a:srgbClr val="000000"/>
                          </a:solidFill>
                          <a:effectLst/>
                          <a:latin typeface="Aptos Narrow" panose="020B0004020202020204" pitchFamily="34" charset="0"/>
                        </a:rPr>
                        <a:t>Profit/Loss</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dirty="0">
                          <a:solidFill>
                            <a:srgbClr val="000000"/>
                          </a:solidFill>
                          <a:effectLst/>
                          <a:latin typeface="Aptos Narrow" panose="020B0004020202020204" pitchFamily="34" charset="0"/>
                        </a:rPr>
                        <a:t>Sec Qty</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dirty="0">
                          <a:solidFill>
                            <a:srgbClr val="000000"/>
                          </a:solidFill>
                          <a:effectLst/>
                          <a:latin typeface="Aptos Narrow" panose="020B0004020202020204" pitchFamily="34" charset="0"/>
                        </a:rPr>
                        <a:t>Realized</a:t>
                      </a:r>
                      <a:br>
                        <a:rPr lang="en-US" sz="1900" b="1" i="0" u="none" strike="noStrike" dirty="0">
                          <a:solidFill>
                            <a:srgbClr val="000000"/>
                          </a:solidFill>
                          <a:effectLst/>
                          <a:latin typeface="Aptos Narrow" panose="020B0004020202020204" pitchFamily="34" charset="0"/>
                        </a:rPr>
                      </a:br>
                      <a:r>
                        <a:rPr lang="en-US" sz="1900" b="1" i="0" u="none" strike="noStrike" dirty="0">
                          <a:solidFill>
                            <a:srgbClr val="000000"/>
                          </a:solidFill>
                          <a:effectLst/>
                          <a:latin typeface="Aptos Narrow" panose="020B0004020202020204" pitchFamily="34" charset="0"/>
                        </a:rPr>
                        <a:t>Profit/Loss</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640829324"/>
                  </a:ext>
                </a:extLst>
              </a:tr>
              <a:tr h="313488">
                <a:tc>
                  <a:txBody>
                    <a:bodyPr/>
                    <a:lstStyle/>
                    <a:p>
                      <a:pPr algn="r" fontAlgn="b"/>
                      <a:r>
                        <a:rPr lang="en-US" sz="1900" b="0" i="0" u="none" strike="noStrike">
                          <a:solidFill>
                            <a:srgbClr val="000000"/>
                          </a:solidFill>
                          <a:effectLst/>
                          <a:latin typeface="Aptos Narrow" panose="020B0004020202020204" pitchFamily="34" charset="0"/>
                        </a:rPr>
                        <a:t>9:30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MSFT</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3C7D22"/>
                          </a:solidFill>
                          <a:effectLst/>
                          <a:latin typeface="Aptos Narrow" panose="020B0004020202020204" pitchFamily="34" charset="0"/>
                        </a:rPr>
                        <a:t>Buy</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450.00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extLst>
                  <a:ext uri="{0D108BD9-81ED-4DB2-BD59-A6C34878D82A}">
                    <a16:rowId xmlns:a16="http://schemas.microsoft.com/office/drawing/2014/main" val="3839368580"/>
                  </a:ext>
                </a:extLst>
              </a:tr>
              <a:tr h="313488">
                <a:tc>
                  <a:txBody>
                    <a:bodyPr/>
                    <a:lstStyle/>
                    <a:p>
                      <a:pPr algn="r" fontAlgn="b"/>
                      <a:r>
                        <a:rPr lang="en-US" sz="1900" b="0" i="0" u="none" strike="noStrike" dirty="0">
                          <a:solidFill>
                            <a:srgbClr val="000000"/>
                          </a:solidFill>
                          <a:effectLst/>
                          <a:latin typeface="Aptos Narrow" panose="020B0004020202020204" pitchFamily="34" charset="0"/>
                        </a:rPr>
                        <a:t>9:35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70C0"/>
                          </a:solidFill>
                          <a:effectLst/>
                          <a:latin typeface="Aptos Narrow" panose="020B0004020202020204" pitchFamily="34" charset="0"/>
                        </a:rPr>
                        <a:t>IBM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3C7D22"/>
                          </a:solidFill>
                          <a:effectLst/>
                          <a:latin typeface="Aptos Narrow" panose="020B0004020202020204" pitchFamily="34" charset="0"/>
                        </a:rPr>
                        <a:t>Buy</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a:solidFill>
                            <a:srgbClr val="000000"/>
                          </a:solidFill>
                          <a:effectLst/>
                          <a:latin typeface="Aptos Narrow" panose="020B0004020202020204" pitchFamily="34" charset="0"/>
                        </a:rPr>
                        <a:t>40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240.00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a:solidFill>
                            <a:srgbClr val="000000"/>
                          </a:solidFill>
                          <a:effectLst/>
                          <a:latin typeface="Aptos Narrow" panose="020B0004020202020204" pitchFamily="34" charset="0"/>
                        </a:rPr>
                        <a:t>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40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108804105"/>
                  </a:ext>
                </a:extLst>
              </a:tr>
              <a:tr h="313488">
                <a:tc>
                  <a:txBody>
                    <a:bodyPr/>
                    <a:lstStyle/>
                    <a:p>
                      <a:pPr algn="r" fontAlgn="b"/>
                      <a:r>
                        <a:rPr lang="en-US" sz="1900" b="0" i="0" u="none" strike="noStrike">
                          <a:solidFill>
                            <a:srgbClr val="000000"/>
                          </a:solidFill>
                          <a:effectLst/>
                          <a:latin typeface="Aptos Narrow" panose="020B0004020202020204" pitchFamily="34" charset="0"/>
                        </a:rPr>
                        <a:t>10:10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MSFT</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3C7D22"/>
                          </a:solidFill>
                          <a:effectLst/>
                          <a:latin typeface="Aptos Narrow" panose="020B0004020202020204" pitchFamily="34" charset="0"/>
                        </a:rPr>
                        <a:t>Buy</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50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480.00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28575" cap="flat" cmpd="sng" algn="ctr">
                      <a:solidFill>
                        <a:srgbClr val="FF3300"/>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150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extLst>
                  <a:ext uri="{0D108BD9-81ED-4DB2-BD59-A6C34878D82A}">
                    <a16:rowId xmlns:a16="http://schemas.microsoft.com/office/drawing/2014/main" val="303321832"/>
                  </a:ext>
                </a:extLst>
              </a:tr>
              <a:tr h="313488">
                <a:tc>
                  <a:txBody>
                    <a:bodyPr/>
                    <a:lstStyle/>
                    <a:p>
                      <a:pPr algn="r" fontAlgn="b"/>
                      <a:r>
                        <a:rPr lang="en-US" sz="1900" b="0" i="0" u="none" strike="noStrike">
                          <a:solidFill>
                            <a:srgbClr val="000000"/>
                          </a:solidFill>
                          <a:effectLst/>
                          <a:latin typeface="Aptos Narrow" panose="020B0004020202020204" pitchFamily="34" charset="0"/>
                        </a:rPr>
                        <a:t>10:15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dirty="0">
                          <a:solidFill>
                            <a:srgbClr val="000000"/>
                          </a:solidFill>
                          <a:effectLst/>
                          <a:latin typeface="Aptos Narrow" panose="020B0004020202020204" pitchFamily="34" charset="0"/>
                        </a:rPr>
                        <a:t>MSFT</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EE0000"/>
                          </a:solidFill>
                          <a:effectLst/>
                          <a:latin typeface="Aptos Narrow" panose="020B0004020202020204" pitchFamily="34" charset="0"/>
                        </a:rPr>
                        <a:t>Sell</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-50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475.00 </a:t>
                      </a:r>
                    </a:p>
                  </a:txBody>
                  <a:tcPr marL="45720" marR="45720" anchor="b">
                    <a:lnL w="6350" cap="flat" cmpd="sng" algn="ctr">
                      <a:solidFill>
                        <a:srgbClr val="A6A6A6"/>
                      </a:solidFill>
                      <a:prstDash val="solid"/>
                      <a:round/>
                      <a:headEnd type="none" w="med" len="med"/>
                      <a:tailEnd type="none" w="med" len="med"/>
                    </a:lnL>
                    <a:lnR w="28575" cap="flat" cmpd="sng" algn="ctr">
                      <a:solidFill>
                        <a:srgbClr val="FF3300"/>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dirty="0">
                          <a:solidFill>
                            <a:srgbClr val="000000"/>
                          </a:solidFill>
                          <a:effectLst/>
                          <a:latin typeface="Aptos Narrow" panose="020B0004020202020204" pitchFamily="34" charset="0"/>
                        </a:rPr>
                        <a:t> $    480.00 </a:t>
                      </a:r>
                    </a:p>
                  </a:txBody>
                  <a:tcPr marL="45720" marR="45720" anchor="b">
                    <a:lnL w="28575" cap="flat" cmpd="sng" algn="ctr">
                      <a:solidFill>
                        <a:srgbClr val="FF3300"/>
                      </a:solidFill>
                      <a:prstDash val="solid"/>
                      <a:round/>
                      <a:headEnd type="none" w="med" len="med"/>
                      <a:tailEnd type="none" w="med" len="med"/>
                    </a:lnL>
                    <a:lnR w="28575" cap="flat" cmpd="sng" algn="ctr">
                      <a:solidFill>
                        <a:srgbClr val="FF3300"/>
                      </a:solidFill>
                      <a:prstDash val="solid"/>
                      <a:round/>
                      <a:headEnd type="none" w="med" len="med"/>
                      <a:tailEnd type="none" w="med" len="med"/>
                    </a:lnR>
                    <a:lnT w="28575" cap="flat" cmpd="sng" algn="ctr">
                      <a:solidFill>
                        <a:srgbClr val="FF3300"/>
                      </a:solidFill>
                      <a:prstDash val="solid"/>
                      <a:round/>
                      <a:headEnd type="none" w="med" len="med"/>
                      <a:tailEnd type="none" w="med" len="med"/>
                    </a:lnT>
                    <a:lnB w="28575" cap="flat" cmpd="sng" algn="ctr">
                      <a:solidFill>
                        <a:srgbClr val="FF3300"/>
                      </a:solidFill>
                      <a:prstDash val="solid"/>
                      <a:round/>
                      <a:headEnd type="none" w="med" len="med"/>
                      <a:tailEnd type="none" w="med" len="med"/>
                    </a:lnB>
                    <a:solidFill>
                      <a:srgbClr val="F2FFF2"/>
                    </a:solidFill>
                  </a:tcPr>
                </a:tc>
                <a:tc>
                  <a:txBody>
                    <a:bodyPr/>
                    <a:lstStyle/>
                    <a:p>
                      <a:pPr algn="l" fontAlgn="b"/>
                      <a:r>
                        <a:rPr lang="en-US" sz="1900" b="0" i="0" u="none" strike="noStrike" dirty="0">
                          <a:solidFill>
                            <a:srgbClr val="000000"/>
                          </a:solidFill>
                          <a:effectLst/>
                          <a:latin typeface="Aptos Narrow" panose="020B0004020202020204" pitchFamily="34" charset="0"/>
                        </a:rPr>
                        <a:t> $      (250.00)</a:t>
                      </a:r>
                    </a:p>
                  </a:txBody>
                  <a:tcPr marL="45720" marR="45720" anchor="b">
                    <a:lnL w="28575" cap="flat" cmpd="sng" algn="ctr">
                      <a:solidFill>
                        <a:srgbClr val="FF3300"/>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dirty="0">
                          <a:solidFill>
                            <a:srgbClr val="000000"/>
                          </a:solidFill>
                          <a:effectLst/>
                          <a:latin typeface="Aptos Narrow" panose="020B0004020202020204" pitchFamily="34" charset="0"/>
                        </a:rPr>
                        <a:t> $      (250.00)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extLst>
                  <a:ext uri="{0D108BD9-81ED-4DB2-BD59-A6C34878D82A}">
                    <a16:rowId xmlns:a16="http://schemas.microsoft.com/office/drawing/2014/main" val="3058657029"/>
                  </a:ext>
                </a:extLst>
              </a:tr>
              <a:tr h="313488">
                <a:tc>
                  <a:txBody>
                    <a:bodyPr/>
                    <a:lstStyle/>
                    <a:p>
                      <a:pPr algn="r" fontAlgn="b"/>
                      <a:r>
                        <a:rPr lang="en-US" sz="1900" b="0" i="0" u="none" strike="noStrike" dirty="0">
                          <a:solidFill>
                            <a:srgbClr val="000000"/>
                          </a:solidFill>
                          <a:effectLst/>
                          <a:latin typeface="Aptos Narrow" panose="020B0004020202020204" pitchFamily="34" charset="0"/>
                        </a:rPr>
                        <a:t>10:40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70C0"/>
                          </a:solidFill>
                          <a:effectLst/>
                          <a:latin typeface="Aptos Narrow" panose="020B0004020202020204" pitchFamily="34" charset="0"/>
                        </a:rPr>
                        <a:t>IBM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3C7D22"/>
                          </a:solidFill>
                          <a:effectLst/>
                          <a:latin typeface="Aptos Narrow" panose="020B0004020202020204" pitchFamily="34" charset="0"/>
                        </a:rPr>
                        <a:t>Buy</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60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260.00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28575" cap="flat" cmpd="sng" algn="ctr">
                      <a:solidFill>
                        <a:srgbClr val="FF3300"/>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100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(250.00)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276182411"/>
                  </a:ext>
                </a:extLst>
              </a:tr>
              <a:tr h="313488">
                <a:tc>
                  <a:txBody>
                    <a:bodyPr/>
                    <a:lstStyle/>
                    <a:p>
                      <a:pPr algn="r" fontAlgn="b"/>
                      <a:r>
                        <a:rPr lang="en-US" sz="1900" b="0" i="0" u="none" strike="noStrike" dirty="0">
                          <a:solidFill>
                            <a:srgbClr val="000000"/>
                          </a:solidFill>
                          <a:effectLst/>
                          <a:latin typeface="Aptos Narrow" panose="020B0004020202020204" pitchFamily="34" charset="0"/>
                        </a:rPr>
                        <a:t>11:30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MSFT</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EE0000"/>
                          </a:solidFill>
                          <a:effectLst/>
                          <a:latin typeface="Aptos Narrow" panose="020B0004020202020204" pitchFamily="34" charset="0"/>
                        </a:rPr>
                        <a:t>Sell</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-50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445.00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450.00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dirty="0">
                          <a:solidFill>
                            <a:srgbClr val="000000"/>
                          </a:solidFill>
                          <a:effectLst/>
                          <a:latin typeface="Aptos Narrow" panose="020B0004020202020204" pitchFamily="34" charset="0"/>
                        </a:rPr>
                        <a:t> $      (250.00)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dirty="0">
                          <a:solidFill>
                            <a:srgbClr val="000000"/>
                          </a:solidFill>
                          <a:effectLst/>
                          <a:latin typeface="Aptos Narrow" panose="020B0004020202020204" pitchFamily="34" charset="0"/>
                        </a:rPr>
                        <a:t>50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dirty="0">
                          <a:solidFill>
                            <a:srgbClr val="000000"/>
                          </a:solidFill>
                          <a:effectLst/>
                          <a:latin typeface="Aptos Narrow" panose="020B0004020202020204" pitchFamily="34" charset="0"/>
                        </a:rPr>
                        <a:t> $      (500.00)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28575" cap="flat" cmpd="sng" algn="ctr">
                      <a:solidFill>
                        <a:srgbClr val="FF3300"/>
                      </a:solidFill>
                      <a:prstDash val="solid"/>
                      <a:round/>
                      <a:headEnd type="none" w="med" len="med"/>
                      <a:tailEnd type="none" w="med" len="med"/>
                    </a:lnB>
                    <a:solidFill>
                      <a:srgbClr val="F2FFF2"/>
                    </a:solidFill>
                  </a:tcPr>
                </a:tc>
                <a:extLst>
                  <a:ext uri="{0D108BD9-81ED-4DB2-BD59-A6C34878D82A}">
                    <a16:rowId xmlns:a16="http://schemas.microsoft.com/office/drawing/2014/main" val="519046361"/>
                  </a:ext>
                </a:extLst>
              </a:tr>
              <a:tr h="313488">
                <a:tc>
                  <a:txBody>
                    <a:bodyPr/>
                    <a:lstStyle/>
                    <a:p>
                      <a:pPr algn="r" fontAlgn="b"/>
                      <a:r>
                        <a:rPr lang="en-US" sz="1900" b="0" i="0" u="none" strike="noStrike" dirty="0">
                          <a:solidFill>
                            <a:srgbClr val="000000"/>
                          </a:solidFill>
                          <a:effectLst/>
                          <a:latin typeface="Aptos Narrow" panose="020B0004020202020204" pitchFamily="34" charset="0"/>
                        </a:rPr>
                        <a:t>11:45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70C0"/>
                          </a:solidFill>
                          <a:effectLst/>
                          <a:latin typeface="Aptos Narrow" panose="020B0004020202020204" pitchFamily="34" charset="0"/>
                        </a:rPr>
                        <a:t>IBM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EE0000"/>
                          </a:solidFill>
                          <a:effectLst/>
                          <a:latin typeface="Aptos Narrow" panose="020B0004020202020204" pitchFamily="34" charset="0"/>
                        </a:rPr>
                        <a:t>Sell</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a:solidFill>
                            <a:srgbClr val="000000"/>
                          </a:solidFill>
                          <a:effectLst/>
                          <a:latin typeface="Aptos Narrow" panose="020B0004020202020204" pitchFamily="34" charset="0"/>
                        </a:rPr>
                        <a:t>-20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a:solidFill>
                            <a:srgbClr val="000000"/>
                          </a:solidFill>
                          <a:effectLst/>
                          <a:latin typeface="Aptos Narrow" panose="020B0004020202020204" pitchFamily="34" charset="0"/>
                        </a:rPr>
                        <a:t> $  250.00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240.00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200.00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20</a:t>
                      </a:r>
                    </a:p>
                  </a:txBody>
                  <a:tcPr marL="45720" marR="45720" anchor="b">
                    <a:lnL w="6350" cap="flat" cmpd="sng" algn="ctr">
                      <a:solidFill>
                        <a:srgbClr val="A6A6A6"/>
                      </a:solidFill>
                      <a:prstDash val="solid"/>
                      <a:round/>
                      <a:headEnd type="none" w="med" len="med"/>
                      <a:tailEnd type="none" w="med" len="med"/>
                    </a:lnL>
                    <a:lnR w="28575" cap="flat" cmpd="sng" algn="ctr">
                      <a:solidFill>
                        <a:srgbClr val="FF3300"/>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a:t>
                      </a:r>
                      <a:r>
                        <a:rPr lang="en-US" sz="1900" b="0" i="0" u="none" strike="noStrike" kern="1200" dirty="0">
                          <a:solidFill>
                            <a:srgbClr val="000000"/>
                          </a:solidFill>
                          <a:effectLst/>
                          <a:latin typeface="Aptos Narrow" panose="020B0004020202020204" pitchFamily="34" charset="0"/>
                          <a:ea typeface="+mn-ea"/>
                          <a:cs typeface="+mn-cs"/>
                        </a:rPr>
                        <a:t>$      (300.00)</a:t>
                      </a:r>
                    </a:p>
                  </a:txBody>
                  <a:tcPr marL="45720" marR="45720" anchor="b">
                    <a:lnL w="28575" cap="flat" cmpd="sng" algn="ctr">
                      <a:solidFill>
                        <a:srgbClr val="FF3300"/>
                      </a:solidFill>
                      <a:prstDash val="solid"/>
                      <a:round/>
                      <a:headEnd type="none" w="med" len="med"/>
                      <a:tailEnd type="none" w="med" len="med"/>
                    </a:lnL>
                    <a:lnR w="28575" cap="flat" cmpd="sng" algn="ctr">
                      <a:solidFill>
                        <a:srgbClr val="FF3300"/>
                      </a:solidFill>
                      <a:prstDash val="solid"/>
                      <a:round/>
                      <a:headEnd type="none" w="med" len="med"/>
                      <a:tailEnd type="none" w="med" len="med"/>
                    </a:lnR>
                    <a:lnT w="28575" cap="flat" cmpd="sng" algn="ctr">
                      <a:solidFill>
                        <a:srgbClr val="FF3300"/>
                      </a:solidFill>
                      <a:prstDash val="solid"/>
                      <a:round/>
                      <a:headEnd type="none" w="med" len="med"/>
                      <a:tailEnd type="none" w="med" len="med"/>
                    </a:lnT>
                    <a:lnB w="28575" cap="flat" cmpd="sng" algn="ctr">
                      <a:solidFill>
                        <a:srgbClr val="FF3300"/>
                      </a:solidFill>
                      <a:prstDash val="solid"/>
                      <a:round/>
                      <a:headEnd type="none" w="med" len="med"/>
                      <a:tailEnd type="none" w="med" len="med"/>
                    </a:lnB>
                    <a:noFill/>
                  </a:tcPr>
                </a:tc>
                <a:extLst>
                  <a:ext uri="{0D108BD9-81ED-4DB2-BD59-A6C34878D82A}">
                    <a16:rowId xmlns:a16="http://schemas.microsoft.com/office/drawing/2014/main" val="4076606285"/>
                  </a:ext>
                </a:extLst>
              </a:tr>
            </a:tbl>
          </a:graphicData>
        </a:graphic>
      </p:graphicFrame>
    </p:spTree>
    <p:extLst>
      <p:ext uri="{BB962C8B-B14F-4D97-AF65-F5344CB8AC3E}">
        <p14:creationId xmlns:p14="http://schemas.microsoft.com/office/powerpoint/2010/main" val="22645078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AF394-01FF-CFB6-1BC2-7804CCFFC9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8FD62F-C617-590D-244E-7F7307C0AA78}"/>
              </a:ext>
            </a:extLst>
          </p:cNvPr>
          <p:cNvSpPr>
            <a:spLocks noGrp="1"/>
          </p:cNvSpPr>
          <p:nvPr>
            <p:ph type="title"/>
          </p:nvPr>
        </p:nvSpPr>
        <p:spPr/>
        <p:txBody>
          <a:bodyPr/>
          <a:lstStyle/>
          <a:p>
            <a:r>
              <a:rPr lang="en-US" dirty="0"/>
              <a:t>Why FIFO Matters</a:t>
            </a:r>
          </a:p>
        </p:txBody>
      </p:sp>
      <p:sp>
        <p:nvSpPr>
          <p:cNvPr id="4" name="Slide Number Placeholder 3">
            <a:extLst>
              <a:ext uri="{FF2B5EF4-FFF2-40B4-BE49-F238E27FC236}">
                <a16:creationId xmlns:a16="http://schemas.microsoft.com/office/drawing/2014/main" id="{483B7CD8-FA75-762B-0E5E-FECD88DF537C}"/>
              </a:ext>
            </a:extLst>
          </p:cNvPr>
          <p:cNvSpPr>
            <a:spLocks noGrp="1"/>
          </p:cNvSpPr>
          <p:nvPr>
            <p:ph type="sldNum" sz="quarter" idx="12"/>
          </p:nvPr>
        </p:nvSpPr>
        <p:spPr/>
        <p:txBody>
          <a:bodyPr/>
          <a:lstStyle/>
          <a:p>
            <a:fld id="{E6E087A0-8E33-4AD2-B40F-AC5841A95ADE}" type="slidenum">
              <a:rPr lang="en-US" smtClean="0"/>
              <a:t>32</a:t>
            </a:fld>
            <a:endParaRPr lang="en-US"/>
          </a:p>
        </p:txBody>
      </p:sp>
      <p:graphicFrame>
        <p:nvGraphicFramePr>
          <p:cNvPr id="14" name="Content Placeholder 13">
            <a:extLst>
              <a:ext uri="{FF2B5EF4-FFF2-40B4-BE49-F238E27FC236}">
                <a16:creationId xmlns:a16="http://schemas.microsoft.com/office/drawing/2014/main" id="{219C562F-0001-9F82-9A4D-2E05894FEA24}"/>
              </a:ext>
            </a:extLst>
          </p:cNvPr>
          <p:cNvGraphicFramePr>
            <a:graphicFrameLocks noGrp="1"/>
          </p:cNvGraphicFramePr>
          <p:nvPr>
            <p:ph idx="1"/>
          </p:nvPr>
        </p:nvGraphicFramePr>
        <p:xfrm>
          <a:off x="641228" y="2029367"/>
          <a:ext cx="10909544" cy="3337560"/>
        </p:xfrm>
        <a:graphic>
          <a:graphicData uri="http://schemas.openxmlformats.org/drawingml/2006/table">
            <a:tbl>
              <a:tblPr/>
              <a:tblGrid>
                <a:gridCol w="1068690">
                  <a:extLst>
                    <a:ext uri="{9D8B030D-6E8A-4147-A177-3AD203B41FA5}">
                      <a16:colId xmlns:a16="http://schemas.microsoft.com/office/drawing/2014/main" val="3255350026"/>
                    </a:ext>
                  </a:extLst>
                </a:gridCol>
                <a:gridCol w="1068690">
                  <a:extLst>
                    <a:ext uri="{9D8B030D-6E8A-4147-A177-3AD203B41FA5}">
                      <a16:colId xmlns:a16="http://schemas.microsoft.com/office/drawing/2014/main" val="427188072"/>
                    </a:ext>
                  </a:extLst>
                </a:gridCol>
                <a:gridCol w="1068690">
                  <a:extLst>
                    <a:ext uri="{9D8B030D-6E8A-4147-A177-3AD203B41FA5}">
                      <a16:colId xmlns:a16="http://schemas.microsoft.com/office/drawing/2014/main" val="533681328"/>
                    </a:ext>
                  </a:extLst>
                </a:gridCol>
                <a:gridCol w="1068690">
                  <a:extLst>
                    <a:ext uri="{9D8B030D-6E8A-4147-A177-3AD203B41FA5}">
                      <a16:colId xmlns:a16="http://schemas.microsoft.com/office/drawing/2014/main" val="3358538885"/>
                    </a:ext>
                  </a:extLst>
                </a:gridCol>
                <a:gridCol w="601138">
                  <a:extLst>
                    <a:ext uri="{9D8B030D-6E8A-4147-A177-3AD203B41FA5}">
                      <a16:colId xmlns:a16="http://schemas.microsoft.com/office/drawing/2014/main" val="1653290926"/>
                    </a:ext>
                  </a:extLst>
                </a:gridCol>
                <a:gridCol w="1068690">
                  <a:extLst>
                    <a:ext uri="{9D8B030D-6E8A-4147-A177-3AD203B41FA5}">
                      <a16:colId xmlns:a16="http://schemas.microsoft.com/office/drawing/2014/main" val="2744985292"/>
                    </a:ext>
                  </a:extLst>
                </a:gridCol>
                <a:gridCol w="1157749">
                  <a:extLst>
                    <a:ext uri="{9D8B030D-6E8A-4147-A177-3AD203B41FA5}">
                      <a16:colId xmlns:a16="http://schemas.microsoft.com/office/drawing/2014/main" val="3309337780"/>
                    </a:ext>
                  </a:extLst>
                </a:gridCol>
                <a:gridCol w="1380391">
                  <a:extLst>
                    <a:ext uri="{9D8B030D-6E8A-4147-A177-3AD203B41FA5}">
                      <a16:colId xmlns:a16="http://schemas.microsoft.com/office/drawing/2014/main" val="145478416"/>
                    </a:ext>
                  </a:extLst>
                </a:gridCol>
                <a:gridCol w="1068690">
                  <a:extLst>
                    <a:ext uri="{9D8B030D-6E8A-4147-A177-3AD203B41FA5}">
                      <a16:colId xmlns:a16="http://schemas.microsoft.com/office/drawing/2014/main" val="2090686371"/>
                    </a:ext>
                  </a:extLst>
                </a:gridCol>
                <a:gridCol w="1358126">
                  <a:extLst>
                    <a:ext uri="{9D8B030D-6E8A-4147-A177-3AD203B41FA5}">
                      <a16:colId xmlns:a16="http://schemas.microsoft.com/office/drawing/2014/main" val="645066259"/>
                    </a:ext>
                  </a:extLst>
                </a:gridCol>
              </a:tblGrid>
              <a:tr h="621792">
                <a:tc>
                  <a:txBody>
                    <a:bodyPr/>
                    <a:lstStyle/>
                    <a:p>
                      <a:pPr algn="l" fontAlgn="b"/>
                      <a:r>
                        <a:rPr lang="en-US" sz="1900" b="1" i="0" u="none" strike="noStrike" dirty="0">
                          <a:solidFill>
                            <a:srgbClr val="000000"/>
                          </a:solidFill>
                          <a:effectLst/>
                          <a:latin typeface="Aptos Narrow" panose="020B0004020202020204" pitchFamily="34" charset="0"/>
                        </a:rPr>
                        <a:t>Time</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dirty="0">
                          <a:solidFill>
                            <a:srgbClr val="000000"/>
                          </a:solidFill>
                          <a:effectLst/>
                          <a:latin typeface="Aptos Narrow" panose="020B0004020202020204" pitchFamily="34" charset="0"/>
                        </a:rPr>
                        <a:t>Account</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dirty="0">
                          <a:solidFill>
                            <a:srgbClr val="000000"/>
                          </a:solidFill>
                          <a:effectLst/>
                          <a:latin typeface="Aptos Narrow" panose="020B0004020202020204" pitchFamily="34" charset="0"/>
                        </a:rPr>
                        <a:t>Sec</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a:solidFill>
                            <a:srgbClr val="000000"/>
                          </a:solidFill>
                          <a:effectLst/>
                          <a:latin typeface="Aptos Narrow" panose="020B0004020202020204" pitchFamily="34" charset="0"/>
                        </a:rPr>
                        <a:t>Buy/Sell</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dirty="0">
                          <a:solidFill>
                            <a:srgbClr val="000000"/>
                          </a:solidFill>
                          <a:effectLst/>
                          <a:latin typeface="Aptos Narrow" panose="020B0004020202020204" pitchFamily="34" charset="0"/>
                        </a:rPr>
                        <a:t>Qty</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a:solidFill>
                            <a:srgbClr val="000000"/>
                          </a:solidFill>
                          <a:effectLst/>
                          <a:latin typeface="Aptos Narrow" panose="020B0004020202020204" pitchFamily="34" charset="0"/>
                        </a:rPr>
                        <a:t>Price</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dirty="0">
                          <a:solidFill>
                            <a:srgbClr val="000000"/>
                          </a:solidFill>
                          <a:effectLst/>
                          <a:latin typeface="Aptos Narrow" panose="020B0004020202020204" pitchFamily="34" charset="0"/>
                        </a:rPr>
                        <a:t>Cost Basis</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dirty="0">
                          <a:solidFill>
                            <a:srgbClr val="000000"/>
                          </a:solidFill>
                          <a:effectLst/>
                          <a:latin typeface="Aptos Narrow" panose="020B0004020202020204" pitchFamily="34" charset="0"/>
                        </a:rPr>
                        <a:t>Trade</a:t>
                      </a:r>
                      <a:br>
                        <a:rPr lang="en-US" sz="1900" b="1" i="0" u="none" strike="noStrike" dirty="0">
                          <a:solidFill>
                            <a:srgbClr val="000000"/>
                          </a:solidFill>
                          <a:effectLst/>
                          <a:latin typeface="Aptos Narrow" panose="020B0004020202020204" pitchFamily="34" charset="0"/>
                        </a:rPr>
                      </a:br>
                      <a:r>
                        <a:rPr lang="en-US" sz="1900" b="1" i="0" u="none" strike="noStrike" dirty="0">
                          <a:solidFill>
                            <a:srgbClr val="000000"/>
                          </a:solidFill>
                          <a:effectLst/>
                          <a:latin typeface="Aptos Narrow" panose="020B0004020202020204" pitchFamily="34" charset="0"/>
                        </a:rPr>
                        <a:t>Profit/Loss</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dirty="0">
                          <a:solidFill>
                            <a:srgbClr val="000000"/>
                          </a:solidFill>
                          <a:effectLst/>
                          <a:latin typeface="Aptos Narrow" panose="020B0004020202020204" pitchFamily="34" charset="0"/>
                        </a:rPr>
                        <a:t>Sec Qty</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dirty="0">
                          <a:solidFill>
                            <a:srgbClr val="000000"/>
                          </a:solidFill>
                          <a:effectLst/>
                          <a:latin typeface="Aptos Narrow" panose="020B0004020202020204" pitchFamily="34" charset="0"/>
                        </a:rPr>
                        <a:t>Realized</a:t>
                      </a:r>
                      <a:br>
                        <a:rPr lang="en-US" sz="1900" b="1" i="0" u="none" strike="noStrike" dirty="0">
                          <a:solidFill>
                            <a:srgbClr val="000000"/>
                          </a:solidFill>
                          <a:effectLst/>
                          <a:latin typeface="Aptos Narrow" panose="020B0004020202020204" pitchFamily="34" charset="0"/>
                        </a:rPr>
                      </a:br>
                      <a:r>
                        <a:rPr lang="en-US" sz="1900" b="1" i="0" u="none" strike="noStrike" dirty="0">
                          <a:solidFill>
                            <a:srgbClr val="000000"/>
                          </a:solidFill>
                          <a:effectLst/>
                          <a:latin typeface="Aptos Narrow" panose="020B0004020202020204" pitchFamily="34" charset="0"/>
                        </a:rPr>
                        <a:t>Profit/Loss</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640829324"/>
                  </a:ext>
                </a:extLst>
              </a:tr>
              <a:tr h="313488">
                <a:tc>
                  <a:txBody>
                    <a:bodyPr/>
                    <a:lstStyle/>
                    <a:p>
                      <a:pPr algn="r" fontAlgn="b"/>
                      <a:r>
                        <a:rPr lang="en-US" sz="1900" b="0" i="0" u="none" strike="noStrike">
                          <a:solidFill>
                            <a:srgbClr val="000000"/>
                          </a:solidFill>
                          <a:effectLst/>
                          <a:latin typeface="Aptos Narrow" panose="020B0004020202020204" pitchFamily="34" charset="0"/>
                        </a:rPr>
                        <a:t>9:30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MSFT</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3C7D22"/>
                          </a:solidFill>
                          <a:effectLst/>
                          <a:latin typeface="Aptos Narrow" panose="020B0004020202020204" pitchFamily="34" charset="0"/>
                        </a:rPr>
                        <a:t>Buy</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450.00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extLst>
                  <a:ext uri="{0D108BD9-81ED-4DB2-BD59-A6C34878D82A}">
                    <a16:rowId xmlns:a16="http://schemas.microsoft.com/office/drawing/2014/main" val="3839368580"/>
                  </a:ext>
                </a:extLst>
              </a:tr>
              <a:tr h="313488">
                <a:tc>
                  <a:txBody>
                    <a:bodyPr/>
                    <a:lstStyle/>
                    <a:p>
                      <a:pPr algn="r" fontAlgn="b"/>
                      <a:r>
                        <a:rPr lang="en-US" sz="1900" b="0" i="0" u="none" strike="noStrike" dirty="0">
                          <a:solidFill>
                            <a:srgbClr val="000000"/>
                          </a:solidFill>
                          <a:effectLst/>
                          <a:latin typeface="Aptos Narrow" panose="020B0004020202020204" pitchFamily="34" charset="0"/>
                        </a:rPr>
                        <a:t>9:35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70C0"/>
                          </a:solidFill>
                          <a:effectLst/>
                          <a:latin typeface="Aptos Narrow" panose="020B0004020202020204" pitchFamily="34" charset="0"/>
                        </a:rPr>
                        <a:t>IBM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3C7D22"/>
                          </a:solidFill>
                          <a:effectLst/>
                          <a:latin typeface="Aptos Narrow" panose="020B0004020202020204" pitchFamily="34" charset="0"/>
                        </a:rPr>
                        <a:t>Buy</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a:solidFill>
                            <a:srgbClr val="000000"/>
                          </a:solidFill>
                          <a:effectLst/>
                          <a:latin typeface="Aptos Narrow" panose="020B0004020202020204" pitchFamily="34" charset="0"/>
                        </a:rPr>
                        <a:t>40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240.00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a:solidFill>
                            <a:srgbClr val="000000"/>
                          </a:solidFill>
                          <a:effectLst/>
                          <a:latin typeface="Aptos Narrow" panose="020B0004020202020204" pitchFamily="34" charset="0"/>
                        </a:rPr>
                        <a:t>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40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108804105"/>
                  </a:ext>
                </a:extLst>
              </a:tr>
              <a:tr h="313488">
                <a:tc>
                  <a:txBody>
                    <a:bodyPr/>
                    <a:lstStyle/>
                    <a:p>
                      <a:pPr algn="r" fontAlgn="b"/>
                      <a:r>
                        <a:rPr lang="en-US" sz="1900" b="0" i="0" u="none" strike="noStrike">
                          <a:solidFill>
                            <a:srgbClr val="000000"/>
                          </a:solidFill>
                          <a:effectLst/>
                          <a:latin typeface="Aptos Narrow" panose="020B0004020202020204" pitchFamily="34" charset="0"/>
                        </a:rPr>
                        <a:t>10:10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MSFT</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3C7D22"/>
                          </a:solidFill>
                          <a:effectLst/>
                          <a:latin typeface="Aptos Narrow" panose="020B0004020202020204" pitchFamily="34" charset="0"/>
                        </a:rPr>
                        <a:t>Buy</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50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480.00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28575" cap="flat" cmpd="sng" algn="ctr">
                      <a:solidFill>
                        <a:srgbClr val="FF3300"/>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150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extLst>
                  <a:ext uri="{0D108BD9-81ED-4DB2-BD59-A6C34878D82A}">
                    <a16:rowId xmlns:a16="http://schemas.microsoft.com/office/drawing/2014/main" val="303321832"/>
                  </a:ext>
                </a:extLst>
              </a:tr>
              <a:tr h="313488">
                <a:tc>
                  <a:txBody>
                    <a:bodyPr/>
                    <a:lstStyle/>
                    <a:p>
                      <a:pPr algn="r" fontAlgn="b"/>
                      <a:r>
                        <a:rPr lang="en-US" sz="1900" b="0" i="0" u="none" strike="noStrike">
                          <a:solidFill>
                            <a:srgbClr val="000000"/>
                          </a:solidFill>
                          <a:effectLst/>
                          <a:latin typeface="Aptos Narrow" panose="020B0004020202020204" pitchFamily="34" charset="0"/>
                        </a:rPr>
                        <a:t>10:15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dirty="0">
                          <a:solidFill>
                            <a:srgbClr val="000000"/>
                          </a:solidFill>
                          <a:effectLst/>
                          <a:latin typeface="Aptos Narrow" panose="020B0004020202020204" pitchFamily="34" charset="0"/>
                        </a:rPr>
                        <a:t>MSFT</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EE0000"/>
                          </a:solidFill>
                          <a:effectLst/>
                          <a:latin typeface="Aptos Narrow" panose="020B0004020202020204" pitchFamily="34" charset="0"/>
                        </a:rPr>
                        <a:t>Sell</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-50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475.00 </a:t>
                      </a:r>
                    </a:p>
                  </a:txBody>
                  <a:tcPr marL="45720" marR="45720" anchor="b">
                    <a:lnL w="6350" cap="flat" cmpd="sng" algn="ctr">
                      <a:solidFill>
                        <a:srgbClr val="A6A6A6"/>
                      </a:solidFill>
                      <a:prstDash val="solid"/>
                      <a:round/>
                      <a:headEnd type="none" w="med" len="med"/>
                      <a:tailEnd type="none" w="med" len="med"/>
                    </a:lnL>
                    <a:lnR w="28575" cap="flat" cmpd="sng" algn="ctr">
                      <a:solidFill>
                        <a:srgbClr val="FF3300"/>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dirty="0">
                          <a:solidFill>
                            <a:srgbClr val="000000"/>
                          </a:solidFill>
                          <a:effectLst/>
                          <a:latin typeface="Aptos Narrow" panose="020B0004020202020204" pitchFamily="34" charset="0"/>
                        </a:rPr>
                        <a:t> $    480.00 </a:t>
                      </a:r>
                    </a:p>
                  </a:txBody>
                  <a:tcPr marL="45720" marR="45720" anchor="b">
                    <a:lnL w="28575" cap="flat" cmpd="sng" algn="ctr">
                      <a:solidFill>
                        <a:srgbClr val="FF3300"/>
                      </a:solidFill>
                      <a:prstDash val="solid"/>
                      <a:round/>
                      <a:headEnd type="none" w="med" len="med"/>
                      <a:tailEnd type="none" w="med" len="med"/>
                    </a:lnL>
                    <a:lnR w="28575" cap="flat" cmpd="sng" algn="ctr">
                      <a:solidFill>
                        <a:srgbClr val="FF3300"/>
                      </a:solidFill>
                      <a:prstDash val="solid"/>
                      <a:round/>
                      <a:headEnd type="none" w="med" len="med"/>
                      <a:tailEnd type="none" w="med" len="med"/>
                    </a:lnR>
                    <a:lnT w="28575" cap="flat" cmpd="sng" algn="ctr">
                      <a:solidFill>
                        <a:srgbClr val="FF3300"/>
                      </a:solidFill>
                      <a:prstDash val="solid"/>
                      <a:round/>
                      <a:headEnd type="none" w="med" len="med"/>
                      <a:tailEnd type="none" w="med" len="med"/>
                    </a:lnT>
                    <a:lnB w="28575" cap="flat" cmpd="sng" algn="ctr">
                      <a:solidFill>
                        <a:srgbClr val="FF3300"/>
                      </a:solidFill>
                      <a:prstDash val="solid"/>
                      <a:round/>
                      <a:headEnd type="none" w="med" len="med"/>
                      <a:tailEnd type="none" w="med" len="med"/>
                    </a:lnB>
                    <a:solidFill>
                      <a:srgbClr val="F2FFF2"/>
                    </a:solidFill>
                  </a:tcPr>
                </a:tc>
                <a:tc>
                  <a:txBody>
                    <a:bodyPr/>
                    <a:lstStyle/>
                    <a:p>
                      <a:pPr algn="l" fontAlgn="b"/>
                      <a:r>
                        <a:rPr lang="en-US" sz="1900" b="0" i="0" u="none" strike="noStrike" dirty="0">
                          <a:solidFill>
                            <a:srgbClr val="000000"/>
                          </a:solidFill>
                          <a:effectLst/>
                          <a:latin typeface="Aptos Narrow" panose="020B0004020202020204" pitchFamily="34" charset="0"/>
                        </a:rPr>
                        <a:t> $      (250.00)</a:t>
                      </a:r>
                    </a:p>
                  </a:txBody>
                  <a:tcPr marL="45720" marR="45720" anchor="b">
                    <a:lnL w="28575" cap="flat" cmpd="sng" algn="ctr">
                      <a:solidFill>
                        <a:srgbClr val="FF3300"/>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dirty="0">
                          <a:solidFill>
                            <a:srgbClr val="000000"/>
                          </a:solidFill>
                          <a:effectLst/>
                          <a:latin typeface="Aptos Narrow" panose="020B0004020202020204" pitchFamily="34" charset="0"/>
                        </a:rPr>
                        <a:t> $      (250.00)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extLst>
                  <a:ext uri="{0D108BD9-81ED-4DB2-BD59-A6C34878D82A}">
                    <a16:rowId xmlns:a16="http://schemas.microsoft.com/office/drawing/2014/main" val="3058657029"/>
                  </a:ext>
                </a:extLst>
              </a:tr>
              <a:tr h="313488">
                <a:tc>
                  <a:txBody>
                    <a:bodyPr/>
                    <a:lstStyle/>
                    <a:p>
                      <a:pPr algn="r" fontAlgn="b"/>
                      <a:r>
                        <a:rPr lang="en-US" sz="1900" b="0" i="0" u="none" strike="noStrike" dirty="0">
                          <a:solidFill>
                            <a:srgbClr val="000000"/>
                          </a:solidFill>
                          <a:effectLst/>
                          <a:latin typeface="Aptos Narrow" panose="020B0004020202020204" pitchFamily="34" charset="0"/>
                        </a:rPr>
                        <a:t>10:40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70C0"/>
                          </a:solidFill>
                          <a:effectLst/>
                          <a:latin typeface="Aptos Narrow" panose="020B0004020202020204" pitchFamily="34" charset="0"/>
                        </a:rPr>
                        <a:t>IBM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3C7D22"/>
                          </a:solidFill>
                          <a:effectLst/>
                          <a:latin typeface="Aptos Narrow" panose="020B0004020202020204" pitchFamily="34" charset="0"/>
                        </a:rPr>
                        <a:t>Buy</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60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260.00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28575" cap="flat" cmpd="sng" algn="ctr">
                      <a:solidFill>
                        <a:srgbClr val="FF3300"/>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100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(250.00)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276182411"/>
                  </a:ext>
                </a:extLst>
              </a:tr>
              <a:tr h="313488">
                <a:tc>
                  <a:txBody>
                    <a:bodyPr/>
                    <a:lstStyle/>
                    <a:p>
                      <a:pPr algn="r" fontAlgn="b"/>
                      <a:r>
                        <a:rPr lang="en-US" sz="1900" b="0" i="0" u="none" strike="noStrike" dirty="0">
                          <a:solidFill>
                            <a:srgbClr val="000000"/>
                          </a:solidFill>
                          <a:effectLst/>
                          <a:latin typeface="Aptos Narrow" panose="020B0004020202020204" pitchFamily="34" charset="0"/>
                        </a:rPr>
                        <a:t>11:30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MSFT</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EE0000"/>
                          </a:solidFill>
                          <a:effectLst/>
                          <a:latin typeface="Aptos Narrow" panose="020B0004020202020204" pitchFamily="34" charset="0"/>
                        </a:rPr>
                        <a:t>Sell</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-50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445.00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450.00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dirty="0">
                          <a:solidFill>
                            <a:srgbClr val="000000"/>
                          </a:solidFill>
                          <a:effectLst/>
                          <a:latin typeface="Aptos Narrow" panose="020B0004020202020204" pitchFamily="34" charset="0"/>
                        </a:rPr>
                        <a:t> $      (250.00)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dirty="0">
                          <a:solidFill>
                            <a:srgbClr val="000000"/>
                          </a:solidFill>
                          <a:effectLst/>
                          <a:latin typeface="Aptos Narrow" panose="020B0004020202020204" pitchFamily="34" charset="0"/>
                        </a:rPr>
                        <a:t>50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dirty="0">
                          <a:solidFill>
                            <a:srgbClr val="000000"/>
                          </a:solidFill>
                          <a:effectLst/>
                          <a:latin typeface="Aptos Narrow" panose="020B0004020202020204" pitchFamily="34" charset="0"/>
                        </a:rPr>
                        <a:t> $      (500.00)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28575" cap="flat" cmpd="sng" algn="ctr">
                      <a:solidFill>
                        <a:srgbClr val="FF3300"/>
                      </a:solidFill>
                      <a:prstDash val="solid"/>
                      <a:round/>
                      <a:headEnd type="none" w="med" len="med"/>
                      <a:tailEnd type="none" w="med" len="med"/>
                    </a:lnB>
                    <a:solidFill>
                      <a:srgbClr val="F2FFF2"/>
                    </a:solidFill>
                  </a:tcPr>
                </a:tc>
                <a:extLst>
                  <a:ext uri="{0D108BD9-81ED-4DB2-BD59-A6C34878D82A}">
                    <a16:rowId xmlns:a16="http://schemas.microsoft.com/office/drawing/2014/main" val="519046361"/>
                  </a:ext>
                </a:extLst>
              </a:tr>
              <a:tr h="313488">
                <a:tc>
                  <a:txBody>
                    <a:bodyPr/>
                    <a:lstStyle/>
                    <a:p>
                      <a:pPr algn="r" fontAlgn="b"/>
                      <a:r>
                        <a:rPr lang="en-US" sz="1900" b="0" i="0" u="none" strike="noStrike" dirty="0">
                          <a:solidFill>
                            <a:srgbClr val="000000"/>
                          </a:solidFill>
                          <a:effectLst/>
                          <a:latin typeface="Aptos Narrow" panose="020B0004020202020204" pitchFamily="34" charset="0"/>
                        </a:rPr>
                        <a:t>11:45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70C0"/>
                          </a:solidFill>
                          <a:effectLst/>
                          <a:latin typeface="Aptos Narrow" panose="020B0004020202020204" pitchFamily="34" charset="0"/>
                        </a:rPr>
                        <a:t>IBM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EE0000"/>
                          </a:solidFill>
                          <a:effectLst/>
                          <a:latin typeface="Aptos Narrow" panose="020B0004020202020204" pitchFamily="34" charset="0"/>
                        </a:rPr>
                        <a:t>Sell</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a:solidFill>
                            <a:srgbClr val="000000"/>
                          </a:solidFill>
                          <a:effectLst/>
                          <a:latin typeface="Aptos Narrow" panose="020B0004020202020204" pitchFamily="34" charset="0"/>
                        </a:rPr>
                        <a:t>-20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a:solidFill>
                            <a:srgbClr val="000000"/>
                          </a:solidFill>
                          <a:effectLst/>
                          <a:latin typeface="Aptos Narrow" panose="020B0004020202020204" pitchFamily="34" charset="0"/>
                        </a:rPr>
                        <a:t> $  250.00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240.00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200.00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20</a:t>
                      </a:r>
                    </a:p>
                  </a:txBody>
                  <a:tcPr marL="45720" marR="45720" anchor="b">
                    <a:lnL w="6350" cap="flat" cmpd="sng" algn="ctr">
                      <a:solidFill>
                        <a:srgbClr val="A6A6A6"/>
                      </a:solidFill>
                      <a:prstDash val="solid"/>
                      <a:round/>
                      <a:headEnd type="none" w="med" len="med"/>
                      <a:tailEnd type="none" w="med" len="med"/>
                    </a:lnL>
                    <a:lnR w="28575" cap="flat" cmpd="sng" algn="ctr">
                      <a:solidFill>
                        <a:srgbClr val="FF3300"/>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a:t>
                      </a:r>
                      <a:r>
                        <a:rPr lang="en-US" sz="1900" b="0" i="0" u="none" strike="noStrike" kern="1200" dirty="0">
                          <a:solidFill>
                            <a:srgbClr val="000000"/>
                          </a:solidFill>
                          <a:effectLst/>
                          <a:latin typeface="Aptos Narrow" panose="020B0004020202020204" pitchFamily="34" charset="0"/>
                          <a:ea typeface="+mn-ea"/>
                          <a:cs typeface="+mn-cs"/>
                        </a:rPr>
                        <a:t>$      (300.00)</a:t>
                      </a:r>
                    </a:p>
                  </a:txBody>
                  <a:tcPr marL="45720" marR="45720" anchor="b">
                    <a:lnL w="28575" cap="flat" cmpd="sng" algn="ctr">
                      <a:solidFill>
                        <a:srgbClr val="FF3300"/>
                      </a:solidFill>
                      <a:prstDash val="solid"/>
                      <a:round/>
                      <a:headEnd type="none" w="med" len="med"/>
                      <a:tailEnd type="none" w="med" len="med"/>
                    </a:lnL>
                    <a:lnR w="28575" cap="flat" cmpd="sng" algn="ctr">
                      <a:solidFill>
                        <a:srgbClr val="FF3300"/>
                      </a:solidFill>
                      <a:prstDash val="solid"/>
                      <a:round/>
                      <a:headEnd type="none" w="med" len="med"/>
                      <a:tailEnd type="none" w="med" len="med"/>
                    </a:lnR>
                    <a:lnT w="28575" cap="flat" cmpd="sng" algn="ctr">
                      <a:solidFill>
                        <a:srgbClr val="FF3300"/>
                      </a:solidFill>
                      <a:prstDash val="solid"/>
                      <a:round/>
                      <a:headEnd type="none" w="med" len="med"/>
                      <a:tailEnd type="none" w="med" len="med"/>
                    </a:lnT>
                    <a:lnB w="28575" cap="flat" cmpd="sng" algn="ctr">
                      <a:solidFill>
                        <a:srgbClr val="FF3300"/>
                      </a:solidFill>
                      <a:prstDash val="solid"/>
                      <a:round/>
                      <a:headEnd type="none" w="med" len="med"/>
                      <a:tailEnd type="none" w="med" len="med"/>
                    </a:lnB>
                    <a:noFill/>
                  </a:tcPr>
                </a:tc>
                <a:extLst>
                  <a:ext uri="{0D108BD9-81ED-4DB2-BD59-A6C34878D82A}">
                    <a16:rowId xmlns:a16="http://schemas.microsoft.com/office/drawing/2014/main" val="4076606285"/>
                  </a:ext>
                </a:extLst>
              </a:tr>
            </a:tbl>
          </a:graphicData>
        </a:graphic>
      </p:graphicFrame>
      <p:sp>
        <p:nvSpPr>
          <p:cNvPr id="6" name="Explosion: 8 Points 5">
            <a:extLst>
              <a:ext uri="{FF2B5EF4-FFF2-40B4-BE49-F238E27FC236}">
                <a16:creationId xmlns:a16="http://schemas.microsoft.com/office/drawing/2014/main" id="{EBA17F9A-79C5-EA34-BB2B-DE78D6791AE9}"/>
              </a:ext>
            </a:extLst>
          </p:cNvPr>
          <p:cNvSpPr/>
          <p:nvPr/>
        </p:nvSpPr>
        <p:spPr>
          <a:xfrm>
            <a:off x="1909823" y="4480539"/>
            <a:ext cx="5903087" cy="1772775"/>
          </a:xfrm>
          <a:prstGeom prst="irregularSeal1">
            <a:avLst/>
          </a:prstGeom>
          <a:gradFill flip="none" rotWithShape="1">
            <a:gsLst>
              <a:gs pos="61570">
                <a:srgbClr val="F3A22D"/>
              </a:gs>
              <a:gs pos="30000">
                <a:srgbClr val="E95652"/>
              </a:gs>
              <a:gs pos="0">
                <a:srgbClr val="E95652"/>
              </a:gs>
              <a:gs pos="100000">
                <a:srgbClr val="FFFF00"/>
              </a:gs>
            </a:gsLst>
            <a:path path="circle">
              <a:fillToRect l="100000" t="100000"/>
            </a:path>
            <a:tileRect r="-100000" b="-100000"/>
          </a:gradFill>
          <a:ln>
            <a:solidFill>
              <a:srgbClr val="FFFF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452BEBA-93F5-6F8F-2D0B-DC37A2BAD631}"/>
              </a:ext>
            </a:extLst>
          </p:cNvPr>
          <p:cNvSpPr txBox="1"/>
          <p:nvPr/>
        </p:nvSpPr>
        <p:spPr>
          <a:xfrm rot="20804522">
            <a:off x="2337072" y="4862432"/>
            <a:ext cx="5083315" cy="923330"/>
          </a:xfrm>
          <a:prstGeom prst="rect">
            <a:avLst/>
          </a:prstGeom>
          <a:noFill/>
        </p:spPr>
        <p:txBody>
          <a:bodyPr wrap="none" rtlCol="0">
            <a:spAutoFit/>
          </a:bodyPr>
          <a:lstStyle/>
          <a:p>
            <a:r>
              <a:rPr lang="en-US" sz="5400" b="1" dirty="0">
                <a:ln w="38100">
                  <a:solidFill>
                    <a:schemeClr val="tx1"/>
                  </a:solidFill>
                </a:ln>
                <a:solidFill>
                  <a:schemeClr val="bg1"/>
                </a:solidFill>
                <a:effectLst>
                  <a:outerShdw blurRad="50800" dist="38100" dir="2700000" algn="tl" rotWithShape="0">
                    <a:prstClr val="black">
                      <a:alpha val="40000"/>
                    </a:prstClr>
                  </a:outerShdw>
                </a:effectLst>
                <a:latin typeface="Amasis MT Pro Black" panose="02040A04050005020304" pitchFamily="18" charset="0"/>
              </a:rPr>
              <a:t>BIG SAVINGS!</a:t>
            </a:r>
          </a:p>
        </p:txBody>
      </p:sp>
    </p:spTree>
    <p:extLst>
      <p:ext uri="{BB962C8B-B14F-4D97-AF65-F5344CB8AC3E}">
        <p14:creationId xmlns:p14="http://schemas.microsoft.com/office/powerpoint/2010/main" val="20312113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8949E-1676-F401-BACC-8773811952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13DBB1-7AD2-BFD0-7FB4-64CD325D926C}"/>
              </a:ext>
            </a:extLst>
          </p:cNvPr>
          <p:cNvSpPr>
            <a:spLocks noGrp="1"/>
          </p:cNvSpPr>
          <p:nvPr>
            <p:ph type="title"/>
          </p:nvPr>
        </p:nvSpPr>
        <p:spPr/>
        <p:txBody>
          <a:bodyPr/>
          <a:lstStyle/>
          <a:p>
            <a:r>
              <a:rPr lang="en-US" dirty="0"/>
              <a:t>Why FIFO Matters</a:t>
            </a:r>
          </a:p>
        </p:txBody>
      </p:sp>
      <p:sp>
        <p:nvSpPr>
          <p:cNvPr id="4" name="Slide Number Placeholder 3">
            <a:extLst>
              <a:ext uri="{FF2B5EF4-FFF2-40B4-BE49-F238E27FC236}">
                <a16:creationId xmlns:a16="http://schemas.microsoft.com/office/drawing/2014/main" id="{670CB9D0-6285-494E-DF4C-8FFC6D0C6E50}"/>
              </a:ext>
            </a:extLst>
          </p:cNvPr>
          <p:cNvSpPr>
            <a:spLocks noGrp="1"/>
          </p:cNvSpPr>
          <p:nvPr>
            <p:ph type="sldNum" sz="quarter" idx="12"/>
          </p:nvPr>
        </p:nvSpPr>
        <p:spPr/>
        <p:txBody>
          <a:bodyPr/>
          <a:lstStyle/>
          <a:p>
            <a:fld id="{E6E087A0-8E33-4AD2-B40F-AC5841A95ADE}" type="slidenum">
              <a:rPr lang="en-US" smtClean="0"/>
              <a:t>33</a:t>
            </a:fld>
            <a:endParaRPr lang="en-US"/>
          </a:p>
        </p:txBody>
      </p:sp>
      <p:graphicFrame>
        <p:nvGraphicFramePr>
          <p:cNvPr id="14" name="Content Placeholder 13">
            <a:extLst>
              <a:ext uri="{FF2B5EF4-FFF2-40B4-BE49-F238E27FC236}">
                <a16:creationId xmlns:a16="http://schemas.microsoft.com/office/drawing/2014/main" id="{8F4ADD5F-B229-52EF-414E-7B00D4645269}"/>
              </a:ext>
            </a:extLst>
          </p:cNvPr>
          <p:cNvGraphicFramePr>
            <a:graphicFrameLocks noGrp="1"/>
          </p:cNvGraphicFramePr>
          <p:nvPr>
            <p:ph idx="1"/>
          </p:nvPr>
        </p:nvGraphicFramePr>
        <p:xfrm>
          <a:off x="641228" y="2029367"/>
          <a:ext cx="10909544" cy="3337560"/>
        </p:xfrm>
        <a:graphic>
          <a:graphicData uri="http://schemas.openxmlformats.org/drawingml/2006/table">
            <a:tbl>
              <a:tblPr/>
              <a:tblGrid>
                <a:gridCol w="1068690">
                  <a:extLst>
                    <a:ext uri="{9D8B030D-6E8A-4147-A177-3AD203B41FA5}">
                      <a16:colId xmlns:a16="http://schemas.microsoft.com/office/drawing/2014/main" val="3255350026"/>
                    </a:ext>
                  </a:extLst>
                </a:gridCol>
                <a:gridCol w="1068690">
                  <a:extLst>
                    <a:ext uri="{9D8B030D-6E8A-4147-A177-3AD203B41FA5}">
                      <a16:colId xmlns:a16="http://schemas.microsoft.com/office/drawing/2014/main" val="427188072"/>
                    </a:ext>
                  </a:extLst>
                </a:gridCol>
                <a:gridCol w="1068690">
                  <a:extLst>
                    <a:ext uri="{9D8B030D-6E8A-4147-A177-3AD203B41FA5}">
                      <a16:colId xmlns:a16="http://schemas.microsoft.com/office/drawing/2014/main" val="533681328"/>
                    </a:ext>
                  </a:extLst>
                </a:gridCol>
                <a:gridCol w="1068690">
                  <a:extLst>
                    <a:ext uri="{9D8B030D-6E8A-4147-A177-3AD203B41FA5}">
                      <a16:colId xmlns:a16="http://schemas.microsoft.com/office/drawing/2014/main" val="3358538885"/>
                    </a:ext>
                  </a:extLst>
                </a:gridCol>
                <a:gridCol w="601138">
                  <a:extLst>
                    <a:ext uri="{9D8B030D-6E8A-4147-A177-3AD203B41FA5}">
                      <a16:colId xmlns:a16="http://schemas.microsoft.com/office/drawing/2014/main" val="1653290926"/>
                    </a:ext>
                  </a:extLst>
                </a:gridCol>
                <a:gridCol w="1068690">
                  <a:extLst>
                    <a:ext uri="{9D8B030D-6E8A-4147-A177-3AD203B41FA5}">
                      <a16:colId xmlns:a16="http://schemas.microsoft.com/office/drawing/2014/main" val="2744985292"/>
                    </a:ext>
                  </a:extLst>
                </a:gridCol>
                <a:gridCol w="1157749">
                  <a:extLst>
                    <a:ext uri="{9D8B030D-6E8A-4147-A177-3AD203B41FA5}">
                      <a16:colId xmlns:a16="http://schemas.microsoft.com/office/drawing/2014/main" val="3309337780"/>
                    </a:ext>
                  </a:extLst>
                </a:gridCol>
                <a:gridCol w="1380391">
                  <a:extLst>
                    <a:ext uri="{9D8B030D-6E8A-4147-A177-3AD203B41FA5}">
                      <a16:colId xmlns:a16="http://schemas.microsoft.com/office/drawing/2014/main" val="145478416"/>
                    </a:ext>
                  </a:extLst>
                </a:gridCol>
                <a:gridCol w="1068690">
                  <a:extLst>
                    <a:ext uri="{9D8B030D-6E8A-4147-A177-3AD203B41FA5}">
                      <a16:colId xmlns:a16="http://schemas.microsoft.com/office/drawing/2014/main" val="2090686371"/>
                    </a:ext>
                  </a:extLst>
                </a:gridCol>
                <a:gridCol w="1358126">
                  <a:extLst>
                    <a:ext uri="{9D8B030D-6E8A-4147-A177-3AD203B41FA5}">
                      <a16:colId xmlns:a16="http://schemas.microsoft.com/office/drawing/2014/main" val="645066259"/>
                    </a:ext>
                  </a:extLst>
                </a:gridCol>
              </a:tblGrid>
              <a:tr h="621792">
                <a:tc>
                  <a:txBody>
                    <a:bodyPr/>
                    <a:lstStyle/>
                    <a:p>
                      <a:pPr algn="l" fontAlgn="b"/>
                      <a:r>
                        <a:rPr lang="en-US" sz="1900" b="1" i="0" u="none" strike="noStrike" dirty="0">
                          <a:solidFill>
                            <a:srgbClr val="000000"/>
                          </a:solidFill>
                          <a:effectLst/>
                          <a:latin typeface="Aptos Narrow" panose="020B0004020202020204" pitchFamily="34" charset="0"/>
                        </a:rPr>
                        <a:t>Time</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dirty="0">
                          <a:solidFill>
                            <a:srgbClr val="000000"/>
                          </a:solidFill>
                          <a:effectLst/>
                          <a:latin typeface="Aptos Narrow" panose="020B0004020202020204" pitchFamily="34" charset="0"/>
                        </a:rPr>
                        <a:t>Account</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dirty="0">
                          <a:solidFill>
                            <a:srgbClr val="000000"/>
                          </a:solidFill>
                          <a:effectLst/>
                          <a:latin typeface="Aptos Narrow" panose="020B0004020202020204" pitchFamily="34" charset="0"/>
                        </a:rPr>
                        <a:t>Sec</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a:solidFill>
                            <a:srgbClr val="000000"/>
                          </a:solidFill>
                          <a:effectLst/>
                          <a:latin typeface="Aptos Narrow" panose="020B0004020202020204" pitchFamily="34" charset="0"/>
                        </a:rPr>
                        <a:t>Buy/Sell</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dirty="0">
                          <a:solidFill>
                            <a:srgbClr val="000000"/>
                          </a:solidFill>
                          <a:effectLst/>
                          <a:latin typeface="Aptos Narrow" panose="020B0004020202020204" pitchFamily="34" charset="0"/>
                        </a:rPr>
                        <a:t>Qty</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a:solidFill>
                            <a:srgbClr val="000000"/>
                          </a:solidFill>
                          <a:effectLst/>
                          <a:latin typeface="Aptos Narrow" panose="020B0004020202020204" pitchFamily="34" charset="0"/>
                        </a:rPr>
                        <a:t>Price</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dirty="0">
                          <a:solidFill>
                            <a:srgbClr val="000000"/>
                          </a:solidFill>
                          <a:effectLst/>
                          <a:latin typeface="Aptos Narrow" panose="020B0004020202020204" pitchFamily="34" charset="0"/>
                        </a:rPr>
                        <a:t>Cost Basis</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dirty="0">
                          <a:solidFill>
                            <a:srgbClr val="000000"/>
                          </a:solidFill>
                          <a:effectLst/>
                          <a:latin typeface="Aptos Narrow" panose="020B0004020202020204" pitchFamily="34" charset="0"/>
                        </a:rPr>
                        <a:t>Trade</a:t>
                      </a:r>
                      <a:br>
                        <a:rPr lang="en-US" sz="1900" b="1" i="0" u="none" strike="noStrike" dirty="0">
                          <a:solidFill>
                            <a:srgbClr val="000000"/>
                          </a:solidFill>
                          <a:effectLst/>
                          <a:latin typeface="Aptos Narrow" panose="020B0004020202020204" pitchFamily="34" charset="0"/>
                        </a:rPr>
                      </a:br>
                      <a:r>
                        <a:rPr lang="en-US" sz="1900" b="1" i="0" u="none" strike="noStrike" dirty="0">
                          <a:solidFill>
                            <a:srgbClr val="000000"/>
                          </a:solidFill>
                          <a:effectLst/>
                          <a:latin typeface="Aptos Narrow" panose="020B0004020202020204" pitchFamily="34" charset="0"/>
                        </a:rPr>
                        <a:t>Profit/Loss</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dirty="0">
                          <a:solidFill>
                            <a:srgbClr val="000000"/>
                          </a:solidFill>
                          <a:effectLst/>
                          <a:latin typeface="Aptos Narrow" panose="020B0004020202020204" pitchFamily="34" charset="0"/>
                        </a:rPr>
                        <a:t>Sec Qty</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1" i="0" u="none" strike="noStrike" dirty="0">
                          <a:solidFill>
                            <a:srgbClr val="000000"/>
                          </a:solidFill>
                          <a:effectLst/>
                          <a:latin typeface="Aptos Narrow" panose="020B0004020202020204" pitchFamily="34" charset="0"/>
                        </a:rPr>
                        <a:t>Realized</a:t>
                      </a:r>
                      <a:br>
                        <a:rPr lang="en-US" sz="1900" b="1" i="0" u="none" strike="noStrike" dirty="0">
                          <a:solidFill>
                            <a:srgbClr val="000000"/>
                          </a:solidFill>
                          <a:effectLst/>
                          <a:latin typeface="Aptos Narrow" panose="020B0004020202020204" pitchFamily="34" charset="0"/>
                        </a:rPr>
                      </a:br>
                      <a:r>
                        <a:rPr lang="en-US" sz="1900" b="1" i="0" u="none" strike="noStrike" dirty="0">
                          <a:solidFill>
                            <a:srgbClr val="000000"/>
                          </a:solidFill>
                          <a:effectLst/>
                          <a:latin typeface="Aptos Narrow" panose="020B0004020202020204" pitchFamily="34" charset="0"/>
                        </a:rPr>
                        <a:t>Profit/Loss</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640829324"/>
                  </a:ext>
                </a:extLst>
              </a:tr>
              <a:tr h="313488">
                <a:tc>
                  <a:txBody>
                    <a:bodyPr/>
                    <a:lstStyle/>
                    <a:p>
                      <a:pPr algn="r" fontAlgn="b"/>
                      <a:r>
                        <a:rPr lang="en-US" sz="1900" b="0" i="0" u="none" strike="noStrike">
                          <a:solidFill>
                            <a:srgbClr val="000000"/>
                          </a:solidFill>
                          <a:effectLst/>
                          <a:latin typeface="Aptos Narrow" panose="020B0004020202020204" pitchFamily="34" charset="0"/>
                        </a:rPr>
                        <a:t>9:30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MSFT</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3C7D22"/>
                          </a:solidFill>
                          <a:effectLst/>
                          <a:latin typeface="Aptos Narrow" panose="020B0004020202020204" pitchFamily="34" charset="0"/>
                        </a:rPr>
                        <a:t>Buy</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450.00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extLst>
                  <a:ext uri="{0D108BD9-81ED-4DB2-BD59-A6C34878D82A}">
                    <a16:rowId xmlns:a16="http://schemas.microsoft.com/office/drawing/2014/main" val="3839368580"/>
                  </a:ext>
                </a:extLst>
              </a:tr>
              <a:tr h="313488">
                <a:tc>
                  <a:txBody>
                    <a:bodyPr/>
                    <a:lstStyle/>
                    <a:p>
                      <a:pPr algn="r" fontAlgn="b"/>
                      <a:r>
                        <a:rPr lang="en-US" sz="1900" b="0" i="0" u="none" strike="noStrike" dirty="0">
                          <a:solidFill>
                            <a:srgbClr val="000000"/>
                          </a:solidFill>
                          <a:effectLst/>
                          <a:latin typeface="Aptos Narrow" panose="020B0004020202020204" pitchFamily="34" charset="0"/>
                        </a:rPr>
                        <a:t>9:35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70C0"/>
                          </a:solidFill>
                          <a:effectLst/>
                          <a:latin typeface="Aptos Narrow" panose="020B0004020202020204" pitchFamily="34" charset="0"/>
                        </a:rPr>
                        <a:t>IBM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3C7D22"/>
                          </a:solidFill>
                          <a:effectLst/>
                          <a:latin typeface="Aptos Narrow" panose="020B0004020202020204" pitchFamily="34" charset="0"/>
                        </a:rPr>
                        <a:t>Buy</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a:solidFill>
                            <a:srgbClr val="000000"/>
                          </a:solidFill>
                          <a:effectLst/>
                          <a:latin typeface="Aptos Narrow" panose="020B0004020202020204" pitchFamily="34" charset="0"/>
                        </a:rPr>
                        <a:t>40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240.00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a:solidFill>
                            <a:srgbClr val="000000"/>
                          </a:solidFill>
                          <a:effectLst/>
                          <a:latin typeface="Aptos Narrow" panose="020B0004020202020204" pitchFamily="34" charset="0"/>
                        </a:rPr>
                        <a:t>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40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108804105"/>
                  </a:ext>
                </a:extLst>
              </a:tr>
              <a:tr h="313488">
                <a:tc>
                  <a:txBody>
                    <a:bodyPr/>
                    <a:lstStyle/>
                    <a:p>
                      <a:pPr algn="r" fontAlgn="b"/>
                      <a:r>
                        <a:rPr lang="en-US" sz="1900" b="0" i="0" u="none" strike="noStrike">
                          <a:solidFill>
                            <a:srgbClr val="000000"/>
                          </a:solidFill>
                          <a:effectLst/>
                          <a:latin typeface="Aptos Narrow" panose="020B0004020202020204" pitchFamily="34" charset="0"/>
                        </a:rPr>
                        <a:t>10:10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MSFT</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3C7D22"/>
                          </a:solidFill>
                          <a:effectLst/>
                          <a:latin typeface="Aptos Narrow" panose="020B0004020202020204" pitchFamily="34" charset="0"/>
                        </a:rPr>
                        <a:t>Buy</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50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480.00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28575" cap="flat" cmpd="sng" algn="ctr">
                      <a:solidFill>
                        <a:srgbClr val="FF3300"/>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150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extLst>
                  <a:ext uri="{0D108BD9-81ED-4DB2-BD59-A6C34878D82A}">
                    <a16:rowId xmlns:a16="http://schemas.microsoft.com/office/drawing/2014/main" val="303321832"/>
                  </a:ext>
                </a:extLst>
              </a:tr>
              <a:tr h="313488">
                <a:tc>
                  <a:txBody>
                    <a:bodyPr/>
                    <a:lstStyle/>
                    <a:p>
                      <a:pPr algn="r" fontAlgn="b"/>
                      <a:r>
                        <a:rPr lang="en-US" sz="1900" b="0" i="0" u="none" strike="noStrike">
                          <a:solidFill>
                            <a:srgbClr val="000000"/>
                          </a:solidFill>
                          <a:effectLst/>
                          <a:latin typeface="Aptos Narrow" panose="020B0004020202020204" pitchFamily="34" charset="0"/>
                        </a:rPr>
                        <a:t>10:15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dirty="0">
                          <a:solidFill>
                            <a:srgbClr val="000000"/>
                          </a:solidFill>
                          <a:effectLst/>
                          <a:latin typeface="Aptos Narrow" panose="020B0004020202020204" pitchFamily="34" charset="0"/>
                        </a:rPr>
                        <a:t>MSFT</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EE0000"/>
                          </a:solidFill>
                          <a:effectLst/>
                          <a:latin typeface="Aptos Narrow" panose="020B0004020202020204" pitchFamily="34" charset="0"/>
                        </a:rPr>
                        <a:t>Sell</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-50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475.00 </a:t>
                      </a:r>
                    </a:p>
                  </a:txBody>
                  <a:tcPr marL="45720" marR="45720" anchor="b">
                    <a:lnL w="6350" cap="flat" cmpd="sng" algn="ctr">
                      <a:solidFill>
                        <a:srgbClr val="A6A6A6"/>
                      </a:solidFill>
                      <a:prstDash val="solid"/>
                      <a:round/>
                      <a:headEnd type="none" w="med" len="med"/>
                      <a:tailEnd type="none" w="med" len="med"/>
                    </a:lnL>
                    <a:lnR w="28575" cap="flat" cmpd="sng" algn="ctr">
                      <a:solidFill>
                        <a:srgbClr val="FF3300"/>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dirty="0">
                          <a:solidFill>
                            <a:srgbClr val="000000"/>
                          </a:solidFill>
                          <a:effectLst/>
                          <a:latin typeface="Aptos Narrow" panose="020B0004020202020204" pitchFamily="34" charset="0"/>
                        </a:rPr>
                        <a:t> $    480.00 </a:t>
                      </a:r>
                    </a:p>
                  </a:txBody>
                  <a:tcPr marL="45720" marR="45720" anchor="b">
                    <a:lnL w="28575" cap="flat" cmpd="sng" algn="ctr">
                      <a:solidFill>
                        <a:srgbClr val="FF3300"/>
                      </a:solidFill>
                      <a:prstDash val="solid"/>
                      <a:round/>
                      <a:headEnd type="none" w="med" len="med"/>
                      <a:tailEnd type="none" w="med" len="med"/>
                    </a:lnL>
                    <a:lnR w="28575" cap="flat" cmpd="sng" algn="ctr">
                      <a:solidFill>
                        <a:srgbClr val="FF3300"/>
                      </a:solidFill>
                      <a:prstDash val="solid"/>
                      <a:round/>
                      <a:headEnd type="none" w="med" len="med"/>
                      <a:tailEnd type="none" w="med" len="med"/>
                    </a:lnR>
                    <a:lnT w="28575" cap="flat" cmpd="sng" algn="ctr">
                      <a:solidFill>
                        <a:srgbClr val="FF3300"/>
                      </a:solidFill>
                      <a:prstDash val="solid"/>
                      <a:round/>
                      <a:headEnd type="none" w="med" len="med"/>
                      <a:tailEnd type="none" w="med" len="med"/>
                    </a:lnT>
                    <a:lnB w="28575" cap="flat" cmpd="sng" algn="ctr">
                      <a:solidFill>
                        <a:srgbClr val="FF3300"/>
                      </a:solidFill>
                      <a:prstDash val="solid"/>
                      <a:round/>
                      <a:headEnd type="none" w="med" len="med"/>
                      <a:tailEnd type="none" w="med" len="med"/>
                    </a:lnB>
                    <a:solidFill>
                      <a:srgbClr val="F2FFF2"/>
                    </a:solidFill>
                  </a:tcPr>
                </a:tc>
                <a:tc>
                  <a:txBody>
                    <a:bodyPr/>
                    <a:lstStyle/>
                    <a:p>
                      <a:pPr algn="l" fontAlgn="b"/>
                      <a:r>
                        <a:rPr lang="en-US" sz="1900" b="0" i="0" u="none" strike="noStrike" dirty="0">
                          <a:solidFill>
                            <a:srgbClr val="000000"/>
                          </a:solidFill>
                          <a:effectLst/>
                          <a:latin typeface="Aptos Narrow" panose="020B0004020202020204" pitchFamily="34" charset="0"/>
                        </a:rPr>
                        <a:t> $      (250.00)</a:t>
                      </a:r>
                    </a:p>
                  </a:txBody>
                  <a:tcPr marL="45720" marR="45720" anchor="b">
                    <a:lnL w="28575" cap="flat" cmpd="sng" algn="ctr">
                      <a:solidFill>
                        <a:srgbClr val="FF3300"/>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dirty="0">
                          <a:solidFill>
                            <a:srgbClr val="000000"/>
                          </a:solidFill>
                          <a:effectLst/>
                          <a:latin typeface="Aptos Narrow" panose="020B0004020202020204" pitchFamily="34" charset="0"/>
                        </a:rPr>
                        <a:t> $      (250.00)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extLst>
                  <a:ext uri="{0D108BD9-81ED-4DB2-BD59-A6C34878D82A}">
                    <a16:rowId xmlns:a16="http://schemas.microsoft.com/office/drawing/2014/main" val="3058657029"/>
                  </a:ext>
                </a:extLst>
              </a:tr>
              <a:tr h="313488">
                <a:tc>
                  <a:txBody>
                    <a:bodyPr/>
                    <a:lstStyle/>
                    <a:p>
                      <a:pPr algn="r" fontAlgn="b"/>
                      <a:r>
                        <a:rPr lang="en-US" sz="1900" b="0" i="0" u="none" strike="noStrike" dirty="0">
                          <a:solidFill>
                            <a:srgbClr val="000000"/>
                          </a:solidFill>
                          <a:effectLst/>
                          <a:latin typeface="Aptos Narrow" panose="020B0004020202020204" pitchFamily="34" charset="0"/>
                        </a:rPr>
                        <a:t>10:40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70C0"/>
                          </a:solidFill>
                          <a:effectLst/>
                          <a:latin typeface="Aptos Narrow" panose="020B0004020202020204" pitchFamily="34" charset="0"/>
                        </a:rPr>
                        <a:t>IBM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3C7D22"/>
                          </a:solidFill>
                          <a:effectLst/>
                          <a:latin typeface="Aptos Narrow" panose="020B0004020202020204" pitchFamily="34" charset="0"/>
                        </a:rPr>
                        <a:t>Buy</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60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260.00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28575" cap="flat" cmpd="sng" algn="ctr">
                      <a:solidFill>
                        <a:srgbClr val="FF3300"/>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100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(250.00)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276182411"/>
                  </a:ext>
                </a:extLst>
              </a:tr>
              <a:tr h="313488">
                <a:tc>
                  <a:txBody>
                    <a:bodyPr/>
                    <a:lstStyle/>
                    <a:p>
                      <a:pPr algn="r" fontAlgn="b"/>
                      <a:r>
                        <a:rPr lang="en-US" sz="1900" b="0" i="0" u="none" strike="noStrike" dirty="0">
                          <a:solidFill>
                            <a:srgbClr val="000000"/>
                          </a:solidFill>
                          <a:effectLst/>
                          <a:latin typeface="Aptos Narrow" panose="020B0004020202020204" pitchFamily="34" charset="0"/>
                        </a:rPr>
                        <a:t>11:30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MSFT</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EE0000"/>
                          </a:solidFill>
                          <a:effectLst/>
                          <a:latin typeface="Aptos Narrow" panose="020B0004020202020204" pitchFamily="34" charset="0"/>
                        </a:rPr>
                        <a:t>Sell</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a:solidFill>
                            <a:srgbClr val="000000"/>
                          </a:solidFill>
                          <a:effectLst/>
                          <a:latin typeface="Aptos Narrow" panose="020B0004020202020204" pitchFamily="34" charset="0"/>
                        </a:rPr>
                        <a:t>-50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445.00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a:solidFill>
                            <a:srgbClr val="000000"/>
                          </a:solidFill>
                          <a:effectLst/>
                          <a:latin typeface="Aptos Narrow" panose="020B0004020202020204" pitchFamily="34" charset="0"/>
                        </a:rPr>
                        <a:t> $    450.00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dirty="0">
                          <a:solidFill>
                            <a:srgbClr val="000000"/>
                          </a:solidFill>
                          <a:effectLst/>
                          <a:latin typeface="Aptos Narrow" panose="020B0004020202020204" pitchFamily="34" charset="0"/>
                        </a:rPr>
                        <a:t> $      (250.00)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r" fontAlgn="b"/>
                      <a:r>
                        <a:rPr lang="en-US" sz="1900" b="0" i="0" u="none" strike="noStrike" dirty="0">
                          <a:solidFill>
                            <a:srgbClr val="000000"/>
                          </a:solidFill>
                          <a:effectLst/>
                          <a:latin typeface="Aptos Narrow" panose="020B0004020202020204" pitchFamily="34" charset="0"/>
                        </a:rPr>
                        <a:t>50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FF2"/>
                    </a:solidFill>
                  </a:tcPr>
                </a:tc>
                <a:tc>
                  <a:txBody>
                    <a:bodyPr/>
                    <a:lstStyle/>
                    <a:p>
                      <a:pPr algn="l" fontAlgn="b"/>
                      <a:r>
                        <a:rPr lang="en-US" sz="1900" b="0" i="0" u="none" strike="noStrike" dirty="0">
                          <a:solidFill>
                            <a:srgbClr val="000000"/>
                          </a:solidFill>
                          <a:effectLst/>
                          <a:latin typeface="Aptos Narrow" panose="020B0004020202020204" pitchFamily="34" charset="0"/>
                        </a:rPr>
                        <a:t> $      (500.00)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28575" cap="flat" cmpd="sng" algn="ctr">
                      <a:solidFill>
                        <a:srgbClr val="FF3300"/>
                      </a:solidFill>
                      <a:prstDash val="solid"/>
                      <a:round/>
                      <a:headEnd type="none" w="med" len="med"/>
                      <a:tailEnd type="none" w="med" len="med"/>
                    </a:lnB>
                    <a:solidFill>
                      <a:srgbClr val="F2FFF2"/>
                    </a:solidFill>
                  </a:tcPr>
                </a:tc>
                <a:extLst>
                  <a:ext uri="{0D108BD9-81ED-4DB2-BD59-A6C34878D82A}">
                    <a16:rowId xmlns:a16="http://schemas.microsoft.com/office/drawing/2014/main" val="519046361"/>
                  </a:ext>
                </a:extLst>
              </a:tr>
              <a:tr h="313488">
                <a:tc>
                  <a:txBody>
                    <a:bodyPr/>
                    <a:lstStyle/>
                    <a:p>
                      <a:pPr algn="r" fontAlgn="b"/>
                      <a:r>
                        <a:rPr lang="en-US" sz="1900" b="0" i="0" u="none" strike="noStrike" dirty="0">
                          <a:solidFill>
                            <a:srgbClr val="000000"/>
                          </a:solidFill>
                          <a:effectLst/>
                          <a:latin typeface="Aptos Narrow" panose="020B0004020202020204" pitchFamily="34" charset="0"/>
                        </a:rPr>
                        <a:t>11:45 AM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123</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70C0"/>
                          </a:solidFill>
                          <a:effectLst/>
                          <a:latin typeface="Aptos Narrow" panose="020B0004020202020204" pitchFamily="34" charset="0"/>
                        </a:rPr>
                        <a:t>IBM</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EE0000"/>
                          </a:solidFill>
                          <a:effectLst/>
                          <a:latin typeface="Aptos Narrow" panose="020B0004020202020204" pitchFamily="34" charset="0"/>
                        </a:rPr>
                        <a:t>Sell</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a:solidFill>
                            <a:srgbClr val="000000"/>
                          </a:solidFill>
                          <a:effectLst/>
                          <a:latin typeface="Aptos Narrow" panose="020B0004020202020204" pitchFamily="34" charset="0"/>
                        </a:rPr>
                        <a:t>-20</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a:solidFill>
                            <a:srgbClr val="000000"/>
                          </a:solidFill>
                          <a:effectLst/>
                          <a:latin typeface="Aptos Narrow" panose="020B0004020202020204" pitchFamily="34" charset="0"/>
                        </a:rPr>
                        <a:t> $  250.00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240.00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          200.00 </a:t>
                      </a:r>
                    </a:p>
                  </a:txBody>
                  <a:tcPr marL="45720" marR="45720" anchor="b">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r" fontAlgn="b"/>
                      <a:r>
                        <a:rPr lang="en-US" sz="1900" b="0" i="0" u="none" strike="noStrike" dirty="0">
                          <a:solidFill>
                            <a:srgbClr val="000000"/>
                          </a:solidFill>
                          <a:effectLst/>
                          <a:latin typeface="Aptos Narrow" panose="020B0004020202020204" pitchFamily="34" charset="0"/>
                        </a:rPr>
                        <a:t>20</a:t>
                      </a:r>
                    </a:p>
                  </a:txBody>
                  <a:tcPr marL="45720" marR="45720" anchor="b">
                    <a:lnL w="6350" cap="flat" cmpd="sng" algn="ctr">
                      <a:solidFill>
                        <a:srgbClr val="A6A6A6"/>
                      </a:solidFill>
                      <a:prstDash val="solid"/>
                      <a:round/>
                      <a:headEnd type="none" w="med" len="med"/>
                      <a:tailEnd type="none" w="med" len="med"/>
                    </a:lnL>
                    <a:lnR w="28575" cap="flat" cmpd="sng" algn="ctr">
                      <a:solidFill>
                        <a:srgbClr val="FF3300"/>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b"/>
                      <a:r>
                        <a:rPr lang="en-US" sz="1900" b="0" i="0" u="none" strike="noStrike" dirty="0">
                          <a:solidFill>
                            <a:srgbClr val="000000"/>
                          </a:solidFill>
                          <a:effectLst/>
                          <a:latin typeface="Aptos Narrow" panose="020B0004020202020204" pitchFamily="34" charset="0"/>
                        </a:rPr>
                        <a:t> </a:t>
                      </a:r>
                      <a:r>
                        <a:rPr lang="en-US" sz="1900" b="0" i="0" u="none" strike="noStrike" kern="1200" dirty="0">
                          <a:solidFill>
                            <a:srgbClr val="000000"/>
                          </a:solidFill>
                          <a:effectLst/>
                          <a:latin typeface="Aptos Narrow" panose="020B0004020202020204" pitchFamily="34" charset="0"/>
                          <a:ea typeface="+mn-ea"/>
                          <a:cs typeface="+mn-cs"/>
                        </a:rPr>
                        <a:t>$      (300.00)</a:t>
                      </a:r>
                    </a:p>
                  </a:txBody>
                  <a:tcPr marL="45720" marR="45720" anchor="b">
                    <a:lnL w="28575" cap="flat" cmpd="sng" algn="ctr">
                      <a:solidFill>
                        <a:srgbClr val="FF3300"/>
                      </a:solidFill>
                      <a:prstDash val="solid"/>
                      <a:round/>
                      <a:headEnd type="none" w="med" len="med"/>
                      <a:tailEnd type="none" w="med" len="med"/>
                    </a:lnL>
                    <a:lnR w="28575" cap="flat" cmpd="sng" algn="ctr">
                      <a:solidFill>
                        <a:srgbClr val="FF3300"/>
                      </a:solidFill>
                      <a:prstDash val="solid"/>
                      <a:round/>
                      <a:headEnd type="none" w="med" len="med"/>
                      <a:tailEnd type="none" w="med" len="med"/>
                    </a:lnR>
                    <a:lnT w="28575" cap="flat" cmpd="sng" algn="ctr">
                      <a:solidFill>
                        <a:srgbClr val="FF3300"/>
                      </a:solidFill>
                      <a:prstDash val="solid"/>
                      <a:round/>
                      <a:headEnd type="none" w="med" len="med"/>
                      <a:tailEnd type="none" w="med" len="med"/>
                    </a:lnT>
                    <a:lnB w="28575" cap="flat" cmpd="sng" algn="ctr">
                      <a:solidFill>
                        <a:srgbClr val="FF3300"/>
                      </a:solidFill>
                      <a:prstDash val="solid"/>
                      <a:round/>
                      <a:headEnd type="none" w="med" len="med"/>
                      <a:tailEnd type="none" w="med" len="med"/>
                    </a:lnB>
                    <a:noFill/>
                  </a:tcPr>
                </a:tc>
                <a:extLst>
                  <a:ext uri="{0D108BD9-81ED-4DB2-BD59-A6C34878D82A}">
                    <a16:rowId xmlns:a16="http://schemas.microsoft.com/office/drawing/2014/main" val="4076606285"/>
                  </a:ext>
                </a:extLst>
              </a:tr>
            </a:tbl>
          </a:graphicData>
        </a:graphic>
      </p:graphicFrame>
      <p:sp>
        <p:nvSpPr>
          <p:cNvPr id="6" name="Explosion: 8 Points 5">
            <a:extLst>
              <a:ext uri="{FF2B5EF4-FFF2-40B4-BE49-F238E27FC236}">
                <a16:creationId xmlns:a16="http://schemas.microsoft.com/office/drawing/2014/main" id="{506A72D2-40F8-866C-8864-24B3A99603E1}"/>
              </a:ext>
            </a:extLst>
          </p:cNvPr>
          <p:cNvSpPr/>
          <p:nvPr/>
        </p:nvSpPr>
        <p:spPr>
          <a:xfrm>
            <a:off x="1909823" y="4480539"/>
            <a:ext cx="5903087" cy="1772775"/>
          </a:xfrm>
          <a:prstGeom prst="irregularSeal1">
            <a:avLst/>
          </a:prstGeom>
          <a:gradFill flip="none" rotWithShape="1">
            <a:gsLst>
              <a:gs pos="61570">
                <a:srgbClr val="F3A22D"/>
              </a:gs>
              <a:gs pos="30000">
                <a:srgbClr val="E95652"/>
              </a:gs>
              <a:gs pos="0">
                <a:srgbClr val="E95652"/>
              </a:gs>
              <a:gs pos="100000">
                <a:srgbClr val="FFFF00"/>
              </a:gs>
            </a:gsLst>
            <a:path path="circle">
              <a:fillToRect l="100000" t="100000"/>
            </a:path>
            <a:tileRect r="-100000" b="-100000"/>
          </a:gradFill>
          <a:ln>
            <a:solidFill>
              <a:srgbClr val="FFFF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EF1B986-D5D0-D65B-7D81-758116611EB4}"/>
              </a:ext>
            </a:extLst>
          </p:cNvPr>
          <p:cNvSpPr txBox="1"/>
          <p:nvPr/>
        </p:nvSpPr>
        <p:spPr>
          <a:xfrm rot="20804522">
            <a:off x="2337072" y="4862432"/>
            <a:ext cx="5083315" cy="923330"/>
          </a:xfrm>
          <a:prstGeom prst="rect">
            <a:avLst/>
          </a:prstGeom>
          <a:noFill/>
        </p:spPr>
        <p:txBody>
          <a:bodyPr wrap="none" rtlCol="0">
            <a:spAutoFit/>
          </a:bodyPr>
          <a:lstStyle/>
          <a:p>
            <a:r>
              <a:rPr lang="en-US" sz="5400" b="1" dirty="0">
                <a:ln w="38100">
                  <a:solidFill>
                    <a:schemeClr val="tx1"/>
                  </a:solidFill>
                </a:ln>
                <a:solidFill>
                  <a:schemeClr val="bg1"/>
                </a:solidFill>
                <a:effectLst>
                  <a:outerShdw blurRad="50800" dist="38100" dir="2700000" algn="tl" rotWithShape="0">
                    <a:prstClr val="black">
                      <a:alpha val="40000"/>
                    </a:prstClr>
                  </a:outerShdw>
                </a:effectLst>
                <a:latin typeface="Amasis MT Pro Black" panose="02040A04050005020304" pitchFamily="18" charset="0"/>
              </a:rPr>
              <a:t>BIG SAVINGS!</a:t>
            </a:r>
          </a:p>
        </p:txBody>
      </p:sp>
      <p:pic>
        <p:nvPicPr>
          <p:cNvPr id="5" name="Picture 4">
            <a:extLst>
              <a:ext uri="{FF2B5EF4-FFF2-40B4-BE49-F238E27FC236}">
                <a16:creationId xmlns:a16="http://schemas.microsoft.com/office/drawing/2014/main" id="{9ABDE537-7FC3-05D7-26F3-1341E1F4148E}"/>
              </a:ext>
            </a:extLst>
          </p:cNvPr>
          <p:cNvPicPr>
            <a:picLocks noChangeAspect="1"/>
          </p:cNvPicPr>
          <p:nvPr/>
        </p:nvPicPr>
        <p:blipFill>
          <a:blip r:embed="rId3"/>
          <a:stretch>
            <a:fillRect/>
          </a:stretch>
        </p:blipFill>
        <p:spPr>
          <a:xfrm>
            <a:off x="3776470" y="1039944"/>
            <a:ext cx="4639059" cy="2607389"/>
          </a:xfrm>
          <a:prstGeom prst="rect">
            <a:avLst/>
          </a:prstGeom>
        </p:spPr>
      </p:pic>
    </p:spTree>
    <p:extLst>
      <p:ext uri="{BB962C8B-B14F-4D97-AF65-F5344CB8AC3E}">
        <p14:creationId xmlns:p14="http://schemas.microsoft.com/office/powerpoint/2010/main" val="3990838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50" fill="hold"/>
                                        <p:tgtEl>
                                          <p:spTgt spid="5"/>
                                        </p:tgtEl>
                                        <p:attrNameLst>
                                          <p:attrName>ppt_x</p:attrName>
                                        </p:attrNameLst>
                                      </p:cBhvr>
                                      <p:tavLst>
                                        <p:tav tm="0">
                                          <p:val>
                                            <p:strVal val="1+#ppt_w/2"/>
                                          </p:val>
                                        </p:tav>
                                        <p:tav tm="100000">
                                          <p:val>
                                            <p:strVal val="#ppt_x"/>
                                          </p:val>
                                        </p:tav>
                                      </p:tavLst>
                                    </p:anim>
                                    <p:anim calcmode="lin" valueType="num">
                                      <p:cBhvr additive="base">
                                        <p:cTn id="8" dur="25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7EAD4-09FB-5188-5039-13F19377D9AA}"/>
              </a:ext>
            </a:extLst>
          </p:cNvPr>
          <p:cNvSpPr>
            <a:spLocks noGrp="1"/>
          </p:cNvSpPr>
          <p:nvPr>
            <p:ph type="title"/>
          </p:nvPr>
        </p:nvSpPr>
        <p:spPr/>
        <p:txBody>
          <a:bodyPr/>
          <a:lstStyle/>
          <a:p>
            <a:r>
              <a:rPr lang="en-US" dirty="0"/>
              <a:t>System Requirements</a:t>
            </a:r>
          </a:p>
        </p:txBody>
      </p:sp>
      <p:sp>
        <p:nvSpPr>
          <p:cNvPr id="3" name="Content Placeholder 2">
            <a:extLst>
              <a:ext uri="{FF2B5EF4-FFF2-40B4-BE49-F238E27FC236}">
                <a16:creationId xmlns:a16="http://schemas.microsoft.com/office/drawing/2014/main" id="{1B5183EF-4F24-27CC-D1A2-83D4E240BE67}"/>
              </a:ext>
            </a:extLst>
          </p:cNvPr>
          <p:cNvSpPr>
            <a:spLocks noGrp="1"/>
          </p:cNvSpPr>
          <p:nvPr>
            <p:ph idx="1"/>
          </p:nvPr>
        </p:nvSpPr>
        <p:spPr/>
        <p:txBody>
          <a:bodyPr>
            <a:normAutofit fontScale="92500" lnSpcReduction="20000"/>
          </a:bodyPr>
          <a:lstStyle/>
          <a:p>
            <a:pPr>
              <a:lnSpc>
                <a:spcPct val="110000"/>
              </a:lnSpc>
            </a:pPr>
            <a:r>
              <a:rPr lang="en-US" dirty="0"/>
              <a:t>Functional</a:t>
            </a:r>
          </a:p>
          <a:p>
            <a:pPr lvl="1">
              <a:lnSpc>
                <a:spcPct val="110000"/>
              </a:lnSpc>
            </a:pPr>
            <a:r>
              <a:rPr lang="en-US" dirty="0"/>
              <a:t>FIFO trade processing for Account/Security combination</a:t>
            </a:r>
          </a:p>
          <a:p>
            <a:pPr lvl="1">
              <a:lnSpc>
                <a:spcPct val="110000"/>
              </a:lnSpc>
            </a:pPr>
            <a:r>
              <a:rPr lang="en-US" dirty="0"/>
              <a:t>Can’t lose a trade</a:t>
            </a:r>
          </a:p>
          <a:p>
            <a:pPr lvl="1">
              <a:lnSpc>
                <a:spcPct val="110000"/>
              </a:lnSpc>
            </a:pPr>
            <a:r>
              <a:rPr lang="en-US" dirty="0"/>
              <a:t>Real time processing for reporting and for portfolio compliance</a:t>
            </a:r>
          </a:p>
          <a:p>
            <a:pPr>
              <a:lnSpc>
                <a:spcPct val="110000"/>
              </a:lnSpc>
            </a:pPr>
            <a:r>
              <a:rPr lang="en-US" dirty="0"/>
              <a:t>Non-functional</a:t>
            </a:r>
          </a:p>
          <a:p>
            <a:pPr lvl="1">
              <a:lnSpc>
                <a:spcPct val="110000"/>
              </a:lnSpc>
            </a:pPr>
            <a:r>
              <a:rPr lang="en-US" dirty="0"/>
              <a:t>Cost Efficiency</a:t>
            </a:r>
          </a:p>
          <a:p>
            <a:pPr lvl="2">
              <a:lnSpc>
                <a:spcPct val="110000"/>
              </a:lnSpc>
            </a:pPr>
            <a:r>
              <a:rPr lang="en-US" dirty="0"/>
              <a:t>Commodity hardware</a:t>
            </a:r>
          </a:p>
          <a:p>
            <a:pPr lvl="2">
              <a:lnSpc>
                <a:spcPct val="110000"/>
              </a:lnSpc>
            </a:pPr>
            <a:r>
              <a:rPr lang="en-US" dirty="0"/>
              <a:t>Horizontal Scalability/Elasticity</a:t>
            </a:r>
          </a:p>
          <a:p>
            <a:pPr lvl="1">
              <a:lnSpc>
                <a:spcPct val="110000"/>
              </a:lnSpc>
            </a:pPr>
            <a:r>
              <a:rPr lang="en-US" dirty="0"/>
              <a:t>Reliability/Recoverability</a:t>
            </a:r>
          </a:p>
          <a:p>
            <a:pPr lvl="1">
              <a:lnSpc>
                <a:spcPct val="110000"/>
              </a:lnSpc>
            </a:pPr>
            <a:r>
              <a:rPr lang="en-US" dirty="0"/>
              <a:t>Volumes</a:t>
            </a:r>
          </a:p>
          <a:p>
            <a:pPr lvl="2">
              <a:lnSpc>
                <a:spcPct val="110000"/>
              </a:lnSpc>
            </a:pPr>
            <a:r>
              <a:rPr lang="en-US" dirty="0"/>
              <a:t>100,000 accounts</a:t>
            </a:r>
          </a:p>
          <a:p>
            <a:pPr lvl="2">
              <a:lnSpc>
                <a:spcPct val="110000"/>
              </a:lnSpc>
            </a:pPr>
            <a:r>
              <a:rPr lang="en-US" dirty="0"/>
              <a:t>8,000 stocks</a:t>
            </a:r>
          </a:p>
          <a:p>
            <a:pPr lvl="2">
              <a:lnSpc>
                <a:spcPct val="110000"/>
              </a:lnSpc>
            </a:pPr>
            <a:r>
              <a:rPr lang="en-US" dirty="0"/>
              <a:t>10,000 trades a minute</a:t>
            </a:r>
          </a:p>
        </p:txBody>
      </p:sp>
      <p:sp>
        <p:nvSpPr>
          <p:cNvPr id="4" name="Slide Number Placeholder 3">
            <a:extLst>
              <a:ext uri="{FF2B5EF4-FFF2-40B4-BE49-F238E27FC236}">
                <a16:creationId xmlns:a16="http://schemas.microsoft.com/office/drawing/2014/main" id="{33171827-3515-537C-1736-46E581949D53}"/>
              </a:ext>
            </a:extLst>
          </p:cNvPr>
          <p:cNvSpPr>
            <a:spLocks noGrp="1"/>
          </p:cNvSpPr>
          <p:nvPr>
            <p:ph type="sldNum" sz="quarter" idx="12"/>
          </p:nvPr>
        </p:nvSpPr>
        <p:spPr/>
        <p:txBody>
          <a:bodyPr/>
          <a:lstStyle/>
          <a:p>
            <a:fld id="{E6E087A0-8E33-4AD2-B40F-AC5841A95ADE}" type="slidenum">
              <a:rPr lang="en-US" smtClean="0"/>
              <a:t>34</a:t>
            </a:fld>
            <a:endParaRPr lang="en-US"/>
          </a:p>
        </p:txBody>
      </p:sp>
    </p:spTree>
    <p:extLst>
      <p:ext uri="{BB962C8B-B14F-4D97-AF65-F5344CB8AC3E}">
        <p14:creationId xmlns:p14="http://schemas.microsoft.com/office/powerpoint/2010/main" val="33573031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720CF-8041-3B15-FE56-1279678DF219}"/>
            </a:ext>
          </a:extLst>
        </p:cNvPr>
        <p:cNvGrpSpPr/>
        <p:nvPr/>
      </p:nvGrpSpPr>
      <p:grpSpPr>
        <a:xfrm>
          <a:off x="0" y="0"/>
          <a:ext cx="0" cy="0"/>
          <a:chOff x="0" y="0"/>
          <a:chExt cx="0" cy="0"/>
        </a:xfrm>
      </p:grpSpPr>
      <p:sp>
        <p:nvSpPr>
          <p:cNvPr id="187" name="Rectangle 186">
            <a:extLst>
              <a:ext uri="{FF2B5EF4-FFF2-40B4-BE49-F238E27FC236}">
                <a16:creationId xmlns:a16="http://schemas.microsoft.com/office/drawing/2014/main" id="{46BEF2C5-0F1D-97B2-D604-80FCF31A8DD6}"/>
              </a:ext>
            </a:extLst>
          </p:cNvPr>
          <p:cNvSpPr/>
          <p:nvPr/>
        </p:nvSpPr>
        <p:spPr>
          <a:xfrm>
            <a:off x="2327653" y="1440180"/>
            <a:ext cx="7966967" cy="434280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accent1">
                    <a:lumMod val="50000"/>
                  </a:schemeClr>
                </a:solidFill>
              </a:rPr>
              <a:t>Accounting System</a:t>
            </a:r>
          </a:p>
        </p:txBody>
      </p:sp>
      <p:sp>
        <p:nvSpPr>
          <p:cNvPr id="2" name="Title 1">
            <a:extLst>
              <a:ext uri="{FF2B5EF4-FFF2-40B4-BE49-F238E27FC236}">
                <a16:creationId xmlns:a16="http://schemas.microsoft.com/office/drawing/2014/main" id="{F1E05BED-8F80-98C2-1C2B-81FA88006089}"/>
              </a:ext>
            </a:extLst>
          </p:cNvPr>
          <p:cNvSpPr>
            <a:spLocks noGrp="1"/>
          </p:cNvSpPr>
          <p:nvPr>
            <p:ph type="title"/>
          </p:nvPr>
        </p:nvSpPr>
        <p:spPr/>
        <p:txBody>
          <a:bodyPr>
            <a:normAutofit/>
          </a:bodyPr>
          <a:lstStyle/>
          <a:p>
            <a:r>
              <a:rPr lang="en-US" dirty="0"/>
              <a:t>Functional Architecture</a:t>
            </a:r>
          </a:p>
        </p:txBody>
      </p:sp>
      <p:sp>
        <p:nvSpPr>
          <p:cNvPr id="4" name="Slide Number Placeholder 3">
            <a:extLst>
              <a:ext uri="{FF2B5EF4-FFF2-40B4-BE49-F238E27FC236}">
                <a16:creationId xmlns:a16="http://schemas.microsoft.com/office/drawing/2014/main" id="{C2439DE2-F1E6-7356-AC55-119152DD4B1A}"/>
              </a:ext>
            </a:extLst>
          </p:cNvPr>
          <p:cNvSpPr>
            <a:spLocks noGrp="1"/>
          </p:cNvSpPr>
          <p:nvPr>
            <p:ph type="sldNum" sz="quarter" idx="12"/>
          </p:nvPr>
        </p:nvSpPr>
        <p:spPr/>
        <p:txBody>
          <a:bodyPr/>
          <a:lstStyle/>
          <a:p>
            <a:fld id="{E6E087A0-8E33-4AD2-B40F-AC5841A95ADE}" type="slidenum">
              <a:rPr lang="en-US" smtClean="0"/>
              <a:t>35</a:t>
            </a:fld>
            <a:endParaRPr lang="en-US"/>
          </a:p>
        </p:txBody>
      </p:sp>
      <p:sp>
        <p:nvSpPr>
          <p:cNvPr id="5" name="Rectangle 4">
            <a:extLst>
              <a:ext uri="{FF2B5EF4-FFF2-40B4-BE49-F238E27FC236}">
                <a16:creationId xmlns:a16="http://schemas.microsoft.com/office/drawing/2014/main" id="{4A20ECA9-5171-BFC4-1472-AFD3148088D5}"/>
              </a:ext>
            </a:extLst>
          </p:cNvPr>
          <p:cNvSpPr/>
          <p:nvPr/>
        </p:nvSpPr>
        <p:spPr>
          <a:xfrm>
            <a:off x="485264" y="2836769"/>
            <a:ext cx="1643409" cy="1336864"/>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en-US" sz="1600" dirty="0">
                <a:solidFill>
                  <a:schemeClr val="accent1">
                    <a:lumMod val="50000"/>
                  </a:schemeClr>
                </a:solidFill>
              </a:rPr>
              <a:t>Trade Source</a:t>
            </a:r>
          </a:p>
        </p:txBody>
      </p:sp>
      <p:cxnSp>
        <p:nvCxnSpPr>
          <p:cNvPr id="10" name="Straight Arrow Connector 9">
            <a:extLst>
              <a:ext uri="{FF2B5EF4-FFF2-40B4-BE49-F238E27FC236}">
                <a16:creationId xmlns:a16="http://schemas.microsoft.com/office/drawing/2014/main" id="{0A689E85-71D9-88AD-28ED-C8189BF175E5}"/>
              </a:ext>
            </a:extLst>
          </p:cNvPr>
          <p:cNvCxnSpPr>
            <a:cxnSpLocks/>
            <a:stCxn id="5" idx="3"/>
            <a:endCxn id="105" idx="1"/>
          </p:cNvCxnSpPr>
          <p:nvPr/>
        </p:nvCxnSpPr>
        <p:spPr>
          <a:xfrm flipV="1">
            <a:off x="2128673" y="3504306"/>
            <a:ext cx="3623930" cy="895"/>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05" name="Rectangle 104">
            <a:extLst>
              <a:ext uri="{FF2B5EF4-FFF2-40B4-BE49-F238E27FC236}">
                <a16:creationId xmlns:a16="http://schemas.microsoft.com/office/drawing/2014/main" id="{9E76840A-50F6-6062-EDF2-EEB198499928}"/>
              </a:ext>
            </a:extLst>
          </p:cNvPr>
          <p:cNvSpPr/>
          <p:nvPr/>
        </p:nvSpPr>
        <p:spPr>
          <a:xfrm>
            <a:off x="5752603" y="3048083"/>
            <a:ext cx="1401723" cy="912445"/>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lumMod val="50000"/>
                  </a:schemeClr>
                </a:solidFill>
              </a:rPr>
              <a:t>P&amp;L Calculator</a:t>
            </a:r>
          </a:p>
        </p:txBody>
      </p:sp>
      <p:grpSp>
        <p:nvGrpSpPr>
          <p:cNvPr id="117" name="Group 116">
            <a:extLst>
              <a:ext uri="{FF2B5EF4-FFF2-40B4-BE49-F238E27FC236}">
                <a16:creationId xmlns:a16="http://schemas.microsoft.com/office/drawing/2014/main" id="{5576BF96-F450-CEFC-F515-1ABB1F68EA21}"/>
              </a:ext>
            </a:extLst>
          </p:cNvPr>
          <p:cNvGrpSpPr/>
          <p:nvPr/>
        </p:nvGrpSpPr>
        <p:grpSpPr>
          <a:xfrm>
            <a:off x="8007275" y="3069573"/>
            <a:ext cx="110595" cy="872028"/>
            <a:chOff x="6569510" y="3069573"/>
            <a:chExt cx="110595" cy="872028"/>
          </a:xfrm>
          <a:noFill/>
        </p:grpSpPr>
        <p:sp>
          <p:nvSpPr>
            <p:cNvPr id="114" name="Rectangle 113">
              <a:extLst>
                <a:ext uri="{FF2B5EF4-FFF2-40B4-BE49-F238E27FC236}">
                  <a16:creationId xmlns:a16="http://schemas.microsoft.com/office/drawing/2014/main" id="{E1C88A6F-1022-7E5D-E354-299C3CB3EFFB}"/>
                </a:ext>
              </a:extLst>
            </p:cNvPr>
            <p:cNvSpPr/>
            <p:nvPr/>
          </p:nvSpPr>
          <p:spPr>
            <a:xfrm>
              <a:off x="6569510" y="3069573"/>
              <a:ext cx="110595" cy="255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B6C3ECD4-0040-9EE2-B819-C69E547D6AEE}"/>
                </a:ext>
              </a:extLst>
            </p:cNvPr>
            <p:cNvSpPr/>
            <p:nvPr/>
          </p:nvSpPr>
          <p:spPr>
            <a:xfrm>
              <a:off x="6569510" y="3379006"/>
              <a:ext cx="110595" cy="255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a:extLst>
                <a:ext uri="{FF2B5EF4-FFF2-40B4-BE49-F238E27FC236}">
                  <a16:creationId xmlns:a16="http://schemas.microsoft.com/office/drawing/2014/main" id="{E8B04309-018D-FE1A-1A5E-F5AFE5B0E240}"/>
                </a:ext>
              </a:extLst>
            </p:cNvPr>
            <p:cNvSpPr/>
            <p:nvPr/>
          </p:nvSpPr>
          <p:spPr>
            <a:xfrm>
              <a:off x="6569510" y="3686331"/>
              <a:ext cx="110595" cy="255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9" name="Straight Arrow Connector 14">
            <a:extLst>
              <a:ext uri="{FF2B5EF4-FFF2-40B4-BE49-F238E27FC236}">
                <a16:creationId xmlns:a16="http://schemas.microsoft.com/office/drawing/2014/main" id="{E5CCE5DD-1BA8-74AE-9DBE-79C2EA023AA4}"/>
              </a:ext>
            </a:extLst>
          </p:cNvPr>
          <p:cNvCxnSpPr>
            <a:cxnSpLocks/>
            <a:stCxn id="107" idx="2"/>
            <a:endCxn id="105" idx="3"/>
          </p:cNvCxnSpPr>
          <p:nvPr/>
        </p:nvCxnSpPr>
        <p:spPr>
          <a:xfrm flipH="1">
            <a:off x="7154326" y="3503817"/>
            <a:ext cx="3417029" cy="489"/>
          </a:xfrm>
          <a:prstGeom prst="straightConnector1">
            <a:avLst/>
          </a:prstGeom>
          <a:ln>
            <a:solidFill>
              <a:schemeClr val="tx1"/>
            </a:solidFill>
            <a:tailEnd type="none"/>
          </a:ln>
        </p:spPr>
        <p:style>
          <a:lnRef idx="2">
            <a:schemeClr val="accent1"/>
          </a:lnRef>
          <a:fillRef idx="0">
            <a:schemeClr val="accent1"/>
          </a:fillRef>
          <a:effectRef idx="1">
            <a:schemeClr val="accent1"/>
          </a:effectRef>
          <a:fontRef idx="minor">
            <a:schemeClr val="tx1"/>
          </a:fontRef>
        </p:style>
      </p:cxnSp>
      <p:sp>
        <p:nvSpPr>
          <p:cNvPr id="107" name="Cylinder 106">
            <a:extLst>
              <a:ext uri="{FF2B5EF4-FFF2-40B4-BE49-F238E27FC236}">
                <a16:creationId xmlns:a16="http://schemas.microsoft.com/office/drawing/2014/main" id="{ED6E5831-1D04-875C-1C8E-8AE3098C3268}"/>
              </a:ext>
            </a:extLst>
          </p:cNvPr>
          <p:cNvSpPr/>
          <p:nvPr/>
        </p:nvSpPr>
        <p:spPr>
          <a:xfrm>
            <a:off x="10571355" y="3037451"/>
            <a:ext cx="1000199" cy="932731"/>
          </a:xfrm>
          <a:prstGeom prst="can">
            <a:avLst>
              <a:gd name="adj" fmla="val 16667"/>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accent1">
                    <a:lumMod val="50000"/>
                  </a:schemeClr>
                </a:solidFill>
              </a:rPr>
              <a:t>Position</a:t>
            </a:r>
          </a:p>
          <a:p>
            <a:pPr algn="ctr"/>
            <a:r>
              <a:rPr lang="en-US" sz="1400" dirty="0">
                <a:solidFill>
                  <a:schemeClr val="accent1">
                    <a:lumMod val="50000"/>
                  </a:schemeClr>
                </a:solidFill>
              </a:rPr>
              <a:t>Store</a:t>
            </a:r>
          </a:p>
        </p:txBody>
      </p:sp>
      <p:sp>
        <p:nvSpPr>
          <p:cNvPr id="11" name="TextBox 10">
            <a:extLst>
              <a:ext uri="{FF2B5EF4-FFF2-40B4-BE49-F238E27FC236}">
                <a16:creationId xmlns:a16="http://schemas.microsoft.com/office/drawing/2014/main" id="{C88DB063-7B9E-3915-1DA1-151D74F7819E}"/>
              </a:ext>
            </a:extLst>
          </p:cNvPr>
          <p:cNvSpPr txBox="1"/>
          <p:nvPr/>
        </p:nvSpPr>
        <p:spPr>
          <a:xfrm>
            <a:off x="3692891" y="3091529"/>
            <a:ext cx="842282" cy="369332"/>
          </a:xfrm>
          <a:prstGeom prst="rect">
            <a:avLst/>
          </a:prstGeom>
          <a:noFill/>
        </p:spPr>
        <p:txBody>
          <a:bodyPr wrap="none" rtlCol="0">
            <a:spAutoFit/>
          </a:bodyPr>
          <a:lstStyle/>
          <a:p>
            <a:r>
              <a:rPr lang="en-US" dirty="0"/>
              <a:t>Trades</a:t>
            </a:r>
          </a:p>
        </p:txBody>
      </p:sp>
      <p:sp>
        <p:nvSpPr>
          <p:cNvPr id="13" name="TextBox 12">
            <a:extLst>
              <a:ext uri="{FF2B5EF4-FFF2-40B4-BE49-F238E27FC236}">
                <a16:creationId xmlns:a16="http://schemas.microsoft.com/office/drawing/2014/main" id="{10B26D75-15C7-4201-2B37-92C6726B97C6}"/>
              </a:ext>
            </a:extLst>
          </p:cNvPr>
          <p:cNvSpPr txBox="1"/>
          <p:nvPr/>
        </p:nvSpPr>
        <p:spPr>
          <a:xfrm>
            <a:off x="7939201" y="3106306"/>
            <a:ext cx="1603196" cy="369332"/>
          </a:xfrm>
          <a:prstGeom prst="rect">
            <a:avLst/>
          </a:prstGeom>
          <a:noFill/>
        </p:spPr>
        <p:txBody>
          <a:bodyPr wrap="none" rtlCol="0">
            <a:spAutoFit/>
          </a:bodyPr>
          <a:lstStyle/>
          <a:p>
            <a:r>
              <a:rPr lang="en-US" dirty="0"/>
              <a:t>Positions, P&amp;L</a:t>
            </a:r>
          </a:p>
        </p:txBody>
      </p:sp>
    </p:spTree>
    <p:extLst>
      <p:ext uri="{BB962C8B-B14F-4D97-AF65-F5344CB8AC3E}">
        <p14:creationId xmlns:p14="http://schemas.microsoft.com/office/powerpoint/2010/main" val="7407084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86B94-BE7C-4DAD-AF44-85D6E4D3F86E}"/>
              </a:ext>
            </a:extLst>
          </p:cNvPr>
          <p:cNvSpPr>
            <a:spLocks noGrp="1"/>
          </p:cNvSpPr>
          <p:nvPr>
            <p:ph type="title"/>
          </p:nvPr>
        </p:nvSpPr>
        <p:spPr/>
        <p:txBody>
          <a:bodyPr>
            <a:normAutofit/>
          </a:bodyPr>
          <a:lstStyle/>
          <a:p>
            <a:r>
              <a:rPr lang="en-US" dirty="0"/>
              <a:t>Business and Technical Requirements</a:t>
            </a:r>
          </a:p>
        </p:txBody>
      </p:sp>
      <p:sp>
        <p:nvSpPr>
          <p:cNvPr id="3" name="Content Placeholder 2">
            <a:extLst>
              <a:ext uri="{FF2B5EF4-FFF2-40B4-BE49-F238E27FC236}">
                <a16:creationId xmlns:a16="http://schemas.microsoft.com/office/drawing/2014/main" id="{B9281435-E090-E688-366C-1FCC7565E596}"/>
              </a:ext>
            </a:extLst>
          </p:cNvPr>
          <p:cNvSpPr>
            <a:spLocks noGrp="1"/>
          </p:cNvSpPr>
          <p:nvPr>
            <p:ph idx="1"/>
          </p:nvPr>
        </p:nvSpPr>
        <p:spPr/>
        <p:txBody>
          <a:bodyPr>
            <a:normAutofit/>
          </a:bodyPr>
          <a:lstStyle/>
          <a:p>
            <a:r>
              <a:rPr lang="en-US" dirty="0"/>
              <a:t>Guaranteed delivery messaging from the trading system</a:t>
            </a:r>
          </a:p>
          <a:p>
            <a:r>
              <a:rPr lang="en-US" dirty="0"/>
              <a:t>Business Rule</a:t>
            </a:r>
          </a:p>
          <a:p>
            <a:pPr lvl="1"/>
            <a:r>
              <a:rPr lang="en-US" dirty="0"/>
              <a:t>FIFO within a single Account/Product combination</a:t>
            </a:r>
          </a:p>
          <a:p>
            <a:pPr lvl="1"/>
            <a:r>
              <a:rPr lang="en-US" dirty="0"/>
              <a:t>Partition Key: </a:t>
            </a:r>
            <a:r>
              <a:rPr lang="en-US" b="1" dirty="0">
                <a:solidFill>
                  <a:schemeClr val="accent5">
                    <a:lumMod val="75000"/>
                  </a:schemeClr>
                </a:solidFill>
              </a:rPr>
              <a:t>Account + Product</a:t>
            </a:r>
            <a:r>
              <a:rPr lang="en-US" dirty="0"/>
              <a:t>, or </a:t>
            </a:r>
            <a:r>
              <a:rPr lang="en-US" b="1" dirty="0">
                <a:solidFill>
                  <a:schemeClr val="accent5">
                    <a:lumMod val="75000"/>
                  </a:schemeClr>
                </a:solidFill>
              </a:rPr>
              <a:t>Account</a:t>
            </a:r>
            <a:r>
              <a:rPr lang="en-US" dirty="0"/>
              <a:t>, or </a:t>
            </a:r>
            <a:r>
              <a:rPr lang="en-US" b="1" dirty="0">
                <a:solidFill>
                  <a:schemeClr val="accent5">
                    <a:lumMod val="75000"/>
                  </a:schemeClr>
                </a:solidFill>
              </a:rPr>
              <a:t>Product</a:t>
            </a:r>
          </a:p>
          <a:p>
            <a:r>
              <a:rPr lang="en-US" dirty="0"/>
              <a:t>Persistence Layer</a:t>
            </a:r>
          </a:p>
          <a:p>
            <a:pPr lvl="1"/>
            <a:r>
              <a:rPr lang="en-US" dirty="0"/>
              <a:t>Structured data</a:t>
            </a:r>
          </a:p>
          <a:p>
            <a:pPr lvl="1"/>
            <a:r>
              <a:rPr lang="en-US" dirty="0"/>
              <a:t>Relationships with reference data</a:t>
            </a:r>
          </a:p>
          <a:p>
            <a:pPr lvl="1"/>
            <a:r>
              <a:rPr lang="en-US" dirty="0"/>
              <a:t>If not performant enough</a:t>
            </a:r>
          </a:p>
          <a:p>
            <a:pPr lvl="2"/>
            <a:r>
              <a:rPr lang="en-US" dirty="0"/>
              <a:t>Cache prices</a:t>
            </a:r>
          </a:p>
          <a:p>
            <a:pPr lvl="2"/>
            <a:r>
              <a:rPr lang="en-US" dirty="0"/>
              <a:t>Caching positions with periodic writes </a:t>
            </a:r>
          </a:p>
        </p:txBody>
      </p:sp>
      <p:sp>
        <p:nvSpPr>
          <p:cNvPr id="4" name="Slide Number Placeholder 3">
            <a:extLst>
              <a:ext uri="{FF2B5EF4-FFF2-40B4-BE49-F238E27FC236}">
                <a16:creationId xmlns:a16="http://schemas.microsoft.com/office/drawing/2014/main" id="{223FA675-F0C7-AD6F-9CB1-D5551B9F4911}"/>
              </a:ext>
            </a:extLst>
          </p:cNvPr>
          <p:cNvSpPr>
            <a:spLocks noGrp="1"/>
          </p:cNvSpPr>
          <p:nvPr>
            <p:ph type="sldNum" sz="quarter" idx="12"/>
          </p:nvPr>
        </p:nvSpPr>
        <p:spPr/>
        <p:txBody>
          <a:bodyPr/>
          <a:lstStyle/>
          <a:p>
            <a:fld id="{E6E087A0-8E33-4AD2-B40F-AC5841A95ADE}" type="slidenum">
              <a:rPr lang="en-US" smtClean="0"/>
              <a:t>36</a:t>
            </a:fld>
            <a:endParaRPr lang="en-US" dirty="0"/>
          </a:p>
        </p:txBody>
      </p:sp>
    </p:spTree>
    <p:extLst>
      <p:ext uri="{BB962C8B-B14F-4D97-AF65-F5344CB8AC3E}">
        <p14:creationId xmlns:p14="http://schemas.microsoft.com/office/powerpoint/2010/main" val="994855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25CFE-5965-CE26-3E33-29672B2FA872}"/>
            </a:ext>
          </a:extLst>
        </p:cNvPr>
        <p:cNvGrpSpPr/>
        <p:nvPr/>
      </p:nvGrpSpPr>
      <p:grpSpPr>
        <a:xfrm>
          <a:off x="0" y="0"/>
          <a:ext cx="0" cy="0"/>
          <a:chOff x="0" y="0"/>
          <a:chExt cx="0" cy="0"/>
        </a:xfrm>
      </p:grpSpPr>
      <p:sp>
        <p:nvSpPr>
          <p:cNvPr id="187" name="Rectangle 186">
            <a:extLst>
              <a:ext uri="{FF2B5EF4-FFF2-40B4-BE49-F238E27FC236}">
                <a16:creationId xmlns:a16="http://schemas.microsoft.com/office/drawing/2014/main" id="{55199434-CA92-6AC9-6791-43E660AD1742}"/>
              </a:ext>
            </a:extLst>
          </p:cNvPr>
          <p:cNvSpPr/>
          <p:nvPr/>
        </p:nvSpPr>
        <p:spPr>
          <a:xfrm>
            <a:off x="2327653" y="1440180"/>
            <a:ext cx="7966967" cy="434280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accent1">
                    <a:lumMod val="50000"/>
                  </a:schemeClr>
                </a:solidFill>
              </a:rPr>
              <a:t>System</a:t>
            </a:r>
          </a:p>
        </p:txBody>
      </p:sp>
      <p:sp>
        <p:nvSpPr>
          <p:cNvPr id="42" name="Rectangle 41">
            <a:extLst>
              <a:ext uri="{FF2B5EF4-FFF2-40B4-BE49-F238E27FC236}">
                <a16:creationId xmlns:a16="http://schemas.microsoft.com/office/drawing/2014/main" id="{DEC20EB9-F060-FC43-75F8-AE111FC3B52D}"/>
              </a:ext>
            </a:extLst>
          </p:cNvPr>
          <p:cNvSpPr/>
          <p:nvPr/>
        </p:nvSpPr>
        <p:spPr>
          <a:xfrm>
            <a:off x="4704930" y="2629675"/>
            <a:ext cx="3416817" cy="1749718"/>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600" dirty="0">
                <a:solidFill>
                  <a:schemeClr val="accent1">
                    <a:lumMod val="50000"/>
                  </a:schemeClr>
                </a:solidFill>
              </a:rPr>
              <a:t>Accounting Trade Queue</a:t>
            </a:r>
          </a:p>
        </p:txBody>
      </p:sp>
      <p:sp>
        <p:nvSpPr>
          <p:cNvPr id="2" name="Title 1">
            <a:extLst>
              <a:ext uri="{FF2B5EF4-FFF2-40B4-BE49-F238E27FC236}">
                <a16:creationId xmlns:a16="http://schemas.microsoft.com/office/drawing/2014/main" id="{98E5AE76-CC6E-6684-BC7C-28D9B10A343A}"/>
              </a:ext>
            </a:extLst>
          </p:cNvPr>
          <p:cNvSpPr>
            <a:spLocks noGrp="1"/>
          </p:cNvSpPr>
          <p:nvPr>
            <p:ph type="title"/>
          </p:nvPr>
        </p:nvSpPr>
        <p:spPr/>
        <p:txBody>
          <a:bodyPr>
            <a:normAutofit/>
          </a:bodyPr>
          <a:lstStyle/>
          <a:p>
            <a:r>
              <a:rPr lang="en-US" dirty="0"/>
              <a:t>High Level Architecture</a:t>
            </a:r>
          </a:p>
        </p:txBody>
      </p:sp>
      <p:sp>
        <p:nvSpPr>
          <p:cNvPr id="4" name="Slide Number Placeholder 3">
            <a:extLst>
              <a:ext uri="{FF2B5EF4-FFF2-40B4-BE49-F238E27FC236}">
                <a16:creationId xmlns:a16="http://schemas.microsoft.com/office/drawing/2014/main" id="{9151F737-14DC-9A90-7347-3C38BC41CB75}"/>
              </a:ext>
            </a:extLst>
          </p:cNvPr>
          <p:cNvSpPr>
            <a:spLocks noGrp="1"/>
          </p:cNvSpPr>
          <p:nvPr>
            <p:ph type="sldNum" sz="quarter" idx="12"/>
          </p:nvPr>
        </p:nvSpPr>
        <p:spPr/>
        <p:txBody>
          <a:bodyPr/>
          <a:lstStyle/>
          <a:p>
            <a:fld id="{E6E087A0-8E33-4AD2-B40F-AC5841A95ADE}" type="slidenum">
              <a:rPr lang="en-US" smtClean="0"/>
              <a:t>37</a:t>
            </a:fld>
            <a:endParaRPr lang="en-US"/>
          </a:p>
        </p:txBody>
      </p:sp>
      <p:sp>
        <p:nvSpPr>
          <p:cNvPr id="5" name="Rectangle 4">
            <a:extLst>
              <a:ext uri="{FF2B5EF4-FFF2-40B4-BE49-F238E27FC236}">
                <a16:creationId xmlns:a16="http://schemas.microsoft.com/office/drawing/2014/main" id="{26D787AF-3108-683F-219A-6E40E1095C36}"/>
              </a:ext>
            </a:extLst>
          </p:cNvPr>
          <p:cNvSpPr/>
          <p:nvPr/>
        </p:nvSpPr>
        <p:spPr>
          <a:xfrm>
            <a:off x="485264" y="2836769"/>
            <a:ext cx="1643409" cy="1336864"/>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t"/>
          <a:lstStyle/>
          <a:p>
            <a:pPr algn="ctr"/>
            <a:r>
              <a:rPr lang="en-US" sz="1600" dirty="0">
                <a:solidFill>
                  <a:schemeClr val="accent1">
                    <a:lumMod val="50000"/>
                  </a:schemeClr>
                </a:solidFill>
              </a:rPr>
              <a:t>Trade Publisher</a:t>
            </a:r>
          </a:p>
        </p:txBody>
      </p:sp>
      <p:cxnSp>
        <p:nvCxnSpPr>
          <p:cNvPr id="10" name="Straight Arrow Connector 9">
            <a:extLst>
              <a:ext uri="{FF2B5EF4-FFF2-40B4-BE49-F238E27FC236}">
                <a16:creationId xmlns:a16="http://schemas.microsoft.com/office/drawing/2014/main" id="{248886AB-423C-2EB0-9F26-2590F835F0C9}"/>
              </a:ext>
            </a:extLst>
          </p:cNvPr>
          <p:cNvCxnSpPr>
            <a:cxnSpLocks/>
            <a:stCxn id="5" idx="3"/>
            <a:endCxn id="148" idx="1"/>
          </p:cNvCxnSpPr>
          <p:nvPr/>
        </p:nvCxnSpPr>
        <p:spPr>
          <a:xfrm>
            <a:off x="2128673" y="3505201"/>
            <a:ext cx="931600" cy="144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DF731248-8339-11BE-ECE3-FA125050EEA5}"/>
              </a:ext>
            </a:extLst>
          </p:cNvPr>
          <p:cNvCxnSpPr>
            <a:cxnSpLocks/>
            <a:stCxn id="108" idx="3"/>
            <a:endCxn id="114" idx="1"/>
          </p:cNvCxnSpPr>
          <p:nvPr/>
        </p:nvCxnSpPr>
        <p:spPr>
          <a:xfrm>
            <a:off x="4818484" y="3197208"/>
            <a:ext cx="3188791" cy="0"/>
          </a:xfrm>
          <a:prstGeom prst="straightConnector1">
            <a:avLst/>
          </a:prstGeom>
          <a:ln w="12700">
            <a:solidFill>
              <a:schemeClr val="tx1"/>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2C031FD5-B18A-18FF-473F-61C27121361B}"/>
              </a:ext>
            </a:extLst>
          </p:cNvPr>
          <p:cNvCxnSpPr>
            <a:cxnSpLocks/>
            <a:stCxn id="109" idx="3"/>
            <a:endCxn id="115" idx="1"/>
          </p:cNvCxnSpPr>
          <p:nvPr/>
        </p:nvCxnSpPr>
        <p:spPr>
          <a:xfrm>
            <a:off x="4818484" y="3506641"/>
            <a:ext cx="3188791" cy="0"/>
          </a:xfrm>
          <a:prstGeom prst="straightConnector1">
            <a:avLst/>
          </a:prstGeom>
          <a:ln w="12700">
            <a:solidFill>
              <a:schemeClr val="tx1"/>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A78C5626-77F7-22C0-93E4-FA71938ECA73}"/>
              </a:ext>
            </a:extLst>
          </p:cNvPr>
          <p:cNvCxnSpPr>
            <a:cxnSpLocks/>
            <a:stCxn id="110" idx="3"/>
            <a:endCxn id="116" idx="1"/>
          </p:cNvCxnSpPr>
          <p:nvPr/>
        </p:nvCxnSpPr>
        <p:spPr>
          <a:xfrm>
            <a:off x="4818484" y="3813966"/>
            <a:ext cx="3188791" cy="0"/>
          </a:xfrm>
          <a:prstGeom prst="straightConnector1">
            <a:avLst/>
          </a:prstGeom>
          <a:ln w="12700">
            <a:solidFill>
              <a:schemeClr val="tx1"/>
            </a:solidFill>
            <a:prstDash val="dash"/>
            <a:tailEnd type="arrow"/>
          </a:ln>
        </p:spPr>
        <p:style>
          <a:lnRef idx="2">
            <a:schemeClr val="accent1"/>
          </a:lnRef>
          <a:fillRef idx="0">
            <a:schemeClr val="accent1"/>
          </a:fillRef>
          <a:effectRef idx="1">
            <a:schemeClr val="accent1"/>
          </a:effectRef>
          <a:fontRef idx="minor">
            <a:schemeClr val="tx1"/>
          </a:fontRef>
        </p:style>
      </p:cxnSp>
      <p:grpSp>
        <p:nvGrpSpPr>
          <p:cNvPr id="50" name="Group 49">
            <a:extLst>
              <a:ext uri="{FF2B5EF4-FFF2-40B4-BE49-F238E27FC236}">
                <a16:creationId xmlns:a16="http://schemas.microsoft.com/office/drawing/2014/main" id="{347C387E-D88A-EAA1-2556-D8F5247DE806}"/>
              </a:ext>
            </a:extLst>
          </p:cNvPr>
          <p:cNvGrpSpPr/>
          <p:nvPr/>
        </p:nvGrpSpPr>
        <p:grpSpPr>
          <a:xfrm>
            <a:off x="5184788" y="3108347"/>
            <a:ext cx="253890" cy="177723"/>
            <a:chOff x="1369637" y="1480086"/>
            <a:chExt cx="712544" cy="498780"/>
          </a:xfrm>
        </p:grpSpPr>
        <p:sp>
          <p:nvSpPr>
            <p:cNvPr id="51" name="Rectangle 50">
              <a:extLst>
                <a:ext uri="{FF2B5EF4-FFF2-40B4-BE49-F238E27FC236}">
                  <a16:creationId xmlns:a16="http://schemas.microsoft.com/office/drawing/2014/main" id="{AD2024A3-BC88-946D-1374-A31F71837C90}"/>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Graphic 44" descr="Envelope with solid fill">
              <a:extLst>
                <a:ext uri="{FF2B5EF4-FFF2-40B4-BE49-F238E27FC236}">
                  <a16:creationId xmlns:a16="http://schemas.microsoft.com/office/drawing/2014/main" id="{45829C76-AFE7-E2E7-5340-F6C15A270D20}"/>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2"/>
            </a:solidFill>
            <a:ln w="8830" cap="flat">
              <a:solidFill>
                <a:schemeClr val="accent2"/>
              </a:solidFill>
              <a:prstDash val="solid"/>
              <a:miter/>
            </a:ln>
          </p:spPr>
          <p:txBody>
            <a:bodyPr rtlCol="0" anchor="ctr"/>
            <a:lstStyle/>
            <a:p>
              <a:endParaRPr lang="en-US"/>
            </a:p>
          </p:txBody>
        </p:sp>
      </p:grpSp>
      <p:grpSp>
        <p:nvGrpSpPr>
          <p:cNvPr id="57" name="Group 56">
            <a:extLst>
              <a:ext uri="{FF2B5EF4-FFF2-40B4-BE49-F238E27FC236}">
                <a16:creationId xmlns:a16="http://schemas.microsoft.com/office/drawing/2014/main" id="{E925710D-0F00-345B-E1FB-791A6EC7CE53}"/>
              </a:ext>
            </a:extLst>
          </p:cNvPr>
          <p:cNvGrpSpPr/>
          <p:nvPr/>
        </p:nvGrpSpPr>
        <p:grpSpPr>
          <a:xfrm>
            <a:off x="6370280" y="3730706"/>
            <a:ext cx="253890" cy="177723"/>
            <a:chOff x="1369637" y="1480086"/>
            <a:chExt cx="712544" cy="498780"/>
          </a:xfrm>
        </p:grpSpPr>
        <p:sp>
          <p:nvSpPr>
            <p:cNvPr id="58" name="Rectangle 57">
              <a:extLst>
                <a:ext uri="{FF2B5EF4-FFF2-40B4-BE49-F238E27FC236}">
                  <a16:creationId xmlns:a16="http://schemas.microsoft.com/office/drawing/2014/main" id="{FA747CEE-AC2C-F9B5-C6FB-40E58207E46A}"/>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Graphic 44" descr="Envelope with solid fill">
              <a:extLst>
                <a:ext uri="{FF2B5EF4-FFF2-40B4-BE49-F238E27FC236}">
                  <a16:creationId xmlns:a16="http://schemas.microsoft.com/office/drawing/2014/main" id="{E693582D-9827-DF22-4F56-29FBED52C78A}"/>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6">
                <a:lumMod val="75000"/>
              </a:schemeClr>
            </a:solidFill>
            <a:ln w="8830" cap="flat">
              <a:solidFill>
                <a:schemeClr val="accent6">
                  <a:lumMod val="75000"/>
                </a:schemeClr>
              </a:solidFill>
              <a:prstDash val="solid"/>
              <a:miter/>
            </a:ln>
          </p:spPr>
          <p:txBody>
            <a:bodyPr rtlCol="0" anchor="ctr"/>
            <a:lstStyle/>
            <a:p>
              <a:endParaRPr lang="en-US"/>
            </a:p>
          </p:txBody>
        </p:sp>
      </p:grpSp>
      <p:grpSp>
        <p:nvGrpSpPr>
          <p:cNvPr id="60" name="Group 59">
            <a:extLst>
              <a:ext uri="{FF2B5EF4-FFF2-40B4-BE49-F238E27FC236}">
                <a16:creationId xmlns:a16="http://schemas.microsoft.com/office/drawing/2014/main" id="{35AB49FC-1526-E184-DCEB-3141835018C8}"/>
              </a:ext>
            </a:extLst>
          </p:cNvPr>
          <p:cNvGrpSpPr/>
          <p:nvPr/>
        </p:nvGrpSpPr>
        <p:grpSpPr>
          <a:xfrm>
            <a:off x="647824" y="3414588"/>
            <a:ext cx="253890" cy="177723"/>
            <a:chOff x="1369637" y="1480086"/>
            <a:chExt cx="712544" cy="498780"/>
          </a:xfrm>
        </p:grpSpPr>
        <p:sp>
          <p:nvSpPr>
            <p:cNvPr id="61" name="Rectangle 60">
              <a:extLst>
                <a:ext uri="{FF2B5EF4-FFF2-40B4-BE49-F238E27FC236}">
                  <a16:creationId xmlns:a16="http://schemas.microsoft.com/office/drawing/2014/main" id="{8B333F66-8F0B-C1B4-95CD-BC8D80248E8D}"/>
                </a:ext>
              </a:extLst>
            </p:cNvPr>
            <p:cNvSpPr/>
            <p:nvPr/>
          </p:nvSpPr>
          <p:spPr>
            <a:xfrm>
              <a:off x="1398270" y="1508232"/>
              <a:ext cx="651510" cy="442488"/>
            </a:xfrm>
            <a:prstGeom prst="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Graphic 44" descr="Envelope with solid fill">
              <a:extLst>
                <a:ext uri="{FF2B5EF4-FFF2-40B4-BE49-F238E27FC236}">
                  <a16:creationId xmlns:a16="http://schemas.microsoft.com/office/drawing/2014/main" id="{3AAB6379-D722-CDE9-261D-51F5C753C662}"/>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2"/>
            </a:solidFill>
            <a:ln w="8830" cap="flat">
              <a:solidFill>
                <a:schemeClr val="accent2"/>
              </a:solidFill>
              <a:prstDash val="solid"/>
              <a:miter/>
            </a:ln>
          </p:spPr>
          <p:txBody>
            <a:bodyPr rtlCol="0" anchor="ctr"/>
            <a:lstStyle/>
            <a:p>
              <a:endParaRPr lang="en-US"/>
            </a:p>
          </p:txBody>
        </p:sp>
      </p:grpSp>
      <p:grpSp>
        <p:nvGrpSpPr>
          <p:cNvPr id="63" name="Group 62">
            <a:extLst>
              <a:ext uri="{FF2B5EF4-FFF2-40B4-BE49-F238E27FC236}">
                <a16:creationId xmlns:a16="http://schemas.microsoft.com/office/drawing/2014/main" id="{A1E678BA-D72C-8996-D985-04D2F0F6C493}"/>
              </a:ext>
            </a:extLst>
          </p:cNvPr>
          <p:cNvGrpSpPr/>
          <p:nvPr/>
        </p:nvGrpSpPr>
        <p:grpSpPr>
          <a:xfrm>
            <a:off x="990484" y="3414588"/>
            <a:ext cx="253890" cy="177723"/>
            <a:chOff x="1369637" y="1480086"/>
            <a:chExt cx="712544" cy="498780"/>
          </a:xfrm>
        </p:grpSpPr>
        <p:sp>
          <p:nvSpPr>
            <p:cNvPr id="64" name="Rectangle 63">
              <a:extLst>
                <a:ext uri="{FF2B5EF4-FFF2-40B4-BE49-F238E27FC236}">
                  <a16:creationId xmlns:a16="http://schemas.microsoft.com/office/drawing/2014/main" id="{CBFD2AFF-42EF-8D80-BDFD-E975C6806A9F}"/>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Graphic 44" descr="Envelope with solid fill">
              <a:extLst>
                <a:ext uri="{FF2B5EF4-FFF2-40B4-BE49-F238E27FC236}">
                  <a16:creationId xmlns:a16="http://schemas.microsoft.com/office/drawing/2014/main" id="{D160B227-01AC-6109-E3C0-6D4E33CDD24B}"/>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6">
                <a:lumMod val="75000"/>
              </a:schemeClr>
            </a:solidFill>
            <a:ln w="8830" cap="flat">
              <a:solidFill>
                <a:schemeClr val="accent6">
                  <a:lumMod val="75000"/>
                </a:schemeClr>
              </a:solidFill>
              <a:prstDash val="solid"/>
              <a:miter/>
            </a:ln>
          </p:spPr>
          <p:txBody>
            <a:bodyPr rtlCol="0" anchor="ctr"/>
            <a:lstStyle/>
            <a:p>
              <a:endParaRPr lang="en-US"/>
            </a:p>
          </p:txBody>
        </p:sp>
      </p:grpSp>
      <p:grpSp>
        <p:nvGrpSpPr>
          <p:cNvPr id="70" name="Group 69">
            <a:extLst>
              <a:ext uri="{FF2B5EF4-FFF2-40B4-BE49-F238E27FC236}">
                <a16:creationId xmlns:a16="http://schemas.microsoft.com/office/drawing/2014/main" id="{D60B3345-B21B-3C12-61CA-83E56A2FBBD1}"/>
              </a:ext>
            </a:extLst>
          </p:cNvPr>
          <p:cNvGrpSpPr/>
          <p:nvPr/>
        </p:nvGrpSpPr>
        <p:grpSpPr>
          <a:xfrm>
            <a:off x="5777534" y="3108347"/>
            <a:ext cx="253890" cy="177723"/>
            <a:chOff x="1369637" y="1480086"/>
            <a:chExt cx="712544" cy="498780"/>
          </a:xfrm>
        </p:grpSpPr>
        <p:sp>
          <p:nvSpPr>
            <p:cNvPr id="71" name="Rectangle 70">
              <a:extLst>
                <a:ext uri="{FF2B5EF4-FFF2-40B4-BE49-F238E27FC236}">
                  <a16:creationId xmlns:a16="http://schemas.microsoft.com/office/drawing/2014/main" id="{966DF6C0-2CBC-0D56-85C3-3DB814AF785D}"/>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Graphic 44" descr="Envelope with solid fill">
              <a:extLst>
                <a:ext uri="{FF2B5EF4-FFF2-40B4-BE49-F238E27FC236}">
                  <a16:creationId xmlns:a16="http://schemas.microsoft.com/office/drawing/2014/main" id="{C72E40A9-AF5B-1B66-D9F5-7692CB29D573}"/>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2"/>
            </a:solidFill>
            <a:ln w="8830" cap="flat">
              <a:solidFill>
                <a:schemeClr val="accent2"/>
              </a:solidFill>
              <a:prstDash val="solid"/>
              <a:miter/>
            </a:ln>
          </p:spPr>
          <p:txBody>
            <a:bodyPr rtlCol="0" anchor="ctr"/>
            <a:lstStyle/>
            <a:p>
              <a:endParaRPr lang="en-US"/>
            </a:p>
          </p:txBody>
        </p:sp>
      </p:grpSp>
      <p:grpSp>
        <p:nvGrpSpPr>
          <p:cNvPr id="73" name="Group 72">
            <a:extLst>
              <a:ext uri="{FF2B5EF4-FFF2-40B4-BE49-F238E27FC236}">
                <a16:creationId xmlns:a16="http://schemas.microsoft.com/office/drawing/2014/main" id="{87753694-7A43-611E-A4B4-13EB34C145D6}"/>
              </a:ext>
            </a:extLst>
          </p:cNvPr>
          <p:cNvGrpSpPr/>
          <p:nvPr/>
        </p:nvGrpSpPr>
        <p:grpSpPr>
          <a:xfrm>
            <a:off x="6073907" y="3108347"/>
            <a:ext cx="253890" cy="177723"/>
            <a:chOff x="1369637" y="1480086"/>
            <a:chExt cx="712544" cy="498780"/>
          </a:xfrm>
        </p:grpSpPr>
        <p:sp>
          <p:nvSpPr>
            <p:cNvPr id="74" name="Rectangle 73">
              <a:extLst>
                <a:ext uri="{FF2B5EF4-FFF2-40B4-BE49-F238E27FC236}">
                  <a16:creationId xmlns:a16="http://schemas.microsoft.com/office/drawing/2014/main" id="{431A927A-5790-D1B7-93B1-C09A9FF33DC1}"/>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Graphic 44" descr="Envelope with solid fill">
              <a:extLst>
                <a:ext uri="{FF2B5EF4-FFF2-40B4-BE49-F238E27FC236}">
                  <a16:creationId xmlns:a16="http://schemas.microsoft.com/office/drawing/2014/main" id="{0A591052-8C4D-C2DF-9F58-7531AEC49F5C}"/>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2"/>
            </a:solidFill>
            <a:ln w="8830" cap="flat">
              <a:solidFill>
                <a:schemeClr val="accent2"/>
              </a:solidFill>
              <a:prstDash val="solid"/>
              <a:miter/>
            </a:ln>
          </p:spPr>
          <p:txBody>
            <a:bodyPr rtlCol="0" anchor="ctr"/>
            <a:lstStyle/>
            <a:p>
              <a:endParaRPr lang="en-US"/>
            </a:p>
          </p:txBody>
        </p:sp>
      </p:grpSp>
      <p:grpSp>
        <p:nvGrpSpPr>
          <p:cNvPr id="76" name="Group 75">
            <a:extLst>
              <a:ext uri="{FF2B5EF4-FFF2-40B4-BE49-F238E27FC236}">
                <a16:creationId xmlns:a16="http://schemas.microsoft.com/office/drawing/2014/main" id="{47D7BB3C-D6EB-6CD0-F8EB-CAFBCE5BC1C2}"/>
              </a:ext>
            </a:extLst>
          </p:cNvPr>
          <p:cNvGrpSpPr/>
          <p:nvPr/>
        </p:nvGrpSpPr>
        <p:grpSpPr>
          <a:xfrm>
            <a:off x="6963026" y="3108347"/>
            <a:ext cx="253890" cy="177723"/>
            <a:chOff x="1369637" y="1480086"/>
            <a:chExt cx="712544" cy="498780"/>
          </a:xfrm>
        </p:grpSpPr>
        <p:sp>
          <p:nvSpPr>
            <p:cNvPr id="77" name="Rectangle 76">
              <a:extLst>
                <a:ext uri="{FF2B5EF4-FFF2-40B4-BE49-F238E27FC236}">
                  <a16:creationId xmlns:a16="http://schemas.microsoft.com/office/drawing/2014/main" id="{85889D70-120A-CBFB-659E-25F4F3412C45}"/>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Graphic 44" descr="Envelope with solid fill">
              <a:extLst>
                <a:ext uri="{FF2B5EF4-FFF2-40B4-BE49-F238E27FC236}">
                  <a16:creationId xmlns:a16="http://schemas.microsoft.com/office/drawing/2014/main" id="{BB331853-44E1-D74D-DF31-59BFC02BFD16}"/>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2"/>
            </a:solidFill>
            <a:ln w="8830" cap="flat">
              <a:solidFill>
                <a:schemeClr val="accent2"/>
              </a:solidFill>
              <a:prstDash val="solid"/>
              <a:miter/>
            </a:ln>
          </p:spPr>
          <p:txBody>
            <a:bodyPr rtlCol="0" anchor="ctr"/>
            <a:lstStyle/>
            <a:p>
              <a:endParaRPr lang="en-US"/>
            </a:p>
          </p:txBody>
        </p:sp>
      </p:grpSp>
      <p:grpSp>
        <p:nvGrpSpPr>
          <p:cNvPr id="82" name="Group 81">
            <a:extLst>
              <a:ext uri="{FF2B5EF4-FFF2-40B4-BE49-F238E27FC236}">
                <a16:creationId xmlns:a16="http://schemas.microsoft.com/office/drawing/2014/main" id="{8D146F96-E6B5-4935-FB7B-459E698C7221}"/>
              </a:ext>
            </a:extLst>
          </p:cNvPr>
          <p:cNvGrpSpPr/>
          <p:nvPr/>
        </p:nvGrpSpPr>
        <p:grpSpPr>
          <a:xfrm>
            <a:off x="4907465" y="3730706"/>
            <a:ext cx="253890" cy="177723"/>
            <a:chOff x="1369637" y="1480086"/>
            <a:chExt cx="712544" cy="498780"/>
          </a:xfrm>
        </p:grpSpPr>
        <p:sp>
          <p:nvSpPr>
            <p:cNvPr id="83" name="Rectangle 82">
              <a:extLst>
                <a:ext uri="{FF2B5EF4-FFF2-40B4-BE49-F238E27FC236}">
                  <a16:creationId xmlns:a16="http://schemas.microsoft.com/office/drawing/2014/main" id="{4CB0BE47-5A7A-5EB8-A94A-625DDAEC82CB}"/>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Graphic 44" descr="Envelope with solid fill">
              <a:extLst>
                <a:ext uri="{FF2B5EF4-FFF2-40B4-BE49-F238E27FC236}">
                  <a16:creationId xmlns:a16="http://schemas.microsoft.com/office/drawing/2014/main" id="{03323E2E-94CE-84CA-F674-87AF879E026E}"/>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6">
                <a:lumMod val="75000"/>
              </a:schemeClr>
            </a:solidFill>
            <a:ln w="8830" cap="flat">
              <a:solidFill>
                <a:schemeClr val="accent6">
                  <a:lumMod val="75000"/>
                </a:schemeClr>
              </a:solidFill>
              <a:prstDash val="solid"/>
              <a:miter/>
            </a:ln>
          </p:spPr>
          <p:txBody>
            <a:bodyPr rtlCol="0" anchor="ctr"/>
            <a:lstStyle/>
            <a:p>
              <a:endParaRPr lang="en-US"/>
            </a:p>
          </p:txBody>
        </p:sp>
      </p:grpSp>
      <p:grpSp>
        <p:nvGrpSpPr>
          <p:cNvPr id="85" name="Group 84">
            <a:extLst>
              <a:ext uri="{FF2B5EF4-FFF2-40B4-BE49-F238E27FC236}">
                <a16:creationId xmlns:a16="http://schemas.microsoft.com/office/drawing/2014/main" id="{2E727AA4-CBBF-2FA4-BC38-642A61B41B9C}"/>
              </a:ext>
            </a:extLst>
          </p:cNvPr>
          <p:cNvGrpSpPr/>
          <p:nvPr/>
        </p:nvGrpSpPr>
        <p:grpSpPr>
          <a:xfrm>
            <a:off x="5481161" y="3421272"/>
            <a:ext cx="253890" cy="177723"/>
            <a:chOff x="1369637" y="1480086"/>
            <a:chExt cx="712544" cy="498780"/>
          </a:xfrm>
        </p:grpSpPr>
        <p:sp>
          <p:nvSpPr>
            <p:cNvPr id="86" name="Rectangle 85">
              <a:extLst>
                <a:ext uri="{FF2B5EF4-FFF2-40B4-BE49-F238E27FC236}">
                  <a16:creationId xmlns:a16="http://schemas.microsoft.com/office/drawing/2014/main" id="{C27189A3-86FC-DD37-71A3-4CBCF11C5C94}"/>
                </a:ext>
              </a:extLst>
            </p:cNvPr>
            <p:cNvSpPr/>
            <p:nvPr/>
          </p:nvSpPr>
          <p:spPr>
            <a:xfrm>
              <a:off x="1398270" y="1508232"/>
              <a:ext cx="651510" cy="442488"/>
            </a:xfrm>
            <a:prstGeom prst="rect">
              <a:avLst/>
            </a:prstGeom>
            <a:solidFill>
              <a:schemeClr val="bg1"/>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Graphic 44" descr="Envelope with solid fill">
              <a:extLst>
                <a:ext uri="{FF2B5EF4-FFF2-40B4-BE49-F238E27FC236}">
                  <a16:creationId xmlns:a16="http://schemas.microsoft.com/office/drawing/2014/main" id="{310BD9CF-F46C-428B-EB42-0650A69794FF}"/>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rgbClr val="0070C0"/>
            </a:solidFill>
            <a:ln w="8830" cap="flat">
              <a:solidFill>
                <a:schemeClr val="accent4">
                  <a:lumMod val="75000"/>
                </a:schemeClr>
              </a:solidFill>
              <a:prstDash val="solid"/>
              <a:miter/>
            </a:ln>
          </p:spPr>
          <p:txBody>
            <a:bodyPr rtlCol="0" anchor="ctr"/>
            <a:lstStyle/>
            <a:p>
              <a:endParaRPr lang="en-US"/>
            </a:p>
          </p:txBody>
        </p:sp>
      </p:grpSp>
      <p:grpSp>
        <p:nvGrpSpPr>
          <p:cNvPr id="89" name="Group 88">
            <a:extLst>
              <a:ext uri="{FF2B5EF4-FFF2-40B4-BE49-F238E27FC236}">
                <a16:creationId xmlns:a16="http://schemas.microsoft.com/office/drawing/2014/main" id="{07D1ABA1-DB30-F2E0-185D-5AF9DF80EF10}"/>
              </a:ext>
            </a:extLst>
          </p:cNvPr>
          <p:cNvGrpSpPr/>
          <p:nvPr/>
        </p:nvGrpSpPr>
        <p:grpSpPr>
          <a:xfrm>
            <a:off x="7555770" y="3730706"/>
            <a:ext cx="253890" cy="177723"/>
            <a:chOff x="1369637" y="1480086"/>
            <a:chExt cx="712544" cy="498780"/>
          </a:xfrm>
        </p:grpSpPr>
        <p:sp>
          <p:nvSpPr>
            <p:cNvPr id="90" name="Rectangle 89">
              <a:extLst>
                <a:ext uri="{FF2B5EF4-FFF2-40B4-BE49-F238E27FC236}">
                  <a16:creationId xmlns:a16="http://schemas.microsoft.com/office/drawing/2014/main" id="{E19D1E63-A948-67F7-5217-0DEC6D462D8A}"/>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Graphic 44" descr="Envelope with solid fill">
              <a:extLst>
                <a:ext uri="{FF2B5EF4-FFF2-40B4-BE49-F238E27FC236}">
                  <a16:creationId xmlns:a16="http://schemas.microsoft.com/office/drawing/2014/main" id="{E098931C-F374-018C-0C85-4BAC1E62E986}"/>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6">
                <a:lumMod val="75000"/>
              </a:schemeClr>
            </a:solidFill>
            <a:ln w="8830" cap="flat">
              <a:solidFill>
                <a:schemeClr val="accent6">
                  <a:lumMod val="75000"/>
                </a:schemeClr>
              </a:solidFill>
              <a:prstDash val="solid"/>
              <a:miter/>
            </a:ln>
          </p:spPr>
          <p:txBody>
            <a:bodyPr rtlCol="0" anchor="ctr"/>
            <a:lstStyle/>
            <a:p>
              <a:endParaRPr lang="en-US" dirty="0"/>
            </a:p>
          </p:txBody>
        </p:sp>
      </p:grpSp>
      <p:grpSp>
        <p:nvGrpSpPr>
          <p:cNvPr id="92" name="Group 91">
            <a:extLst>
              <a:ext uri="{FF2B5EF4-FFF2-40B4-BE49-F238E27FC236}">
                <a16:creationId xmlns:a16="http://schemas.microsoft.com/office/drawing/2014/main" id="{2BDADF43-61D3-B764-C94A-DA023155056E}"/>
              </a:ext>
            </a:extLst>
          </p:cNvPr>
          <p:cNvGrpSpPr/>
          <p:nvPr/>
        </p:nvGrpSpPr>
        <p:grpSpPr>
          <a:xfrm>
            <a:off x="7259399" y="3421272"/>
            <a:ext cx="253890" cy="177723"/>
            <a:chOff x="1369637" y="1480086"/>
            <a:chExt cx="712544" cy="498780"/>
          </a:xfrm>
        </p:grpSpPr>
        <p:sp>
          <p:nvSpPr>
            <p:cNvPr id="93" name="Rectangle 92">
              <a:extLst>
                <a:ext uri="{FF2B5EF4-FFF2-40B4-BE49-F238E27FC236}">
                  <a16:creationId xmlns:a16="http://schemas.microsoft.com/office/drawing/2014/main" id="{89DEC752-6234-A4F7-463A-442F8FFE6AF8}"/>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Graphic 44" descr="Envelope with solid fill">
              <a:extLst>
                <a:ext uri="{FF2B5EF4-FFF2-40B4-BE49-F238E27FC236}">
                  <a16:creationId xmlns:a16="http://schemas.microsoft.com/office/drawing/2014/main" id="{96138174-1864-B9CA-F103-547A38ECBC78}"/>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rgbClr val="0070C0"/>
            </a:solidFill>
            <a:ln w="8830" cap="flat">
              <a:solidFill>
                <a:schemeClr val="accent4">
                  <a:lumMod val="75000"/>
                </a:schemeClr>
              </a:solidFill>
              <a:prstDash val="solid"/>
              <a:miter/>
            </a:ln>
          </p:spPr>
          <p:txBody>
            <a:bodyPr rtlCol="0" anchor="ctr"/>
            <a:lstStyle/>
            <a:p>
              <a:endParaRPr lang="en-US"/>
            </a:p>
          </p:txBody>
        </p:sp>
      </p:grpSp>
      <p:grpSp>
        <p:nvGrpSpPr>
          <p:cNvPr id="95" name="Group 94">
            <a:extLst>
              <a:ext uri="{FF2B5EF4-FFF2-40B4-BE49-F238E27FC236}">
                <a16:creationId xmlns:a16="http://schemas.microsoft.com/office/drawing/2014/main" id="{1FC90B52-55DA-4C9D-F0DD-FDC25C7362EE}"/>
              </a:ext>
            </a:extLst>
          </p:cNvPr>
          <p:cNvGrpSpPr/>
          <p:nvPr/>
        </p:nvGrpSpPr>
        <p:grpSpPr>
          <a:xfrm>
            <a:off x="6666653" y="3421272"/>
            <a:ext cx="253890" cy="177723"/>
            <a:chOff x="1369637" y="1480086"/>
            <a:chExt cx="712544" cy="498780"/>
          </a:xfrm>
        </p:grpSpPr>
        <p:sp>
          <p:nvSpPr>
            <p:cNvPr id="96" name="Rectangle 95">
              <a:extLst>
                <a:ext uri="{FF2B5EF4-FFF2-40B4-BE49-F238E27FC236}">
                  <a16:creationId xmlns:a16="http://schemas.microsoft.com/office/drawing/2014/main" id="{05551142-A25B-8C46-F783-6275CA002068}"/>
                </a:ext>
              </a:extLst>
            </p:cNvPr>
            <p:cNvSpPr/>
            <p:nvPr/>
          </p:nvSpPr>
          <p:spPr>
            <a:xfrm>
              <a:off x="1398270" y="1508232"/>
              <a:ext cx="651510" cy="442488"/>
            </a:xfrm>
            <a:prstGeom prst="rect">
              <a:avLst/>
            </a:prstGeom>
            <a:solidFill>
              <a:schemeClr val="bg1"/>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Graphic 44" descr="Envelope with solid fill">
              <a:extLst>
                <a:ext uri="{FF2B5EF4-FFF2-40B4-BE49-F238E27FC236}">
                  <a16:creationId xmlns:a16="http://schemas.microsoft.com/office/drawing/2014/main" id="{113C21AE-FCB1-D736-CD88-26038BDC0B7F}"/>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rgbClr val="0070C0"/>
            </a:solidFill>
            <a:ln w="8830" cap="flat">
              <a:solidFill>
                <a:schemeClr val="accent4">
                  <a:lumMod val="75000"/>
                </a:schemeClr>
              </a:solidFill>
              <a:prstDash val="solid"/>
              <a:miter/>
            </a:ln>
          </p:spPr>
          <p:txBody>
            <a:bodyPr rtlCol="0" anchor="ctr"/>
            <a:lstStyle/>
            <a:p>
              <a:endParaRPr lang="en-US"/>
            </a:p>
          </p:txBody>
        </p:sp>
      </p:grpSp>
      <p:sp>
        <p:nvSpPr>
          <p:cNvPr id="104" name="Rectangle 103">
            <a:extLst>
              <a:ext uri="{FF2B5EF4-FFF2-40B4-BE49-F238E27FC236}">
                <a16:creationId xmlns:a16="http://schemas.microsoft.com/office/drawing/2014/main" id="{1F527FDE-5350-6B6F-ABAF-1B6DD3B46187}"/>
              </a:ext>
            </a:extLst>
          </p:cNvPr>
          <p:cNvSpPr/>
          <p:nvPr/>
        </p:nvSpPr>
        <p:spPr>
          <a:xfrm>
            <a:off x="8737263" y="1813559"/>
            <a:ext cx="1074708" cy="912445"/>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a:r>
              <a:rPr lang="en-US" sz="1600" dirty="0">
                <a:solidFill>
                  <a:schemeClr val="accent1">
                    <a:lumMod val="50000"/>
                  </a:schemeClr>
                </a:solidFill>
              </a:rPr>
              <a:t>P&amp;L</a:t>
            </a:r>
            <a:br>
              <a:rPr lang="en-US" sz="1600" dirty="0">
                <a:solidFill>
                  <a:schemeClr val="accent1">
                    <a:lumMod val="50000"/>
                  </a:schemeClr>
                </a:solidFill>
              </a:rPr>
            </a:br>
            <a:r>
              <a:rPr lang="en-US" sz="1600" dirty="0">
                <a:solidFill>
                  <a:schemeClr val="accent1">
                    <a:lumMod val="50000"/>
                  </a:schemeClr>
                </a:solidFill>
              </a:rPr>
              <a:t>Calculator</a:t>
            </a:r>
            <a:br>
              <a:rPr lang="en-US" sz="1600" dirty="0">
                <a:solidFill>
                  <a:schemeClr val="accent1">
                    <a:lumMod val="50000"/>
                  </a:schemeClr>
                </a:solidFill>
              </a:rPr>
            </a:br>
            <a:r>
              <a:rPr lang="en-US" sz="1600" dirty="0">
                <a:solidFill>
                  <a:schemeClr val="accent1">
                    <a:lumMod val="50000"/>
                  </a:schemeClr>
                </a:solidFill>
              </a:rPr>
              <a:t>1</a:t>
            </a:r>
          </a:p>
        </p:txBody>
      </p:sp>
      <p:sp>
        <p:nvSpPr>
          <p:cNvPr id="105" name="Rectangle 104">
            <a:extLst>
              <a:ext uri="{FF2B5EF4-FFF2-40B4-BE49-F238E27FC236}">
                <a16:creationId xmlns:a16="http://schemas.microsoft.com/office/drawing/2014/main" id="{7B174A37-2B73-CD80-3BF4-72E970CB9ACE}"/>
              </a:ext>
            </a:extLst>
          </p:cNvPr>
          <p:cNvSpPr/>
          <p:nvPr/>
        </p:nvSpPr>
        <p:spPr>
          <a:xfrm>
            <a:off x="8737263" y="3045266"/>
            <a:ext cx="1075698" cy="912445"/>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a:r>
              <a:rPr lang="en-US" sz="1600" dirty="0">
                <a:solidFill>
                  <a:schemeClr val="accent1">
                    <a:lumMod val="50000"/>
                  </a:schemeClr>
                </a:solidFill>
              </a:rPr>
              <a:t>P&amp;L</a:t>
            </a:r>
            <a:br>
              <a:rPr lang="en-US" sz="1600" dirty="0">
                <a:solidFill>
                  <a:schemeClr val="accent1">
                    <a:lumMod val="50000"/>
                  </a:schemeClr>
                </a:solidFill>
              </a:rPr>
            </a:br>
            <a:r>
              <a:rPr lang="en-US" sz="1600" dirty="0">
                <a:solidFill>
                  <a:schemeClr val="accent1">
                    <a:lumMod val="50000"/>
                  </a:schemeClr>
                </a:solidFill>
              </a:rPr>
              <a:t>Calculator</a:t>
            </a:r>
            <a:br>
              <a:rPr lang="en-US" sz="1600" dirty="0">
                <a:solidFill>
                  <a:schemeClr val="accent1">
                    <a:lumMod val="50000"/>
                  </a:schemeClr>
                </a:solidFill>
              </a:rPr>
            </a:br>
            <a:r>
              <a:rPr lang="en-US" sz="1600" dirty="0">
                <a:solidFill>
                  <a:schemeClr val="accent1">
                    <a:lumMod val="50000"/>
                  </a:schemeClr>
                </a:solidFill>
              </a:rPr>
              <a:t>2</a:t>
            </a:r>
          </a:p>
        </p:txBody>
      </p:sp>
      <p:sp>
        <p:nvSpPr>
          <p:cNvPr id="106" name="Rectangle 105">
            <a:extLst>
              <a:ext uri="{FF2B5EF4-FFF2-40B4-BE49-F238E27FC236}">
                <a16:creationId xmlns:a16="http://schemas.microsoft.com/office/drawing/2014/main" id="{DBC7167D-B124-E0AF-52CE-303A50CA7A6E}"/>
              </a:ext>
            </a:extLst>
          </p:cNvPr>
          <p:cNvSpPr/>
          <p:nvPr/>
        </p:nvSpPr>
        <p:spPr>
          <a:xfrm>
            <a:off x="8737263" y="4276973"/>
            <a:ext cx="1075698" cy="912445"/>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a:r>
              <a:rPr lang="en-US" sz="1600" dirty="0">
                <a:solidFill>
                  <a:schemeClr val="accent1">
                    <a:lumMod val="50000"/>
                  </a:schemeClr>
                </a:solidFill>
              </a:rPr>
              <a:t>P&amp;L</a:t>
            </a:r>
            <a:br>
              <a:rPr lang="en-US" sz="1600" dirty="0">
                <a:solidFill>
                  <a:schemeClr val="accent1">
                    <a:lumMod val="50000"/>
                  </a:schemeClr>
                </a:solidFill>
              </a:rPr>
            </a:br>
            <a:r>
              <a:rPr lang="en-US" sz="1600" dirty="0">
                <a:solidFill>
                  <a:schemeClr val="accent1">
                    <a:lumMod val="50000"/>
                  </a:schemeClr>
                </a:solidFill>
              </a:rPr>
              <a:t>Calculator</a:t>
            </a:r>
            <a:br>
              <a:rPr lang="en-US" sz="1600" dirty="0">
                <a:solidFill>
                  <a:schemeClr val="accent1">
                    <a:lumMod val="50000"/>
                  </a:schemeClr>
                </a:solidFill>
              </a:rPr>
            </a:br>
            <a:r>
              <a:rPr lang="en-US" sz="1600" dirty="0">
                <a:solidFill>
                  <a:schemeClr val="accent1">
                    <a:lumMod val="50000"/>
                  </a:schemeClr>
                </a:solidFill>
              </a:rPr>
              <a:t>n</a:t>
            </a:r>
          </a:p>
        </p:txBody>
      </p:sp>
      <p:grpSp>
        <p:nvGrpSpPr>
          <p:cNvPr id="118" name="Group 117">
            <a:extLst>
              <a:ext uri="{FF2B5EF4-FFF2-40B4-BE49-F238E27FC236}">
                <a16:creationId xmlns:a16="http://schemas.microsoft.com/office/drawing/2014/main" id="{4C0A90D0-68D0-2D76-27DC-0653814DC60E}"/>
              </a:ext>
            </a:extLst>
          </p:cNvPr>
          <p:cNvGrpSpPr/>
          <p:nvPr/>
        </p:nvGrpSpPr>
        <p:grpSpPr>
          <a:xfrm>
            <a:off x="4707889" y="3069573"/>
            <a:ext cx="110595" cy="872028"/>
            <a:chOff x="3021329" y="3069573"/>
            <a:chExt cx="110595" cy="872028"/>
          </a:xfrm>
          <a:noFill/>
        </p:grpSpPr>
        <p:sp>
          <p:nvSpPr>
            <p:cNvPr id="108" name="Rectangle 107">
              <a:extLst>
                <a:ext uri="{FF2B5EF4-FFF2-40B4-BE49-F238E27FC236}">
                  <a16:creationId xmlns:a16="http://schemas.microsoft.com/office/drawing/2014/main" id="{23A7AC56-296F-1FC3-8E93-2E693C1BF9AC}"/>
                </a:ext>
              </a:extLst>
            </p:cNvPr>
            <p:cNvSpPr/>
            <p:nvPr/>
          </p:nvSpPr>
          <p:spPr>
            <a:xfrm>
              <a:off x="3021329" y="3069573"/>
              <a:ext cx="110595" cy="255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7A8A76ED-11B9-5877-10F4-8DC2E6C9D983}"/>
                </a:ext>
              </a:extLst>
            </p:cNvPr>
            <p:cNvSpPr/>
            <p:nvPr/>
          </p:nvSpPr>
          <p:spPr>
            <a:xfrm>
              <a:off x="3021329" y="3379006"/>
              <a:ext cx="110595" cy="255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9C8DCD41-8200-1EA3-96FC-CFB8AE34790A}"/>
                </a:ext>
              </a:extLst>
            </p:cNvPr>
            <p:cNvSpPr/>
            <p:nvPr/>
          </p:nvSpPr>
          <p:spPr>
            <a:xfrm>
              <a:off x="3021329" y="3686331"/>
              <a:ext cx="110595" cy="255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7" name="Group 116">
            <a:extLst>
              <a:ext uri="{FF2B5EF4-FFF2-40B4-BE49-F238E27FC236}">
                <a16:creationId xmlns:a16="http://schemas.microsoft.com/office/drawing/2014/main" id="{897C24C1-55BE-E6D8-7505-69B500B0C912}"/>
              </a:ext>
            </a:extLst>
          </p:cNvPr>
          <p:cNvGrpSpPr/>
          <p:nvPr/>
        </p:nvGrpSpPr>
        <p:grpSpPr>
          <a:xfrm>
            <a:off x="8007275" y="3069573"/>
            <a:ext cx="110595" cy="872028"/>
            <a:chOff x="6569510" y="3069573"/>
            <a:chExt cx="110595" cy="872028"/>
          </a:xfrm>
          <a:noFill/>
        </p:grpSpPr>
        <p:sp>
          <p:nvSpPr>
            <p:cNvPr id="114" name="Rectangle 113">
              <a:extLst>
                <a:ext uri="{FF2B5EF4-FFF2-40B4-BE49-F238E27FC236}">
                  <a16:creationId xmlns:a16="http://schemas.microsoft.com/office/drawing/2014/main" id="{3A2EA014-070D-B803-3800-3AC9EBB2E65B}"/>
                </a:ext>
              </a:extLst>
            </p:cNvPr>
            <p:cNvSpPr/>
            <p:nvPr/>
          </p:nvSpPr>
          <p:spPr>
            <a:xfrm>
              <a:off x="6569510" y="3069573"/>
              <a:ext cx="110595" cy="255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C39BABA5-FC63-4A0A-9145-EA8D8D093202}"/>
                </a:ext>
              </a:extLst>
            </p:cNvPr>
            <p:cNvSpPr/>
            <p:nvPr/>
          </p:nvSpPr>
          <p:spPr>
            <a:xfrm>
              <a:off x="6569510" y="3379006"/>
              <a:ext cx="110595" cy="255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a:extLst>
                <a:ext uri="{FF2B5EF4-FFF2-40B4-BE49-F238E27FC236}">
                  <a16:creationId xmlns:a16="http://schemas.microsoft.com/office/drawing/2014/main" id="{33E08768-9D38-0926-89B7-3F06D6CF72E0}"/>
                </a:ext>
              </a:extLst>
            </p:cNvPr>
            <p:cNvSpPr/>
            <p:nvPr/>
          </p:nvSpPr>
          <p:spPr>
            <a:xfrm>
              <a:off x="6569510" y="3686331"/>
              <a:ext cx="110595" cy="255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5" name="Straight Arrow Connector 124">
            <a:extLst>
              <a:ext uri="{FF2B5EF4-FFF2-40B4-BE49-F238E27FC236}">
                <a16:creationId xmlns:a16="http://schemas.microsoft.com/office/drawing/2014/main" id="{C70E7A35-1E83-F9A8-408F-4F3278E387CA}"/>
              </a:ext>
            </a:extLst>
          </p:cNvPr>
          <p:cNvCxnSpPr>
            <a:cxnSpLocks/>
            <a:stCxn id="114" idx="3"/>
            <a:endCxn id="104" idx="1"/>
          </p:cNvCxnSpPr>
          <p:nvPr/>
        </p:nvCxnSpPr>
        <p:spPr>
          <a:xfrm flipV="1">
            <a:off x="8117870" y="2269782"/>
            <a:ext cx="619393" cy="927426"/>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28" name="Straight Arrow Connector 127">
            <a:extLst>
              <a:ext uri="{FF2B5EF4-FFF2-40B4-BE49-F238E27FC236}">
                <a16:creationId xmlns:a16="http://schemas.microsoft.com/office/drawing/2014/main" id="{5BF51FBF-4A83-9723-AD41-F0E6C7829FB3}"/>
              </a:ext>
            </a:extLst>
          </p:cNvPr>
          <p:cNvCxnSpPr>
            <a:cxnSpLocks/>
            <a:stCxn id="115" idx="3"/>
            <a:endCxn id="105" idx="1"/>
          </p:cNvCxnSpPr>
          <p:nvPr/>
        </p:nvCxnSpPr>
        <p:spPr>
          <a:xfrm flipV="1">
            <a:off x="8117870" y="3501489"/>
            <a:ext cx="619393" cy="5152"/>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31" name="Straight Arrow Connector 130">
            <a:extLst>
              <a:ext uri="{FF2B5EF4-FFF2-40B4-BE49-F238E27FC236}">
                <a16:creationId xmlns:a16="http://schemas.microsoft.com/office/drawing/2014/main" id="{D979B82E-1774-D84C-7510-D924B2A51857}"/>
              </a:ext>
            </a:extLst>
          </p:cNvPr>
          <p:cNvCxnSpPr>
            <a:cxnSpLocks/>
            <a:stCxn id="116" idx="3"/>
            <a:endCxn id="106" idx="1"/>
          </p:cNvCxnSpPr>
          <p:nvPr/>
        </p:nvCxnSpPr>
        <p:spPr>
          <a:xfrm>
            <a:off x="8117870" y="3813966"/>
            <a:ext cx="619393" cy="91923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nvGrpSpPr>
          <p:cNvPr id="135" name="Group 134">
            <a:extLst>
              <a:ext uri="{FF2B5EF4-FFF2-40B4-BE49-F238E27FC236}">
                <a16:creationId xmlns:a16="http://schemas.microsoft.com/office/drawing/2014/main" id="{373AE4DE-B591-0CA8-2891-B5A2811D7D87}"/>
              </a:ext>
            </a:extLst>
          </p:cNvPr>
          <p:cNvGrpSpPr/>
          <p:nvPr/>
        </p:nvGrpSpPr>
        <p:grpSpPr>
          <a:xfrm>
            <a:off x="8332776" y="2514704"/>
            <a:ext cx="253890" cy="177723"/>
            <a:chOff x="1369637" y="1480086"/>
            <a:chExt cx="712544" cy="498780"/>
          </a:xfrm>
        </p:grpSpPr>
        <p:sp>
          <p:nvSpPr>
            <p:cNvPr id="136" name="Rectangle 135">
              <a:extLst>
                <a:ext uri="{FF2B5EF4-FFF2-40B4-BE49-F238E27FC236}">
                  <a16:creationId xmlns:a16="http://schemas.microsoft.com/office/drawing/2014/main" id="{43A5779A-D4F2-4F46-25EF-5B9043F49D30}"/>
                </a:ext>
              </a:extLst>
            </p:cNvPr>
            <p:cNvSpPr/>
            <p:nvPr/>
          </p:nvSpPr>
          <p:spPr>
            <a:xfrm>
              <a:off x="1398270" y="1508232"/>
              <a:ext cx="651510" cy="442488"/>
            </a:xfrm>
            <a:prstGeom prst="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Graphic 44" descr="Envelope with solid fill">
              <a:extLst>
                <a:ext uri="{FF2B5EF4-FFF2-40B4-BE49-F238E27FC236}">
                  <a16:creationId xmlns:a16="http://schemas.microsoft.com/office/drawing/2014/main" id="{80D6F469-90D1-AB40-0834-AC5F49421238}"/>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2"/>
            </a:solidFill>
            <a:ln w="8830" cap="flat">
              <a:solidFill>
                <a:schemeClr val="accent2"/>
              </a:solidFill>
              <a:prstDash val="solid"/>
              <a:miter/>
            </a:ln>
          </p:spPr>
          <p:txBody>
            <a:bodyPr rtlCol="0" anchor="ctr"/>
            <a:lstStyle/>
            <a:p>
              <a:endParaRPr lang="en-US"/>
            </a:p>
          </p:txBody>
        </p:sp>
      </p:grpSp>
      <p:grpSp>
        <p:nvGrpSpPr>
          <p:cNvPr id="138" name="Group 137">
            <a:extLst>
              <a:ext uri="{FF2B5EF4-FFF2-40B4-BE49-F238E27FC236}">
                <a16:creationId xmlns:a16="http://schemas.microsoft.com/office/drawing/2014/main" id="{3121A77A-8ED1-2401-17A3-B87E0AF06965}"/>
              </a:ext>
            </a:extLst>
          </p:cNvPr>
          <p:cNvGrpSpPr/>
          <p:nvPr/>
        </p:nvGrpSpPr>
        <p:grpSpPr>
          <a:xfrm>
            <a:off x="8221076" y="2790267"/>
            <a:ext cx="253890" cy="177723"/>
            <a:chOff x="1369637" y="1480086"/>
            <a:chExt cx="712544" cy="498780"/>
          </a:xfrm>
        </p:grpSpPr>
        <p:sp>
          <p:nvSpPr>
            <p:cNvPr id="139" name="Rectangle 138">
              <a:extLst>
                <a:ext uri="{FF2B5EF4-FFF2-40B4-BE49-F238E27FC236}">
                  <a16:creationId xmlns:a16="http://schemas.microsoft.com/office/drawing/2014/main" id="{8E9589F9-49F6-D35B-8F25-4029C09CEDBC}"/>
                </a:ext>
              </a:extLst>
            </p:cNvPr>
            <p:cNvSpPr/>
            <p:nvPr/>
          </p:nvSpPr>
          <p:spPr>
            <a:xfrm>
              <a:off x="1398270" y="1508232"/>
              <a:ext cx="651510" cy="442488"/>
            </a:xfrm>
            <a:prstGeom prst="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Graphic 44" descr="Envelope with solid fill">
              <a:extLst>
                <a:ext uri="{FF2B5EF4-FFF2-40B4-BE49-F238E27FC236}">
                  <a16:creationId xmlns:a16="http://schemas.microsoft.com/office/drawing/2014/main" id="{E9B2D7E1-64DB-3071-30F6-B29E7F003CD3}"/>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2"/>
            </a:solidFill>
            <a:ln w="8830" cap="flat">
              <a:solidFill>
                <a:schemeClr val="accent2"/>
              </a:solidFill>
              <a:prstDash val="solid"/>
              <a:miter/>
            </a:ln>
          </p:spPr>
          <p:txBody>
            <a:bodyPr rtlCol="0" anchor="ctr"/>
            <a:lstStyle/>
            <a:p>
              <a:endParaRPr lang="en-US"/>
            </a:p>
          </p:txBody>
        </p:sp>
      </p:grpSp>
      <p:grpSp>
        <p:nvGrpSpPr>
          <p:cNvPr id="141" name="Group 140">
            <a:extLst>
              <a:ext uri="{FF2B5EF4-FFF2-40B4-BE49-F238E27FC236}">
                <a16:creationId xmlns:a16="http://schemas.microsoft.com/office/drawing/2014/main" id="{55F198EB-4B77-5926-D923-2E931EDA47C7}"/>
              </a:ext>
            </a:extLst>
          </p:cNvPr>
          <p:cNvGrpSpPr/>
          <p:nvPr/>
        </p:nvGrpSpPr>
        <p:grpSpPr>
          <a:xfrm>
            <a:off x="8239751" y="3410168"/>
            <a:ext cx="253890" cy="177723"/>
            <a:chOff x="1369637" y="1480086"/>
            <a:chExt cx="712544" cy="498780"/>
          </a:xfrm>
        </p:grpSpPr>
        <p:sp>
          <p:nvSpPr>
            <p:cNvPr id="142" name="Rectangle 141">
              <a:extLst>
                <a:ext uri="{FF2B5EF4-FFF2-40B4-BE49-F238E27FC236}">
                  <a16:creationId xmlns:a16="http://schemas.microsoft.com/office/drawing/2014/main" id="{3DBD9451-FC64-0648-2FB0-419B7ED666F7}"/>
                </a:ext>
              </a:extLst>
            </p:cNvPr>
            <p:cNvSpPr/>
            <p:nvPr/>
          </p:nvSpPr>
          <p:spPr>
            <a:xfrm>
              <a:off x="1398270" y="1508232"/>
              <a:ext cx="651510" cy="442488"/>
            </a:xfrm>
            <a:prstGeom prst="rect">
              <a:avLst/>
            </a:prstGeom>
            <a:solidFill>
              <a:schemeClr val="bg1"/>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Graphic 44" descr="Envelope with solid fill">
              <a:extLst>
                <a:ext uri="{FF2B5EF4-FFF2-40B4-BE49-F238E27FC236}">
                  <a16:creationId xmlns:a16="http://schemas.microsoft.com/office/drawing/2014/main" id="{F78CD8BD-B7A0-547A-6216-F0D8FB8C6A10}"/>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rgbClr val="0070C0"/>
            </a:solidFill>
            <a:ln w="8830" cap="flat">
              <a:solidFill>
                <a:schemeClr val="accent4">
                  <a:lumMod val="75000"/>
                </a:schemeClr>
              </a:solidFill>
              <a:prstDash val="solid"/>
              <a:miter/>
            </a:ln>
          </p:spPr>
          <p:txBody>
            <a:bodyPr rtlCol="0" anchor="ctr"/>
            <a:lstStyle/>
            <a:p>
              <a:endParaRPr lang="en-US"/>
            </a:p>
          </p:txBody>
        </p:sp>
      </p:grpSp>
      <p:grpSp>
        <p:nvGrpSpPr>
          <p:cNvPr id="144" name="Group 143">
            <a:extLst>
              <a:ext uri="{FF2B5EF4-FFF2-40B4-BE49-F238E27FC236}">
                <a16:creationId xmlns:a16="http://schemas.microsoft.com/office/drawing/2014/main" id="{60E431BA-0B1C-84E8-88F3-F6D313A251BC}"/>
              </a:ext>
            </a:extLst>
          </p:cNvPr>
          <p:cNvGrpSpPr/>
          <p:nvPr/>
        </p:nvGrpSpPr>
        <p:grpSpPr>
          <a:xfrm>
            <a:off x="8367774" y="4316490"/>
            <a:ext cx="253890" cy="177723"/>
            <a:chOff x="1369637" y="1480086"/>
            <a:chExt cx="712544" cy="498780"/>
          </a:xfrm>
        </p:grpSpPr>
        <p:sp>
          <p:nvSpPr>
            <p:cNvPr id="145" name="Rectangle 144">
              <a:extLst>
                <a:ext uri="{FF2B5EF4-FFF2-40B4-BE49-F238E27FC236}">
                  <a16:creationId xmlns:a16="http://schemas.microsoft.com/office/drawing/2014/main" id="{6EEE7A42-72A3-1F04-A6E1-92BD990EDCF9}"/>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Graphic 44" descr="Envelope with solid fill">
              <a:extLst>
                <a:ext uri="{FF2B5EF4-FFF2-40B4-BE49-F238E27FC236}">
                  <a16:creationId xmlns:a16="http://schemas.microsoft.com/office/drawing/2014/main" id="{A57EA46C-180D-F544-A219-6B2F2A4BBFA0}"/>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6">
                <a:lumMod val="75000"/>
              </a:schemeClr>
            </a:solidFill>
            <a:ln w="8830" cap="flat">
              <a:solidFill>
                <a:schemeClr val="accent6">
                  <a:lumMod val="75000"/>
                </a:schemeClr>
              </a:solidFill>
              <a:prstDash val="solid"/>
              <a:miter/>
            </a:ln>
          </p:spPr>
          <p:txBody>
            <a:bodyPr rtlCol="0" anchor="ctr"/>
            <a:lstStyle/>
            <a:p>
              <a:endParaRPr lang="en-US"/>
            </a:p>
          </p:txBody>
        </p:sp>
      </p:grpSp>
      <p:sp>
        <p:nvSpPr>
          <p:cNvPr id="148" name="Rectangle 147">
            <a:extLst>
              <a:ext uri="{FF2B5EF4-FFF2-40B4-BE49-F238E27FC236}">
                <a16:creationId xmlns:a16="http://schemas.microsoft.com/office/drawing/2014/main" id="{C3FDB558-7D16-F086-F872-1F004EE63170}"/>
              </a:ext>
            </a:extLst>
          </p:cNvPr>
          <p:cNvSpPr/>
          <p:nvPr/>
        </p:nvSpPr>
        <p:spPr>
          <a:xfrm>
            <a:off x="3060273" y="2900949"/>
            <a:ext cx="1209480" cy="1211384"/>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lumMod val="50000"/>
                  </a:schemeClr>
                </a:solidFill>
              </a:rPr>
              <a:t>Accounting</a:t>
            </a:r>
          </a:p>
          <a:p>
            <a:pPr algn="ctr"/>
            <a:r>
              <a:rPr lang="en-US" sz="1600" dirty="0">
                <a:solidFill>
                  <a:schemeClr val="accent1">
                    <a:lumMod val="50000"/>
                  </a:schemeClr>
                </a:solidFill>
              </a:rPr>
              <a:t>Trade</a:t>
            </a:r>
          </a:p>
          <a:p>
            <a:pPr algn="ctr"/>
            <a:r>
              <a:rPr lang="en-US" sz="1600" dirty="0">
                <a:solidFill>
                  <a:schemeClr val="accent1">
                    <a:lumMod val="50000"/>
                  </a:schemeClr>
                </a:solidFill>
              </a:rPr>
              <a:t>Queue Manager</a:t>
            </a:r>
          </a:p>
        </p:txBody>
      </p:sp>
      <p:cxnSp>
        <p:nvCxnSpPr>
          <p:cNvPr id="163" name="Straight Arrow Connector 162">
            <a:extLst>
              <a:ext uri="{FF2B5EF4-FFF2-40B4-BE49-F238E27FC236}">
                <a16:creationId xmlns:a16="http://schemas.microsoft.com/office/drawing/2014/main" id="{6CA594FB-6A08-9316-B9DA-DED613D8A8CF}"/>
              </a:ext>
            </a:extLst>
          </p:cNvPr>
          <p:cNvCxnSpPr>
            <a:cxnSpLocks/>
            <a:stCxn id="148" idx="3"/>
            <a:endCxn id="42" idx="1"/>
          </p:cNvCxnSpPr>
          <p:nvPr/>
        </p:nvCxnSpPr>
        <p:spPr>
          <a:xfrm flipV="1">
            <a:off x="4269753" y="3504534"/>
            <a:ext cx="435177" cy="2107"/>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nvGrpSpPr>
          <p:cNvPr id="169" name="Group 168">
            <a:extLst>
              <a:ext uri="{FF2B5EF4-FFF2-40B4-BE49-F238E27FC236}">
                <a16:creationId xmlns:a16="http://schemas.microsoft.com/office/drawing/2014/main" id="{20CC9EB0-E0C8-65AF-8BF1-2467AA019802}"/>
              </a:ext>
            </a:extLst>
          </p:cNvPr>
          <p:cNvGrpSpPr/>
          <p:nvPr/>
        </p:nvGrpSpPr>
        <p:grpSpPr>
          <a:xfrm>
            <a:off x="1333144" y="3414588"/>
            <a:ext cx="253890" cy="177723"/>
            <a:chOff x="1369637" y="1480086"/>
            <a:chExt cx="712544" cy="498780"/>
          </a:xfrm>
        </p:grpSpPr>
        <p:sp>
          <p:nvSpPr>
            <p:cNvPr id="170" name="Rectangle 169">
              <a:extLst>
                <a:ext uri="{FF2B5EF4-FFF2-40B4-BE49-F238E27FC236}">
                  <a16:creationId xmlns:a16="http://schemas.microsoft.com/office/drawing/2014/main" id="{4C7FBEDF-1ECA-8A10-8B9B-76D45D734E81}"/>
                </a:ext>
              </a:extLst>
            </p:cNvPr>
            <p:cNvSpPr/>
            <p:nvPr/>
          </p:nvSpPr>
          <p:spPr>
            <a:xfrm>
              <a:off x="1398270" y="1508232"/>
              <a:ext cx="651510" cy="442488"/>
            </a:xfrm>
            <a:prstGeom prst="rect">
              <a:avLst/>
            </a:prstGeom>
            <a:solidFill>
              <a:schemeClr val="bg1"/>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Graphic 44" descr="Envelope with solid fill">
              <a:extLst>
                <a:ext uri="{FF2B5EF4-FFF2-40B4-BE49-F238E27FC236}">
                  <a16:creationId xmlns:a16="http://schemas.microsoft.com/office/drawing/2014/main" id="{65A5A143-B427-5310-B1F2-80B1CAC2C4AD}"/>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rgbClr val="0070C0"/>
            </a:solidFill>
            <a:ln w="8830" cap="flat">
              <a:solidFill>
                <a:schemeClr val="accent4">
                  <a:lumMod val="75000"/>
                </a:schemeClr>
              </a:solidFill>
              <a:prstDash val="solid"/>
              <a:miter/>
            </a:ln>
          </p:spPr>
          <p:txBody>
            <a:bodyPr rtlCol="0" anchor="ctr"/>
            <a:lstStyle/>
            <a:p>
              <a:endParaRPr lang="en-US"/>
            </a:p>
          </p:txBody>
        </p:sp>
      </p:grpSp>
      <p:grpSp>
        <p:nvGrpSpPr>
          <p:cNvPr id="172" name="Group 171">
            <a:extLst>
              <a:ext uri="{FF2B5EF4-FFF2-40B4-BE49-F238E27FC236}">
                <a16:creationId xmlns:a16="http://schemas.microsoft.com/office/drawing/2014/main" id="{828EABFD-D9B1-5E07-3915-DA840F8E7B3B}"/>
              </a:ext>
            </a:extLst>
          </p:cNvPr>
          <p:cNvGrpSpPr/>
          <p:nvPr/>
        </p:nvGrpSpPr>
        <p:grpSpPr>
          <a:xfrm>
            <a:off x="1675803" y="3414588"/>
            <a:ext cx="253890" cy="177723"/>
            <a:chOff x="1369637" y="1480086"/>
            <a:chExt cx="712544" cy="498780"/>
          </a:xfrm>
        </p:grpSpPr>
        <p:sp>
          <p:nvSpPr>
            <p:cNvPr id="173" name="Rectangle 172">
              <a:extLst>
                <a:ext uri="{FF2B5EF4-FFF2-40B4-BE49-F238E27FC236}">
                  <a16:creationId xmlns:a16="http://schemas.microsoft.com/office/drawing/2014/main" id="{CE918CE1-4D1E-6C54-1CE4-401307C9E511}"/>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Graphic 44" descr="Envelope with solid fill">
              <a:extLst>
                <a:ext uri="{FF2B5EF4-FFF2-40B4-BE49-F238E27FC236}">
                  <a16:creationId xmlns:a16="http://schemas.microsoft.com/office/drawing/2014/main" id="{81AF1A99-3C73-F09C-5D7B-A40E87077863}"/>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2"/>
            </a:solidFill>
            <a:ln w="8830" cap="flat">
              <a:solidFill>
                <a:schemeClr val="accent2"/>
              </a:solidFill>
              <a:prstDash val="solid"/>
              <a:miter/>
            </a:ln>
          </p:spPr>
          <p:txBody>
            <a:bodyPr rtlCol="0" anchor="ctr"/>
            <a:lstStyle/>
            <a:p>
              <a:endParaRPr lang="en-US"/>
            </a:p>
          </p:txBody>
        </p:sp>
      </p:grpSp>
      <p:sp>
        <p:nvSpPr>
          <p:cNvPr id="3" name="Rectangle 2">
            <a:extLst>
              <a:ext uri="{FF2B5EF4-FFF2-40B4-BE49-F238E27FC236}">
                <a16:creationId xmlns:a16="http://schemas.microsoft.com/office/drawing/2014/main" id="{773C8472-D802-28EB-E379-CFFF7B713394}"/>
              </a:ext>
            </a:extLst>
          </p:cNvPr>
          <p:cNvSpPr/>
          <p:nvPr/>
        </p:nvSpPr>
        <p:spPr>
          <a:xfrm>
            <a:off x="9811971" y="1813559"/>
            <a:ext cx="342438" cy="912445"/>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1600" dirty="0">
                <a:solidFill>
                  <a:schemeClr val="accent1">
                    <a:lumMod val="50000"/>
                  </a:schemeClr>
                </a:solidFill>
              </a:rPr>
              <a:t>Cache</a:t>
            </a:r>
          </a:p>
        </p:txBody>
      </p:sp>
      <p:sp>
        <p:nvSpPr>
          <p:cNvPr id="9" name="Rectangle 8">
            <a:extLst>
              <a:ext uri="{FF2B5EF4-FFF2-40B4-BE49-F238E27FC236}">
                <a16:creationId xmlns:a16="http://schemas.microsoft.com/office/drawing/2014/main" id="{788E7AED-73B1-658C-66F6-283957CAEA6B}"/>
              </a:ext>
            </a:extLst>
          </p:cNvPr>
          <p:cNvSpPr/>
          <p:nvPr/>
        </p:nvSpPr>
        <p:spPr>
          <a:xfrm>
            <a:off x="9811971" y="3045266"/>
            <a:ext cx="342438" cy="912445"/>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1600" dirty="0">
                <a:solidFill>
                  <a:schemeClr val="accent1">
                    <a:lumMod val="50000"/>
                  </a:schemeClr>
                </a:solidFill>
              </a:rPr>
              <a:t>Cache</a:t>
            </a:r>
          </a:p>
        </p:txBody>
      </p:sp>
      <p:sp>
        <p:nvSpPr>
          <p:cNvPr id="11" name="Rectangle 10">
            <a:extLst>
              <a:ext uri="{FF2B5EF4-FFF2-40B4-BE49-F238E27FC236}">
                <a16:creationId xmlns:a16="http://schemas.microsoft.com/office/drawing/2014/main" id="{BA6C52CF-84CE-C544-D457-876A49921D01}"/>
              </a:ext>
            </a:extLst>
          </p:cNvPr>
          <p:cNvSpPr/>
          <p:nvPr/>
        </p:nvSpPr>
        <p:spPr>
          <a:xfrm>
            <a:off x="9811971" y="4276972"/>
            <a:ext cx="342438" cy="912445"/>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1600" dirty="0">
                <a:solidFill>
                  <a:schemeClr val="accent1">
                    <a:lumMod val="50000"/>
                  </a:schemeClr>
                </a:solidFill>
              </a:rPr>
              <a:t>Cache</a:t>
            </a:r>
          </a:p>
        </p:txBody>
      </p:sp>
      <p:cxnSp>
        <p:nvCxnSpPr>
          <p:cNvPr id="15" name="Straight Arrow Connector 14">
            <a:extLst>
              <a:ext uri="{FF2B5EF4-FFF2-40B4-BE49-F238E27FC236}">
                <a16:creationId xmlns:a16="http://schemas.microsoft.com/office/drawing/2014/main" id="{BD832292-1D97-690A-A646-CF52C059C976}"/>
              </a:ext>
            </a:extLst>
          </p:cNvPr>
          <p:cNvCxnSpPr>
            <a:cxnSpLocks/>
            <a:stCxn id="26" idx="1"/>
            <a:endCxn id="3" idx="3"/>
          </p:cNvCxnSpPr>
          <p:nvPr/>
        </p:nvCxnSpPr>
        <p:spPr>
          <a:xfrm flipH="1" flipV="1">
            <a:off x="10154409" y="2269782"/>
            <a:ext cx="556901" cy="1233311"/>
          </a:xfrm>
          <a:prstGeom prst="straightConnector1">
            <a:avLst/>
          </a:prstGeom>
          <a:ln>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19" name="Straight Arrow Connector 14">
            <a:extLst>
              <a:ext uri="{FF2B5EF4-FFF2-40B4-BE49-F238E27FC236}">
                <a16:creationId xmlns:a16="http://schemas.microsoft.com/office/drawing/2014/main" id="{65783ACD-A80A-F6B0-A35D-E0FB6B37DFD7}"/>
              </a:ext>
            </a:extLst>
          </p:cNvPr>
          <p:cNvCxnSpPr>
            <a:cxnSpLocks/>
            <a:stCxn id="26" idx="1"/>
            <a:endCxn id="9" idx="3"/>
          </p:cNvCxnSpPr>
          <p:nvPr/>
        </p:nvCxnSpPr>
        <p:spPr>
          <a:xfrm flipH="1" flipV="1">
            <a:off x="10154409" y="3501489"/>
            <a:ext cx="556901" cy="1604"/>
          </a:xfrm>
          <a:prstGeom prst="straightConnector1">
            <a:avLst/>
          </a:prstGeom>
          <a:ln>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20" name="Straight Arrow Connector 14">
            <a:extLst>
              <a:ext uri="{FF2B5EF4-FFF2-40B4-BE49-F238E27FC236}">
                <a16:creationId xmlns:a16="http://schemas.microsoft.com/office/drawing/2014/main" id="{6B9CDB0A-CBE6-489A-20D8-4D8A94E8A954}"/>
              </a:ext>
            </a:extLst>
          </p:cNvPr>
          <p:cNvCxnSpPr>
            <a:cxnSpLocks/>
            <a:stCxn id="26" idx="1"/>
            <a:endCxn id="11" idx="3"/>
          </p:cNvCxnSpPr>
          <p:nvPr/>
        </p:nvCxnSpPr>
        <p:spPr>
          <a:xfrm flipH="1">
            <a:off x="10154409" y="3503093"/>
            <a:ext cx="556901" cy="1230102"/>
          </a:xfrm>
          <a:prstGeom prst="straightConnector1">
            <a:avLst/>
          </a:prstGeom>
          <a:ln>
            <a:solidFill>
              <a:schemeClr val="tx1"/>
            </a:solidFill>
            <a:tailEnd type="none"/>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2CAC3A54-EB69-8F10-CB25-ECB5833B85B9}"/>
              </a:ext>
            </a:extLst>
          </p:cNvPr>
          <p:cNvSpPr/>
          <p:nvPr/>
        </p:nvSpPr>
        <p:spPr>
          <a:xfrm>
            <a:off x="10711310" y="3352922"/>
            <a:ext cx="377134" cy="3003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Cylinder 106">
            <a:extLst>
              <a:ext uri="{FF2B5EF4-FFF2-40B4-BE49-F238E27FC236}">
                <a16:creationId xmlns:a16="http://schemas.microsoft.com/office/drawing/2014/main" id="{A704FDBA-46BA-9B67-22C2-6EED54F4C3C7}"/>
              </a:ext>
            </a:extLst>
          </p:cNvPr>
          <p:cNvSpPr/>
          <p:nvPr/>
        </p:nvSpPr>
        <p:spPr>
          <a:xfrm>
            <a:off x="10571355" y="3037451"/>
            <a:ext cx="1000199" cy="932731"/>
          </a:xfrm>
          <a:prstGeom prst="can">
            <a:avLst>
              <a:gd name="adj" fmla="val 16667"/>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accent1">
                    <a:lumMod val="50000"/>
                  </a:schemeClr>
                </a:solidFill>
              </a:rPr>
              <a:t>Persistent</a:t>
            </a:r>
          </a:p>
          <a:p>
            <a:pPr algn="ctr"/>
            <a:r>
              <a:rPr lang="en-US" sz="1400" dirty="0">
                <a:solidFill>
                  <a:schemeClr val="accent1">
                    <a:lumMod val="50000"/>
                  </a:schemeClr>
                </a:solidFill>
              </a:rPr>
              <a:t>Store</a:t>
            </a:r>
          </a:p>
        </p:txBody>
      </p:sp>
    </p:spTree>
    <p:extLst>
      <p:ext uri="{BB962C8B-B14F-4D97-AF65-F5344CB8AC3E}">
        <p14:creationId xmlns:p14="http://schemas.microsoft.com/office/powerpoint/2010/main" val="23591303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12418-7312-2E42-86D6-F377C6ADA536}"/>
            </a:ext>
          </a:extLst>
        </p:cNvPr>
        <p:cNvGrpSpPr/>
        <p:nvPr/>
      </p:nvGrpSpPr>
      <p:grpSpPr>
        <a:xfrm>
          <a:off x="0" y="0"/>
          <a:ext cx="0" cy="0"/>
          <a:chOff x="0" y="0"/>
          <a:chExt cx="0" cy="0"/>
        </a:xfrm>
      </p:grpSpPr>
      <p:sp>
        <p:nvSpPr>
          <p:cNvPr id="187" name="Rectangle 186">
            <a:extLst>
              <a:ext uri="{FF2B5EF4-FFF2-40B4-BE49-F238E27FC236}">
                <a16:creationId xmlns:a16="http://schemas.microsoft.com/office/drawing/2014/main" id="{CE5733FF-9667-F857-8DF5-072A7DCAC4EB}"/>
              </a:ext>
            </a:extLst>
          </p:cNvPr>
          <p:cNvSpPr/>
          <p:nvPr/>
        </p:nvSpPr>
        <p:spPr>
          <a:xfrm>
            <a:off x="2327653" y="1440180"/>
            <a:ext cx="7966967" cy="434280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accent1">
                    <a:lumMod val="50000"/>
                  </a:schemeClr>
                </a:solidFill>
              </a:rPr>
              <a:t>System</a:t>
            </a:r>
          </a:p>
        </p:txBody>
      </p:sp>
      <p:sp>
        <p:nvSpPr>
          <p:cNvPr id="42" name="Rectangle 41">
            <a:extLst>
              <a:ext uri="{FF2B5EF4-FFF2-40B4-BE49-F238E27FC236}">
                <a16:creationId xmlns:a16="http://schemas.microsoft.com/office/drawing/2014/main" id="{9F8CA702-A58D-5920-6792-456178292E60}"/>
              </a:ext>
            </a:extLst>
          </p:cNvPr>
          <p:cNvSpPr/>
          <p:nvPr/>
        </p:nvSpPr>
        <p:spPr>
          <a:xfrm>
            <a:off x="4704930" y="2629675"/>
            <a:ext cx="3416817" cy="1749718"/>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600" dirty="0">
                <a:solidFill>
                  <a:schemeClr val="accent1">
                    <a:lumMod val="50000"/>
                  </a:schemeClr>
                </a:solidFill>
              </a:rPr>
              <a:t>Accounting Trade Queue</a:t>
            </a:r>
          </a:p>
        </p:txBody>
      </p:sp>
      <p:sp>
        <p:nvSpPr>
          <p:cNvPr id="2" name="Title 1">
            <a:extLst>
              <a:ext uri="{FF2B5EF4-FFF2-40B4-BE49-F238E27FC236}">
                <a16:creationId xmlns:a16="http://schemas.microsoft.com/office/drawing/2014/main" id="{59E4145D-6F62-F818-73C8-23BD021DF04C}"/>
              </a:ext>
            </a:extLst>
          </p:cNvPr>
          <p:cNvSpPr>
            <a:spLocks noGrp="1"/>
          </p:cNvSpPr>
          <p:nvPr>
            <p:ph type="title"/>
          </p:nvPr>
        </p:nvSpPr>
        <p:spPr/>
        <p:txBody>
          <a:bodyPr>
            <a:normAutofit/>
          </a:bodyPr>
          <a:lstStyle/>
          <a:p>
            <a:r>
              <a:rPr lang="en-US" dirty="0"/>
              <a:t>Just Add Patterns</a:t>
            </a:r>
          </a:p>
        </p:txBody>
      </p:sp>
      <p:sp>
        <p:nvSpPr>
          <p:cNvPr id="4" name="Slide Number Placeholder 3">
            <a:extLst>
              <a:ext uri="{FF2B5EF4-FFF2-40B4-BE49-F238E27FC236}">
                <a16:creationId xmlns:a16="http://schemas.microsoft.com/office/drawing/2014/main" id="{DE38A0CA-A54B-CD6E-6E0F-AAF4A4B327CD}"/>
              </a:ext>
            </a:extLst>
          </p:cNvPr>
          <p:cNvSpPr>
            <a:spLocks noGrp="1"/>
          </p:cNvSpPr>
          <p:nvPr>
            <p:ph type="sldNum" sz="quarter" idx="12"/>
          </p:nvPr>
        </p:nvSpPr>
        <p:spPr/>
        <p:txBody>
          <a:bodyPr/>
          <a:lstStyle/>
          <a:p>
            <a:fld id="{E6E087A0-8E33-4AD2-B40F-AC5841A95ADE}" type="slidenum">
              <a:rPr lang="en-US" smtClean="0"/>
              <a:t>38</a:t>
            </a:fld>
            <a:endParaRPr lang="en-US"/>
          </a:p>
        </p:txBody>
      </p:sp>
      <p:sp>
        <p:nvSpPr>
          <p:cNvPr id="5" name="Rectangle 4">
            <a:extLst>
              <a:ext uri="{FF2B5EF4-FFF2-40B4-BE49-F238E27FC236}">
                <a16:creationId xmlns:a16="http://schemas.microsoft.com/office/drawing/2014/main" id="{9BDB486C-E300-DEF9-F9FF-D6353C928B35}"/>
              </a:ext>
            </a:extLst>
          </p:cNvPr>
          <p:cNvSpPr/>
          <p:nvPr/>
        </p:nvSpPr>
        <p:spPr>
          <a:xfrm>
            <a:off x="485264" y="2836769"/>
            <a:ext cx="1643409" cy="1336864"/>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t"/>
          <a:lstStyle/>
          <a:p>
            <a:pPr algn="ctr"/>
            <a:r>
              <a:rPr lang="en-US" sz="1600" dirty="0">
                <a:solidFill>
                  <a:schemeClr val="accent1">
                    <a:lumMod val="50000"/>
                  </a:schemeClr>
                </a:solidFill>
              </a:rPr>
              <a:t>Trade Publisher</a:t>
            </a:r>
          </a:p>
        </p:txBody>
      </p:sp>
      <p:cxnSp>
        <p:nvCxnSpPr>
          <p:cNvPr id="10" name="Straight Arrow Connector 9">
            <a:extLst>
              <a:ext uri="{FF2B5EF4-FFF2-40B4-BE49-F238E27FC236}">
                <a16:creationId xmlns:a16="http://schemas.microsoft.com/office/drawing/2014/main" id="{18B4131A-074B-D8FB-DCF5-76EBD3BE6E9F}"/>
              </a:ext>
            </a:extLst>
          </p:cNvPr>
          <p:cNvCxnSpPr>
            <a:cxnSpLocks/>
            <a:stCxn id="5" idx="3"/>
            <a:endCxn id="148" idx="1"/>
          </p:cNvCxnSpPr>
          <p:nvPr/>
        </p:nvCxnSpPr>
        <p:spPr>
          <a:xfrm>
            <a:off x="2128673" y="3505201"/>
            <a:ext cx="931600" cy="144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812187E7-71D9-AA52-67F8-FC1A643BBEA8}"/>
              </a:ext>
            </a:extLst>
          </p:cNvPr>
          <p:cNvCxnSpPr>
            <a:cxnSpLocks/>
            <a:stCxn id="108" idx="3"/>
            <a:endCxn id="114" idx="1"/>
          </p:cNvCxnSpPr>
          <p:nvPr/>
        </p:nvCxnSpPr>
        <p:spPr>
          <a:xfrm>
            <a:off x="4818484" y="3197208"/>
            <a:ext cx="3188791" cy="0"/>
          </a:xfrm>
          <a:prstGeom prst="straightConnector1">
            <a:avLst/>
          </a:prstGeom>
          <a:ln w="12700">
            <a:solidFill>
              <a:schemeClr val="tx1"/>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3803C377-8DBE-4CEC-3133-29DCEE74A5CF}"/>
              </a:ext>
            </a:extLst>
          </p:cNvPr>
          <p:cNvCxnSpPr>
            <a:cxnSpLocks/>
            <a:stCxn id="109" idx="3"/>
            <a:endCxn id="115" idx="1"/>
          </p:cNvCxnSpPr>
          <p:nvPr/>
        </p:nvCxnSpPr>
        <p:spPr>
          <a:xfrm>
            <a:off x="4818484" y="3506641"/>
            <a:ext cx="3188791" cy="0"/>
          </a:xfrm>
          <a:prstGeom prst="straightConnector1">
            <a:avLst/>
          </a:prstGeom>
          <a:ln w="12700">
            <a:solidFill>
              <a:schemeClr val="tx1"/>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327842E9-490F-6E84-7ACF-0773869FD589}"/>
              </a:ext>
            </a:extLst>
          </p:cNvPr>
          <p:cNvCxnSpPr>
            <a:cxnSpLocks/>
            <a:stCxn id="110" idx="3"/>
            <a:endCxn id="116" idx="1"/>
          </p:cNvCxnSpPr>
          <p:nvPr/>
        </p:nvCxnSpPr>
        <p:spPr>
          <a:xfrm>
            <a:off x="4818484" y="3813966"/>
            <a:ext cx="3188791" cy="0"/>
          </a:xfrm>
          <a:prstGeom prst="straightConnector1">
            <a:avLst/>
          </a:prstGeom>
          <a:ln w="12700">
            <a:solidFill>
              <a:schemeClr val="tx1"/>
            </a:solidFill>
            <a:prstDash val="dash"/>
            <a:tailEnd type="arrow"/>
          </a:ln>
        </p:spPr>
        <p:style>
          <a:lnRef idx="2">
            <a:schemeClr val="accent1"/>
          </a:lnRef>
          <a:fillRef idx="0">
            <a:schemeClr val="accent1"/>
          </a:fillRef>
          <a:effectRef idx="1">
            <a:schemeClr val="accent1"/>
          </a:effectRef>
          <a:fontRef idx="minor">
            <a:schemeClr val="tx1"/>
          </a:fontRef>
        </p:style>
      </p:cxnSp>
      <p:grpSp>
        <p:nvGrpSpPr>
          <p:cNvPr id="50" name="Group 49">
            <a:extLst>
              <a:ext uri="{FF2B5EF4-FFF2-40B4-BE49-F238E27FC236}">
                <a16:creationId xmlns:a16="http://schemas.microsoft.com/office/drawing/2014/main" id="{17F28C47-7D32-F1D3-4C75-2D9F0C24DA6D}"/>
              </a:ext>
            </a:extLst>
          </p:cNvPr>
          <p:cNvGrpSpPr/>
          <p:nvPr/>
        </p:nvGrpSpPr>
        <p:grpSpPr>
          <a:xfrm>
            <a:off x="5184788" y="3108347"/>
            <a:ext cx="253890" cy="177723"/>
            <a:chOff x="1369637" y="1480086"/>
            <a:chExt cx="712544" cy="498780"/>
          </a:xfrm>
        </p:grpSpPr>
        <p:sp>
          <p:nvSpPr>
            <p:cNvPr id="51" name="Rectangle 50">
              <a:extLst>
                <a:ext uri="{FF2B5EF4-FFF2-40B4-BE49-F238E27FC236}">
                  <a16:creationId xmlns:a16="http://schemas.microsoft.com/office/drawing/2014/main" id="{D851AA88-449B-EC23-2172-7EB456CDAA8A}"/>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Graphic 44" descr="Envelope with solid fill">
              <a:extLst>
                <a:ext uri="{FF2B5EF4-FFF2-40B4-BE49-F238E27FC236}">
                  <a16:creationId xmlns:a16="http://schemas.microsoft.com/office/drawing/2014/main" id="{D0321861-EA75-BF4A-8B8F-8A977EB67989}"/>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2"/>
            </a:solidFill>
            <a:ln w="8830" cap="flat">
              <a:solidFill>
                <a:schemeClr val="accent2"/>
              </a:solidFill>
              <a:prstDash val="solid"/>
              <a:miter/>
            </a:ln>
          </p:spPr>
          <p:txBody>
            <a:bodyPr rtlCol="0" anchor="ctr"/>
            <a:lstStyle/>
            <a:p>
              <a:endParaRPr lang="en-US"/>
            </a:p>
          </p:txBody>
        </p:sp>
      </p:grpSp>
      <p:grpSp>
        <p:nvGrpSpPr>
          <p:cNvPr id="57" name="Group 56">
            <a:extLst>
              <a:ext uri="{FF2B5EF4-FFF2-40B4-BE49-F238E27FC236}">
                <a16:creationId xmlns:a16="http://schemas.microsoft.com/office/drawing/2014/main" id="{07B5B9FA-987A-695B-7390-A9D11BA9FAA2}"/>
              </a:ext>
            </a:extLst>
          </p:cNvPr>
          <p:cNvGrpSpPr/>
          <p:nvPr/>
        </p:nvGrpSpPr>
        <p:grpSpPr>
          <a:xfrm>
            <a:off x="6370280" y="3730706"/>
            <a:ext cx="253890" cy="177723"/>
            <a:chOff x="1369637" y="1480086"/>
            <a:chExt cx="712544" cy="498780"/>
          </a:xfrm>
        </p:grpSpPr>
        <p:sp>
          <p:nvSpPr>
            <p:cNvPr id="58" name="Rectangle 57">
              <a:extLst>
                <a:ext uri="{FF2B5EF4-FFF2-40B4-BE49-F238E27FC236}">
                  <a16:creationId xmlns:a16="http://schemas.microsoft.com/office/drawing/2014/main" id="{F49B101B-5322-88FC-6898-BF9B5EB2F36A}"/>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Graphic 44" descr="Envelope with solid fill">
              <a:extLst>
                <a:ext uri="{FF2B5EF4-FFF2-40B4-BE49-F238E27FC236}">
                  <a16:creationId xmlns:a16="http://schemas.microsoft.com/office/drawing/2014/main" id="{17250C11-FE13-0D30-8CEF-2E86A36DAAC7}"/>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6">
                <a:lumMod val="75000"/>
              </a:schemeClr>
            </a:solidFill>
            <a:ln w="8830" cap="flat">
              <a:solidFill>
                <a:schemeClr val="accent6">
                  <a:lumMod val="75000"/>
                </a:schemeClr>
              </a:solidFill>
              <a:prstDash val="solid"/>
              <a:miter/>
            </a:ln>
          </p:spPr>
          <p:txBody>
            <a:bodyPr rtlCol="0" anchor="ctr"/>
            <a:lstStyle/>
            <a:p>
              <a:endParaRPr lang="en-US"/>
            </a:p>
          </p:txBody>
        </p:sp>
      </p:grpSp>
      <p:grpSp>
        <p:nvGrpSpPr>
          <p:cNvPr id="60" name="Group 59">
            <a:extLst>
              <a:ext uri="{FF2B5EF4-FFF2-40B4-BE49-F238E27FC236}">
                <a16:creationId xmlns:a16="http://schemas.microsoft.com/office/drawing/2014/main" id="{A8F89786-9089-3947-DC03-F10553B526BE}"/>
              </a:ext>
            </a:extLst>
          </p:cNvPr>
          <p:cNvGrpSpPr/>
          <p:nvPr/>
        </p:nvGrpSpPr>
        <p:grpSpPr>
          <a:xfrm>
            <a:off x="647824" y="3414588"/>
            <a:ext cx="253890" cy="177723"/>
            <a:chOff x="1369637" y="1480086"/>
            <a:chExt cx="712544" cy="498780"/>
          </a:xfrm>
        </p:grpSpPr>
        <p:sp>
          <p:nvSpPr>
            <p:cNvPr id="61" name="Rectangle 60">
              <a:extLst>
                <a:ext uri="{FF2B5EF4-FFF2-40B4-BE49-F238E27FC236}">
                  <a16:creationId xmlns:a16="http://schemas.microsoft.com/office/drawing/2014/main" id="{958709CC-E340-97E9-A990-337A778F0FE4}"/>
                </a:ext>
              </a:extLst>
            </p:cNvPr>
            <p:cNvSpPr/>
            <p:nvPr/>
          </p:nvSpPr>
          <p:spPr>
            <a:xfrm>
              <a:off x="1398270" y="1508232"/>
              <a:ext cx="651510" cy="442488"/>
            </a:xfrm>
            <a:prstGeom prst="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Graphic 44" descr="Envelope with solid fill">
              <a:extLst>
                <a:ext uri="{FF2B5EF4-FFF2-40B4-BE49-F238E27FC236}">
                  <a16:creationId xmlns:a16="http://schemas.microsoft.com/office/drawing/2014/main" id="{156C7960-1508-6E33-4690-BE4AC0611CD0}"/>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2"/>
            </a:solidFill>
            <a:ln w="8830" cap="flat">
              <a:solidFill>
                <a:schemeClr val="accent2"/>
              </a:solidFill>
              <a:prstDash val="solid"/>
              <a:miter/>
            </a:ln>
          </p:spPr>
          <p:txBody>
            <a:bodyPr rtlCol="0" anchor="ctr"/>
            <a:lstStyle/>
            <a:p>
              <a:endParaRPr lang="en-US"/>
            </a:p>
          </p:txBody>
        </p:sp>
      </p:grpSp>
      <p:grpSp>
        <p:nvGrpSpPr>
          <p:cNvPr id="63" name="Group 62">
            <a:extLst>
              <a:ext uri="{FF2B5EF4-FFF2-40B4-BE49-F238E27FC236}">
                <a16:creationId xmlns:a16="http://schemas.microsoft.com/office/drawing/2014/main" id="{235BAE70-2969-43B2-B335-A34042F7712C}"/>
              </a:ext>
            </a:extLst>
          </p:cNvPr>
          <p:cNvGrpSpPr/>
          <p:nvPr/>
        </p:nvGrpSpPr>
        <p:grpSpPr>
          <a:xfrm>
            <a:off x="990484" y="3414588"/>
            <a:ext cx="253890" cy="177723"/>
            <a:chOff x="1369637" y="1480086"/>
            <a:chExt cx="712544" cy="498780"/>
          </a:xfrm>
        </p:grpSpPr>
        <p:sp>
          <p:nvSpPr>
            <p:cNvPr id="64" name="Rectangle 63">
              <a:extLst>
                <a:ext uri="{FF2B5EF4-FFF2-40B4-BE49-F238E27FC236}">
                  <a16:creationId xmlns:a16="http://schemas.microsoft.com/office/drawing/2014/main" id="{634FF29D-9C18-A4D5-8AA1-2E189DDEA997}"/>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Graphic 44" descr="Envelope with solid fill">
              <a:extLst>
                <a:ext uri="{FF2B5EF4-FFF2-40B4-BE49-F238E27FC236}">
                  <a16:creationId xmlns:a16="http://schemas.microsoft.com/office/drawing/2014/main" id="{D041B2E4-CDBC-650F-0546-9978AFC993EC}"/>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6">
                <a:lumMod val="75000"/>
              </a:schemeClr>
            </a:solidFill>
            <a:ln w="8830" cap="flat">
              <a:solidFill>
                <a:schemeClr val="accent6">
                  <a:lumMod val="75000"/>
                </a:schemeClr>
              </a:solidFill>
              <a:prstDash val="solid"/>
              <a:miter/>
            </a:ln>
          </p:spPr>
          <p:txBody>
            <a:bodyPr rtlCol="0" anchor="ctr"/>
            <a:lstStyle/>
            <a:p>
              <a:endParaRPr lang="en-US"/>
            </a:p>
          </p:txBody>
        </p:sp>
      </p:grpSp>
      <p:grpSp>
        <p:nvGrpSpPr>
          <p:cNvPr id="70" name="Group 69">
            <a:extLst>
              <a:ext uri="{FF2B5EF4-FFF2-40B4-BE49-F238E27FC236}">
                <a16:creationId xmlns:a16="http://schemas.microsoft.com/office/drawing/2014/main" id="{607BA0C5-F494-69FD-373E-2F89E7D73F80}"/>
              </a:ext>
            </a:extLst>
          </p:cNvPr>
          <p:cNvGrpSpPr/>
          <p:nvPr/>
        </p:nvGrpSpPr>
        <p:grpSpPr>
          <a:xfrm>
            <a:off x="5777534" y="3108347"/>
            <a:ext cx="253890" cy="177723"/>
            <a:chOff x="1369637" y="1480086"/>
            <a:chExt cx="712544" cy="498780"/>
          </a:xfrm>
        </p:grpSpPr>
        <p:sp>
          <p:nvSpPr>
            <p:cNvPr id="71" name="Rectangle 70">
              <a:extLst>
                <a:ext uri="{FF2B5EF4-FFF2-40B4-BE49-F238E27FC236}">
                  <a16:creationId xmlns:a16="http://schemas.microsoft.com/office/drawing/2014/main" id="{D1FC262B-A899-4770-44EC-34DF49F97DEA}"/>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Graphic 44" descr="Envelope with solid fill">
              <a:extLst>
                <a:ext uri="{FF2B5EF4-FFF2-40B4-BE49-F238E27FC236}">
                  <a16:creationId xmlns:a16="http://schemas.microsoft.com/office/drawing/2014/main" id="{F0F7B2D9-7B4D-10E8-F5D7-B2000B871F88}"/>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2"/>
            </a:solidFill>
            <a:ln w="8830" cap="flat">
              <a:solidFill>
                <a:schemeClr val="accent2"/>
              </a:solidFill>
              <a:prstDash val="solid"/>
              <a:miter/>
            </a:ln>
          </p:spPr>
          <p:txBody>
            <a:bodyPr rtlCol="0" anchor="ctr"/>
            <a:lstStyle/>
            <a:p>
              <a:endParaRPr lang="en-US"/>
            </a:p>
          </p:txBody>
        </p:sp>
      </p:grpSp>
      <p:grpSp>
        <p:nvGrpSpPr>
          <p:cNvPr id="73" name="Group 72">
            <a:extLst>
              <a:ext uri="{FF2B5EF4-FFF2-40B4-BE49-F238E27FC236}">
                <a16:creationId xmlns:a16="http://schemas.microsoft.com/office/drawing/2014/main" id="{C333E76A-AB58-E1DD-D7B9-F04F33E93E2F}"/>
              </a:ext>
            </a:extLst>
          </p:cNvPr>
          <p:cNvGrpSpPr/>
          <p:nvPr/>
        </p:nvGrpSpPr>
        <p:grpSpPr>
          <a:xfrm>
            <a:off x="6073907" y="3108347"/>
            <a:ext cx="253890" cy="177723"/>
            <a:chOff x="1369637" y="1480086"/>
            <a:chExt cx="712544" cy="498780"/>
          </a:xfrm>
        </p:grpSpPr>
        <p:sp>
          <p:nvSpPr>
            <p:cNvPr id="74" name="Rectangle 73">
              <a:extLst>
                <a:ext uri="{FF2B5EF4-FFF2-40B4-BE49-F238E27FC236}">
                  <a16:creationId xmlns:a16="http://schemas.microsoft.com/office/drawing/2014/main" id="{399B08C5-5329-E1A5-E247-3AA3B1A6C6A8}"/>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Graphic 44" descr="Envelope with solid fill">
              <a:extLst>
                <a:ext uri="{FF2B5EF4-FFF2-40B4-BE49-F238E27FC236}">
                  <a16:creationId xmlns:a16="http://schemas.microsoft.com/office/drawing/2014/main" id="{3F211A40-6B50-8A03-392F-36870C014C75}"/>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2"/>
            </a:solidFill>
            <a:ln w="8830" cap="flat">
              <a:solidFill>
                <a:schemeClr val="accent2"/>
              </a:solidFill>
              <a:prstDash val="solid"/>
              <a:miter/>
            </a:ln>
          </p:spPr>
          <p:txBody>
            <a:bodyPr rtlCol="0" anchor="ctr"/>
            <a:lstStyle/>
            <a:p>
              <a:endParaRPr lang="en-US"/>
            </a:p>
          </p:txBody>
        </p:sp>
      </p:grpSp>
      <p:grpSp>
        <p:nvGrpSpPr>
          <p:cNvPr id="76" name="Group 75">
            <a:extLst>
              <a:ext uri="{FF2B5EF4-FFF2-40B4-BE49-F238E27FC236}">
                <a16:creationId xmlns:a16="http://schemas.microsoft.com/office/drawing/2014/main" id="{7636874D-0696-BC38-0D6E-AB16F27A7F6F}"/>
              </a:ext>
            </a:extLst>
          </p:cNvPr>
          <p:cNvGrpSpPr/>
          <p:nvPr/>
        </p:nvGrpSpPr>
        <p:grpSpPr>
          <a:xfrm>
            <a:off x="6963026" y="3108347"/>
            <a:ext cx="253890" cy="177723"/>
            <a:chOff x="1369637" y="1480086"/>
            <a:chExt cx="712544" cy="498780"/>
          </a:xfrm>
        </p:grpSpPr>
        <p:sp>
          <p:nvSpPr>
            <p:cNvPr id="77" name="Rectangle 76">
              <a:extLst>
                <a:ext uri="{FF2B5EF4-FFF2-40B4-BE49-F238E27FC236}">
                  <a16:creationId xmlns:a16="http://schemas.microsoft.com/office/drawing/2014/main" id="{2A77BD17-1890-417A-861A-F1161E7D5685}"/>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Graphic 44" descr="Envelope with solid fill">
              <a:extLst>
                <a:ext uri="{FF2B5EF4-FFF2-40B4-BE49-F238E27FC236}">
                  <a16:creationId xmlns:a16="http://schemas.microsoft.com/office/drawing/2014/main" id="{D517ECD5-96BF-3E86-BE5B-2DF838E0DC03}"/>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2"/>
            </a:solidFill>
            <a:ln w="8830" cap="flat">
              <a:solidFill>
                <a:schemeClr val="accent2"/>
              </a:solidFill>
              <a:prstDash val="solid"/>
              <a:miter/>
            </a:ln>
          </p:spPr>
          <p:txBody>
            <a:bodyPr rtlCol="0" anchor="ctr"/>
            <a:lstStyle/>
            <a:p>
              <a:endParaRPr lang="en-US"/>
            </a:p>
          </p:txBody>
        </p:sp>
      </p:grpSp>
      <p:grpSp>
        <p:nvGrpSpPr>
          <p:cNvPr id="82" name="Group 81">
            <a:extLst>
              <a:ext uri="{FF2B5EF4-FFF2-40B4-BE49-F238E27FC236}">
                <a16:creationId xmlns:a16="http://schemas.microsoft.com/office/drawing/2014/main" id="{FAD64F76-FAFF-4C68-EDF9-09ADA48C4653}"/>
              </a:ext>
            </a:extLst>
          </p:cNvPr>
          <p:cNvGrpSpPr/>
          <p:nvPr/>
        </p:nvGrpSpPr>
        <p:grpSpPr>
          <a:xfrm>
            <a:off x="4907465" y="3730706"/>
            <a:ext cx="253890" cy="177723"/>
            <a:chOff x="1369637" y="1480086"/>
            <a:chExt cx="712544" cy="498780"/>
          </a:xfrm>
        </p:grpSpPr>
        <p:sp>
          <p:nvSpPr>
            <p:cNvPr id="83" name="Rectangle 82">
              <a:extLst>
                <a:ext uri="{FF2B5EF4-FFF2-40B4-BE49-F238E27FC236}">
                  <a16:creationId xmlns:a16="http://schemas.microsoft.com/office/drawing/2014/main" id="{1EA21474-A305-2E05-762E-066D28D1879E}"/>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Graphic 44" descr="Envelope with solid fill">
              <a:extLst>
                <a:ext uri="{FF2B5EF4-FFF2-40B4-BE49-F238E27FC236}">
                  <a16:creationId xmlns:a16="http://schemas.microsoft.com/office/drawing/2014/main" id="{879097C8-14DB-5FFF-17B2-CA72E3A51FDC}"/>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6">
                <a:lumMod val="75000"/>
              </a:schemeClr>
            </a:solidFill>
            <a:ln w="8830" cap="flat">
              <a:solidFill>
                <a:schemeClr val="accent6">
                  <a:lumMod val="75000"/>
                </a:schemeClr>
              </a:solidFill>
              <a:prstDash val="solid"/>
              <a:miter/>
            </a:ln>
          </p:spPr>
          <p:txBody>
            <a:bodyPr rtlCol="0" anchor="ctr"/>
            <a:lstStyle/>
            <a:p>
              <a:endParaRPr lang="en-US"/>
            </a:p>
          </p:txBody>
        </p:sp>
      </p:grpSp>
      <p:grpSp>
        <p:nvGrpSpPr>
          <p:cNvPr id="85" name="Group 84">
            <a:extLst>
              <a:ext uri="{FF2B5EF4-FFF2-40B4-BE49-F238E27FC236}">
                <a16:creationId xmlns:a16="http://schemas.microsoft.com/office/drawing/2014/main" id="{5A299248-D62A-F6D3-A634-BC1D199269B0}"/>
              </a:ext>
            </a:extLst>
          </p:cNvPr>
          <p:cNvGrpSpPr/>
          <p:nvPr/>
        </p:nvGrpSpPr>
        <p:grpSpPr>
          <a:xfrm>
            <a:off x="5481161" y="3421272"/>
            <a:ext cx="253890" cy="177723"/>
            <a:chOff x="1369637" y="1480086"/>
            <a:chExt cx="712544" cy="498780"/>
          </a:xfrm>
        </p:grpSpPr>
        <p:sp>
          <p:nvSpPr>
            <p:cNvPr id="86" name="Rectangle 85">
              <a:extLst>
                <a:ext uri="{FF2B5EF4-FFF2-40B4-BE49-F238E27FC236}">
                  <a16:creationId xmlns:a16="http://schemas.microsoft.com/office/drawing/2014/main" id="{6847BA15-49FC-4216-7D64-0437E8FF96AB}"/>
                </a:ext>
              </a:extLst>
            </p:cNvPr>
            <p:cNvSpPr/>
            <p:nvPr/>
          </p:nvSpPr>
          <p:spPr>
            <a:xfrm>
              <a:off x="1398270" y="1508232"/>
              <a:ext cx="651510" cy="442488"/>
            </a:xfrm>
            <a:prstGeom prst="rect">
              <a:avLst/>
            </a:prstGeom>
            <a:solidFill>
              <a:schemeClr val="bg1"/>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Graphic 44" descr="Envelope with solid fill">
              <a:extLst>
                <a:ext uri="{FF2B5EF4-FFF2-40B4-BE49-F238E27FC236}">
                  <a16:creationId xmlns:a16="http://schemas.microsoft.com/office/drawing/2014/main" id="{45B8480D-3433-41F5-5C79-E3A138F1ECD6}"/>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rgbClr val="0070C0"/>
            </a:solidFill>
            <a:ln w="8830" cap="flat">
              <a:solidFill>
                <a:schemeClr val="accent4">
                  <a:lumMod val="75000"/>
                </a:schemeClr>
              </a:solidFill>
              <a:prstDash val="solid"/>
              <a:miter/>
            </a:ln>
          </p:spPr>
          <p:txBody>
            <a:bodyPr rtlCol="0" anchor="ctr"/>
            <a:lstStyle/>
            <a:p>
              <a:endParaRPr lang="en-US"/>
            </a:p>
          </p:txBody>
        </p:sp>
      </p:grpSp>
      <p:grpSp>
        <p:nvGrpSpPr>
          <p:cNvPr id="89" name="Group 88">
            <a:extLst>
              <a:ext uri="{FF2B5EF4-FFF2-40B4-BE49-F238E27FC236}">
                <a16:creationId xmlns:a16="http://schemas.microsoft.com/office/drawing/2014/main" id="{DBC36B47-797D-B4C7-19E4-5E5C1E65CFFB}"/>
              </a:ext>
            </a:extLst>
          </p:cNvPr>
          <p:cNvGrpSpPr/>
          <p:nvPr/>
        </p:nvGrpSpPr>
        <p:grpSpPr>
          <a:xfrm>
            <a:off x="7555770" y="3730706"/>
            <a:ext cx="253890" cy="177723"/>
            <a:chOff x="1369637" y="1480086"/>
            <a:chExt cx="712544" cy="498780"/>
          </a:xfrm>
        </p:grpSpPr>
        <p:sp>
          <p:nvSpPr>
            <p:cNvPr id="90" name="Rectangle 89">
              <a:extLst>
                <a:ext uri="{FF2B5EF4-FFF2-40B4-BE49-F238E27FC236}">
                  <a16:creationId xmlns:a16="http://schemas.microsoft.com/office/drawing/2014/main" id="{D3664780-7CE8-E24F-9439-5860AA4A6941}"/>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Graphic 44" descr="Envelope with solid fill">
              <a:extLst>
                <a:ext uri="{FF2B5EF4-FFF2-40B4-BE49-F238E27FC236}">
                  <a16:creationId xmlns:a16="http://schemas.microsoft.com/office/drawing/2014/main" id="{6694DAF1-7DE3-4BAD-7B14-69A2FEF45FF6}"/>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6">
                <a:lumMod val="75000"/>
              </a:schemeClr>
            </a:solidFill>
            <a:ln w="8830" cap="flat">
              <a:solidFill>
                <a:schemeClr val="accent6">
                  <a:lumMod val="75000"/>
                </a:schemeClr>
              </a:solidFill>
              <a:prstDash val="solid"/>
              <a:miter/>
            </a:ln>
          </p:spPr>
          <p:txBody>
            <a:bodyPr rtlCol="0" anchor="ctr"/>
            <a:lstStyle/>
            <a:p>
              <a:endParaRPr lang="en-US" dirty="0"/>
            </a:p>
          </p:txBody>
        </p:sp>
      </p:grpSp>
      <p:grpSp>
        <p:nvGrpSpPr>
          <p:cNvPr id="92" name="Group 91">
            <a:extLst>
              <a:ext uri="{FF2B5EF4-FFF2-40B4-BE49-F238E27FC236}">
                <a16:creationId xmlns:a16="http://schemas.microsoft.com/office/drawing/2014/main" id="{99EE5500-8D65-53B9-629A-A65B6F38F254}"/>
              </a:ext>
            </a:extLst>
          </p:cNvPr>
          <p:cNvGrpSpPr/>
          <p:nvPr/>
        </p:nvGrpSpPr>
        <p:grpSpPr>
          <a:xfrm>
            <a:off x="7259399" y="3421272"/>
            <a:ext cx="253890" cy="177723"/>
            <a:chOff x="1369637" y="1480086"/>
            <a:chExt cx="712544" cy="498780"/>
          </a:xfrm>
        </p:grpSpPr>
        <p:sp>
          <p:nvSpPr>
            <p:cNvPr id="93" name="Rectangle 92">
              <a:extLst>
                <a:ext uri="{FF2B5EF4-FFF2-40B4-BE49-F238E27FC236}">
                  <a16:creationId xmlns:a16="http://schemas.microsoft.com/office/drawing/2014/main" id="{53A2A762-E24D-CCB2-3530-0A1D4E51BF46}"/>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Graphic 44" descr="Envelope with solid fill">
              <a:extLst>
                <a:ext uri="{FF2B5EF4-FFF2-40B4-BE49-F238E27FC236}">
                  <a16:creationId xmlns:a16="http://schemas.microsoft.com/office/drawing/2014/main" id="{4308E7F1-63CC-1015-34F6-BE8D5F60E5A7}"/>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rgbClr val="0070C0"/>
            </a:solidFill>
            <a:ln w="8830" cap="flat">
              <a:solidFill>
                <a:schemeClr val="accent4">
                  <a:lumMod val="75000"/>
                </a:schemeClr>
              </a:solidFill>
              <a:prstDash val="solid"/>
              <a:miter/>
            </a:ln>
          </p:spPr>
          <p:txBody>
            <a:bodyPr rtlCol="0" anchor="ctr"/>
            <a:lstStyle/>
            <a:p>
              <a:endParaRPr lang="en-US"/>
            </a:p>
          </p:txBody>
        </p:sp>
      </p:grpSp>
      <p:grpSp>
        <p:nvGrpSpPr>
          <p:cNvPr id="95" name="Group 94">
            <a:extLst>
              <a:ext uri="{FF2B5EF4-FFF2-40B4-BE49-F238E27FC236}">
                <a16:creationId xmlns:a16="http://schemas.microsoft.com/office/drawing/2014/main" id="{C2760493-EC2C-F5CC-3B95-ABA21AB7D86E}"/>
              </a:ext>
            </a:extLst>
          </p:cNvPr>
          <p:cNvGrpSpPr/>
          <p:nvPr/>
        </p:nvGrpSpPr>
        <p:grpSpPr>
          <a:xfrm>
            <a:off x="6666653" y="3421272"/>
            <a:ext cx="253890" cy="177723"/>
            <a:chOff x="1369637" y="1480086"/>
            <a:chExt cx="712544" cy="498780"/>
          </a:xfrm>
        </p:grpSpPr>
        <p:sp>
          <p:nvSpPr>
            <p:cNvPr id="96" name="Rectangle 95">
              <a:extLst>
                <a:ext uri="{FF2B5EF4-FFF2-40B4-BE49-F238E27FC236}">
                  <a16:creationId xmlns:a16="http://schemas.microsoft.com/office/drawing/2014/main" id="{086C74BA-B7B6-F48C-AD5F-C807B73F6285}"/>
                </a:ext>
              </a:extLst>
            </p:cNvPr>
            <p:cNvSpPr/>
            <p:nvPr/>
          </p:nvSpPr>
          <p:spPr>
            <a:xfrm>
              <a:off x="1398270" y="1508232"/>
              <a:ext cx="651510" cy="442488"/>
            </a:xfrm>
            <a:prstGeom prst="rect">
              <a:avLst/>
            </a:prstGeom>
            <a:solidFill>
              <a:schemeClr val="bg1"/>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Graphic 44" descr="Envelope with solid fill">
              <a:extLst>
                <a:ext uri="{FF2B5EF4-FFF2-40B4-BE49-F238E27FC236}">
                  <a16:creationId xmlns:a16="http://schemas.microsoft.com/office/drawing/2014/main" id="{13D8B84D-79E8-ED72-CA5B-E570577C8B0F}"/>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rgbClr val="0070C0"/>
            </a:solidFill>
            <a:ln w="8830" cap="flat">
              <a:solidFill>
                <a:schemeClr val="accent4">
                  <a:lumMod val="75000"/>
                </a:schemeClr>
              </a:solidFill>
              <a:prstDash val="solid"/>
              <a:miter/>
            </a:ln>
          </p:spPr>
          <p:txBody>
            <a:bodyPr rtlCol="0" anchor="ctr"/>
            <a:lstStyle/>
            <a:p>
              <a:endParaRPr lang="en-US"/>
            </a:p>
          </p:txBody>
        </p:sp>
      </p:grpSp>
      <p:sp>
        <p:nvSpPr>
          <p:cNvPr id="104" name="Rectangle 103">
            <a:extLst>
              <a:ext uri="{FF2B5EF4-FFF2-40B4-BE49-F238E27FC236}">
                <a16:creationId xmlns:a16="http://schemas.microsoft.com/office/drawing/2014/main" id="{47D22DB6-75E0-268D-0884-CD85889E4044}"/>
              </a:ext>
            </a:extLst>
          </p:cNvPr>
          <p:cNvSpPr/>
          <p:nvPr/>
        </p:nvSpPr>
        <p:spPr>
          <a:xfrm>
            <a:off x="8737263" y="1813559"/>
            <a:ext cx="1074708" cy="912445"/>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600" dirty="0">
                <a:solidFill>
                  <a:schemeClr val="accent1">
                    <a:lumMod val="50000"/>
                  </a:schemeClr>
                </a:solidFill>
              </a:rPr>
              <a:t>P&amp;L</a:t>
            </a:r>
            <a:br>
              <a:rPr lang="en-US" sz="1600" dirty="0">
                <a:solidFill>
                  <a:schemeClr val="accent1">
                    <a:lumMod val="50000"/>
                  </a:schemeClr>
                </a:solidFill>
              </a:rPr>
            </a:br>
            <a:r>
              <a:rPr lang="en-US" sz="1600" dirty="0">
                <a:solidFill>
                  <a:schemeClr val="accent1">
                    <a:lumMod val="50000"/>
                  </a:schemeClr>
                </a:solidFill>
              </a:rPr>
              <a:t>Calculator</a:t>
            </a:r>
            <a:br>
              <a:rPr lang="en-US" sz="1600" dirty="0">
                <a:solidFill>
                  <a:schemeClr val="accent1">
                    <a:lumMod val="50000"/>
                  </a:schemeClr>
                </a:solidFill>
              </a:rPr>
            </a:br>
            <a:r>
              <a:rPr lang="en-US" sz="1600" dirty="0">
                <a:solidFill>
                  <a:schemeClr val="accent1">
                    <a:lumMod val="50000"/>
                  </a:schemeClr>
                </a:solidFill>
              </a:rPr>
              <a:t>1</a:t>
            </a:r>
          </a:p>
        </p:txBody>
      </p:sp>
      <p:sp>
        <p:nvSpPr>
          <p:cNvPr id="105" name="Rectangle 104">
            <a:extLst>
              <a:ext uri="{FF2B5EF4-FFF2-40B4-BE49-F238E27FC236}">
                <a16:creationId xmlns:a16="http://schemas.microsoft.com/office/drawing/2014/main" id="{DFF70CFA-68B6-727F-F761-25525B9E3ADF}"/>
              </a:ext>
            </a:extLst>
          </p:cNvPr>
          <p:cNvSpPr/>
          <p:nvPr/>
        </p:nvSpPr>
        <p:spPr>
          <a:xfrm>
            <a:off x="8737263" y="3045266"/>
            <a:ext cx="1075698" cy="912445"/>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600" dirty="0">
                <a:solidFill>
                  <a:schemeClr val="accent1">
                    <a:lumMod val="50000"/>
                  </a:schemeClr>
                </a:solidFill>
              </a:rPr>
              <a:t>P&amp;L</a:t>
            </a:r>
            <a:br>
              <a:rPr lang="en-US" sz="1600" dirty="0">
                <a:solidFill>
                  <a:schemeClr val="accent1">
                    <a:lumMod val="50000"/>
                  </a:schemeClr>
                </a:solidFill>
              </a:rPr>
            </a:br>
            <a:r>
              <a:rPr lang="en-US" sz="1600" dirty="0">
                <a:solidFill>
                  <a:schemeClr val="accent1">
                    <a:lumMod val="50000"/>
                  </a:schemeClr>
                </a:solidFill>
              </a:rPr>
              <a:t>Calculator</a:t>
            </a:r>
            <a:br>
              <a:rPr lang="en-US" sz="1600" dirty="0">
                <a:solidFill>
                  <a:schemeClr val="accent1">
                    <a:lumMod val="50000"/>
                  </a:schemeClr>
                </a:solidFill>
              </a:rPr>
            </a:br>
            <a:r>
              <a:rPr lang="en-US" sz="1600" dirty="0">
                <a:solidFill>
                  <a:schemeClr val="accent1">
                    <a:lumMod val="50000"/>
                  </a:schemeClr>
                </a:solidFill>
              </a:rPr>
              <a:t>2</a:t>
            </a:r>
          </a:p>
        </p:txBody>
      </p:sp>
      <p:sp>
        <p:nvSpPr>
          <p:cNvPr id="106" name="Rectangle 105">
            <a:extLst>
              <a:ext uri="{FF2B5EF4-FFF2-40B4-BE49-F238E27FC236}">
                <a16:creationId xmlns:a16="http://schemas.microsoft.com/office/drawing/2014/main" id="{E0E868D9-B10A-523F-829A-70A53728F832}"/>
              </a:ext>
            </a:extLst>
          </p:cNvPr>
          <p:cNvSpPr/>
          <p:nvPr/>
        </p:nvSpPr>
        <p:spPr>
          <a:xfrm>
            <a:off x="8737263" y="4276973"/>
            <a:ext cx="1075698" cy="912445"/>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600" dirty="0">
                <a:solidFill>
                  <a:schemeClr val="accent1">
                    <a:lumMod val="50000"/>
                  </a:schemeClr>
                </a:solidFill>
              </a:rPr>
              <a:t>P&amp;L</a:t>
            </a:r>
            <a:br>
              <a:rPr lang="en-US" sz="1600" dirty="0">
                <a:solidFill>
                  <a:schemeClr val="accent1">
                    <a:lumMod val="50000"/>
                  </a:schemeClr>
                </a:solidFill>
              </a:rPr>
            </a:br>
            <a:r>
              <a:rPr lang="en-US" sz="1600" dirty="0">
                <a:solidFill>
                  <a:schemeClr val="accent1">
                    <a:lumMod val="50000"/>
                  </a:schemeClr>
                </a:solidFill>
              </a:rPr>
              <a:t>Calculator</a:t>
            </a:r>
            <a:br>
              <a:rPr lang="en-US" sz="1600" dirty="0">
                <a:solidFill>
                  <a:schemeClr val="accent1">
                    <a:lumMod val="50000"/>
                  </a:schemeClr>
                </a:solidFill>
              </a:rPr>
            </a:br>
            <a:r>
              <a:rPr lang="en-US" sz="1600" dirty="0">
                <a:solidFill>
                  <a:schemeClr val="accent1">
                    <a:lumMod val="50000"/>
                  </a:schemeClr>
                </a:solidFill>
              </a:rPr>
              <a:t>n</a:t>
            </a:r>
          </a:p>
        </p:txBody>
      </p:sp>
      <p:grpSp>
        <p:nvGrpSpPr>
          <p:cNvPr id="118" name="Group 117">
            <a:extLst>
              <a:ext uri="{FF2B5EF4-FFF2-40B4-BE49-F238E27FC236}">
                <a16:creationId xmlns:a16="http://schemas.microsoft.com/office/drawing/2014/main" id="{6C9538B8-A282-6C31-C2B4-8A53D3D2C5C6}"/>
              </a:ext>
            </a:extLst>
          </p:cNvPr>
          <p:cNvGrpSpPr/>
          <p:nvPr/>
        </p:nvGrpSpPr>
        <p:grpSpPr>
          <a:xfrm>
            <a:off x="4707889" y="3069573"/>
            <a:ext cx="110595" cy="872028"/>
            <a:chOff x="3021329" y="3069573"/>
            <a:chExt cx="110595" cy="872028"/>
          </a:xfrm>
          <a:noFill/>
        </p:grpSpPr>
        <p:sp>
          <p:nvSpPr>
            <p:cNvPr id="108" name="Rectangle 107">
              <a:extLst>
                <a:ext uri="{FF2B5EF4-FFF2-40B4-BE49-F238E27FC236}">
                  <a16:creationId xmlns:a16="http://schemas.microsoft.com/office/drawing/2014/main" id="{7EC6CA49-2C93-B815-AB90-6C984E21DC12}"/>
                </a:ext>
              </a:extLst>
            </p:cNvPr>
            <p:cNvSpPr/>
            <p:nvPr/>
          </p:nvSpPr>
          <p:spPr>
            <a:xfrm>
              <a:off x="3021329" y="3069573"/>
              <a:ext cx="110595" cy="255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B93DAAA9-7AAC-07D6-0D93-DE2278CD6136}"/>
                </a:ext>
              </a:extLst>
            </p:cNvPr>
            <p:cNvSpPr/>
            <p:nvPr/>
          </p:nvSpPr>
          <p:spPr>
            <a:xfrm>
              <a:off x="3021329" y="3379006"/>
              <a:ext cx="110595" cy="255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1F348179-8DD8-B5F7-FAAB-95EF392A1651}"/>
                </a:ext>
              </a:extLst>
            </p:cNvPr>
            <p:cNvSpPr/>
            <p:nvPr/>
          </p:nvSpPr>
          <p:spPr>
            <a:xfrm>
              <a:off x="3021329" y="3686331"/>
              <a:ext cx="110595" cy="255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7" name="Group 116">
            <a:extLst>
              <a:ext uri="{FF2B5EF4-FFF2-40B4-BE49-F238E27FC236}">
                <a16:creationId xmlns:a16="http://schemas.microsoft.com/office/drawing/2014/main" id="{57BAE8CF-D1DF-20B4-7D97-CEF183F8E75D}"/>
              </a:ext>
            </a:extLst>
          </p:cNvPr>
          <p:cNvGrpSpPr/>
          <p:nvPr/>
        </p:nvGrpSpPr>
        <p:grpSpPr>
          <a:xfrm>
            <a:off x="8007275" y="3069573"/>
            <a:ext cx="110595" cy="872028"/>
            <a:chOff x="6569510" y="3069573"/>
            <a:chExt cx="110595" cy="872028"/>
          </a:xfrm>
          <a:noFill/>
        </p:grpSpPr>
        <p:sp>
          <p:nvSpPr>
            <p:cNvPr id="114" name="Rectangle 113">
              <a:extLst>
                <a:ext uri="{FF2B5EF4-FFF2-40B4-BE49-F238E27FC236}">
                  <a16:creationId xmlns:a16="http://schemas.microsoft.com/office/drawing/2014/main" id="{5094D950-B58B-DA40-A69E-43CD331DF443}"/>
                </a:ext>
              </a:extLst>
            </p:cNvPr>
            <p:cNvSpPr/>
            <p:nvPr/>
          </p:nvSpPr>
          <p:spPr>
            <a:xfrm>
              <a:off x="6569510" y="3069573"/>
              <a:ext cx="110595" cy="255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003092F7-DF9C-9841-F815-032BD8A2064C}"/>
                </a:ext>
              </a:extLst>
            </p:cNvPr>
            <p:cNvSpPr/>
            <p:nvPr/>
          </p:nvSpPr>
          <p:spPr>
            <a:xfrm>
              <a:off x="6569510" y="3379006"/>
              <a:ext cx="110595" cy="255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a:extLst>
                <a:ext uri="{FF2B5EF4-FFF2-40B4-BE49-F238E27FC236}">
                  <a16:creationId xmlns:a16="http://schemas.microsoft.com/office/drawing/2014/main" id="{2A28286E-318A-0BBF-373B-5D6DA084B00F}"/>
                </a:ext>
              </a:extLst>
            </p:cNvPr>
            <p:cNvSpPr/>
            <p:nvPr/>
          </p:nvSpPr>
          <p:spPr>
            <a:xfrm>
              <a:off x="6569510" y="3686331"/>
              <a:ext cx="110595" cy="255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5" name="Straight Arrow Connector 124">
            <a:extLst>
              <a:ext uri="{FF2B5EF4-FFF2-40B4-BE49-F238E27FC236}">
                <a16:creationId xmlns:a16="http://schemas.microsoft.com/office/drawing/2014/main" id="{F8C2257E-7BEE-01E9-8325-6E51D4F4E441}"/>
              </a:ext>
            </a:extLst>
          </p:cNvPr>
          <p:cNvCxnSpPr>
            <a:cxnSpLocks/>
            <a:stCxn id="114" idx="3"/>
            <a:endCxn id="104" idx="1"/>
          </p:cNvCxnSpPr>
          <p:nvPr/>
        </p:nvCxnSpPr>
        <p:spPr>
          <a:xfrm flipV="1">
            <a:off x="8117870" y="2269782"/>
            <a:ext cx="619393" cy="927426"/>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28" name="Straight Arrow Connector 127">
            <a:extLst>
              <a:ext uri="{FF2B5EF4-FFF2-40B4-BE49-F238E27FC236}">
                <a16:creationId xmlns:a16="http://schemas.microsoft.com/office/drawing/2014/main" id="{B6E6CD81-F89D-C0F5-FB24-C314A1F13553}"/>
              </a:ext>
            </a:extLst>
          </p:cNvPr>
          <p:cNvCxnSpPr>
            <a:cxnSpLocks/>
            <a:stCxn id="115" idx="3"/>
            <a:endCxn id="105" idx="1"/>
          </p:cNvCxnSpPr>
          <p:nvPr/>
        </p:nvCxnSpPr>
        <p:spPr>
          <a:xfrm flipV="1">
            <a:off x="8117870" y="3501489"/>
            <a:ext cx="619393" cy="5152"/>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31" name="Straight Arrow Connector 130">
            <a:extLst>
              <a:ext uri="{FF2B5EF4-FFF2-40B4-BE49-F238E27FC236}">
                <a16:creationId xmlns:a16="http://schemas.microsoft.com/office/drawing/2014/main" id="{90627006-07B6-37E8-F17A-28ABD0A22732}"/>
              </a:ext>
            </a:extLst>
          </p:cNvPr>
          <p:cNvCxnSpPr>
            <a:cxnSpLocks/>
            <a:stCxn id="116" idx="3"/>
            <a:endCxn id="106" idx="1"/>
          </p:cNvCxnSpPr>
          <p:nvPr/>
        </p:nvCxnSpPr>
        <p:spPr>
          <a:xfrm>
            <a:off x="8117870" y="3813966"/>
            <a:ext cx="619393" cy="91923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nvGrpSpPr>
          <p:cNvPr id="135" name="Group 134">
            <a:extLst>
              <a:ext uri="{FF2B5EF4-FFF2-40B4-BE49-F238E27FC236}">
                <a16:creationId xmlns:a16="http://schemas.microsoft.com/office/drawing/2014/main" id="{D72EE044-31E7-ABBC-CF49-D737A27EFB76}"/>
              </a:ext>
            </a:extLst>
          </p:cNvPr>
          <p:cNvGrpSpPr/>
          <p:nvPr/>
        </p:nvGrpSpPr>
        <p:grpSpPr>
          <a:xfrm>
            <a:off x="8332776" y="2514704"/>
            <a:ext cx="253890" cy="177723"/>
            <a:chOff x="1369637" y="1480086"/>
            <a:chExt cx="712544" cy="498780"/>
          </a:xfrm>
        </p:grpSpPr>
        <p:sp>
          <p:nvSpPr>
            <p:cNvPr id="136" name="Rectangle 135">
              <a:extLst>
                <a:ext uri="{FF2B5EF4-FFF2-40B4-BE49-F238E27FC236}">
                  <a16:creationId xmlns:a16="http://schemas.microsoft.com/office/drawing/2014/main" id="{947F7B17-9631-E86F-FF59-A02C03940D5F}"/>
                </a:ext>
              </a:extLst>
            </p:cNvPr>
            <p:cNvSpPr/>
            <p:nvPr/>
          </p:nvSpPr>
          <p:spPr>
            <a:xfrm>
              <a:off x="1398270" y="1508232"/>
              <a:ext cx="651510" cy="442488"/>
            </a:xfrm>
            <a:prstGeom prst="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Graphic 44" descr="Envelope with solid fill">
              <a:extLst>
                <a:ext uri="{FF2B5EF4-FFF2-40B4-BE49-F238E27FC236}">
                  <a16:creationId xmlns:a16="http://schemas.microsoft.com/office/drawing/2014/main" id="{E6A6AF46-9AD1-0FBF-ED74-B9E25325DBC2}"/>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2"/>
            </a:solidFill>
            <a:ln w="8830" cap="flat">
              <a:solidFill>
                <a:schemeClr val="accent2"/>
              </a:solidFill>
              <a:prstDash val="solid"/>
              <a:miter/>
            </a:ln>
          </p:spPr>
          <p:txBody>
            <a:bodyPr rtlCol="0" anchor="ctr"/>
            <a:lstStyle/>
            <a:p>
              <a:endParaRPr lang="en-US"/>
            </a:p>
          </p:txBody>
        </p:sp>
      </p:grpSp>
      <p:grpSp>
        <p:nvGrpSpPr>
          <p:cNvPr id="138" name="Group 137">
            <a:extLst>
              <a:ext uri="{FF2B5EF4-FFF2-40B4-BE49-F238E27FC236}">
                <a16:creationId xmlns:a16="http://schemas.microsoft.com/office/drawing/2014/main" id="{D2803428-0500-DBBF-77CC-D87F74A034ED}"/>
              </a:ext>
            </a:extLst>
          </p:cNvPr>
          <p:cNvGrpSpPr/>
          <p:nvPr/>
        </p:nvGrpSpPr>
        <p:grpSpPr>
          <a:xfrm>
            <a:off x="8221076" y="2790267"/>
            <a:ext cx="253890" cy="177723"/>
            <a:chOff x="1369637" y="1480086"/>
            <a:chExt cx="712544" cy="498780"/>
          </a:xfrm>
        </p:grpSpPr>
        <p:sp>
          <p:nvSpPr>
            <p:cNvPr id="139" name="Rectangle 138">
              <a:extLst>
                <a:ext uri="{FF2B5EF4-FFF2-40B4-BE49-F238E27FC236}">
                  <a16:creationId xmlns:a16="http://schemas.microsoft.com/office/drawing/2014/main" id="{93D0CEA5-3361-A9C7-D07C-8E1A3A11B3A0}"/>
                </a:ext>
              </a:extLst>
            </p:cNvPr>
            <p:cNvSpPr/>
            <p:nvPr/>
          </p:nvSpPr>
          <p:spPr>
            <a:xfrm>
              <a:off x="1398270" y="1508232"/>
              <a:ext cx="651510" cy="442488"/>
            </a:xfrm>
            <a:prstGeom prst="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Graphic 44" descr="Envelope with solid fill">
              <a:extLst>
                <a:ext uri="{FF2B5EF4-FFF2-40B4-BE49-F238E27FC236}">
                  <a16:creationId xmlns:a16="http://schemas.microsoft.com/office/drawing/2014/main" id="{3B868B2A-F55A-E903-B527-D02C420EF5A4}"/>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2"/>
            </a:solidFill>
            <a:ln w="8830" cap="flat">
              <a:solidFill>
                <a:schemeClr val="accent2"/>
              </a:solidFill>
              <a:prstDash val="solid"/>
              <a:miter/>
            </a:ln>
          </p:spPr>
          <p:txBody>
            <a:bodyPr rtlCol="0" anchor="ctr"/>
            <a:lstStyle/>
            <a:p>
              <a:endParaRPr lang="en-US"/>
            </a:p>
          </p:txBody>
        </p:sp>
      </p:grpSp>
      <p:grpSp>
        <p:nvGrpSpPr>
          <p:cNvPr id="141" name="Group 140">
            <a:extLst>
              <a:ext uri="{FF2B5EF4-FFF2-40B4-BE49-F238E27FC236}">
                <a16:creationId xmlns:a16="http://schemas.microsoft.com/office/drawing/2014/main" id="{60D53420-3F8D-077A-97A7-ECA698910F38}"/>
              </a:ext>
            </a:extLst>
          </p:cNvPr>
          <p:cNvGrpSpPr/>
          <p:nvPr/>
        </p:nvGrpSpPr>
        <p:grpSpPr>
          <a:xfrm>
            <a:off x="8239751" y="3410168"/>
            <a:ext cx="253890" cy="177723"/>
            <a:chOff x="1369637" y="1480086"/>
            <a:chExt cx="712544" cy="498780"/>
          </a:xfrm>
        </p:grpSpPr>
        <p:sp>
          <p:nvSpPr>
            <p:cNvPr id="142" name="Rectangle 141">
              <a:extLst>
                <a:ext uri="{FF2B5EF4-FFF2-40B4-BE49-F238E27FC236}">
                  <a16:creationId xmlns:a16="http://schemas.microsoft.com/office/drawing/2014/main" id="{EC9C7060-D84B-3359-EA9C-5E42C77452B9}"/>
                </a:ext>
              </a:extLst>
            </p:cNvPr>
            <p:cNvSpPr/>
            <p:nvPr/>
          </p:nvSpPr>
          <p:spPr>
            <a:xfrm>
              <a:off x="1398270" y="1508232"/>
              <a:ext cx="651510" cy="442488"/>
            </a:xfrm>
            <a:prstGeom prst="rect">
              <a:avLst/>
            </a:prstGeom>
            <a:solidFill>
              <a:schemeClr val="bg1"/>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Graphic 44" descr="Envelope with solid fill">
              <a:extLst>
                <a:ext uri="{FF2B5EF4-FFF2-40B4-BE49-F238E27FC236}">
                  <a16:creationId xmlns:a16="http://schemas.microsoft.com/office/drawing/2014/main" id="{96E73D48-428F-B41D-5454-BB8874A48119}"/>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rgbClr val="0070C0"/>
            </a:solidFill>
            <a:ln w="8830" cap="flat">
              <a:solidFill>
                <a:schemeClr val="accent4">
                  <a:lumMod val="75000"/>
                </a:schemeClr>
              </a:solidFill>
              <a:prstDash val="solid"/>
              <a:miter/>
            </a:ln>
          </p:spPr>
          <p:txBody>
            <a:bodyPr rtlCol="0" anchor="ctr"/>
            <a:lstStyle/>
            <a:p>
              <a:endParaRPr lang="en-US"/>
            </a:p>
          </p:txBody>
        </p:sp>
      </p:grpSp>
      <p:grpSp>
        <p:nvGrpSpPr>
          <p:cNvPr id="144" name="Group 143">
            <a:extLst>
              <a:ext uri="{FF2B5EF4-FFF2-40B4-BE49-F238E27FC236}">
                <a16:creationId xmlns:a16="http://schemas.microsoft.com/office/drawing/2014/main" id="{E84E4976-F532-52A2-1222-053487410983}"/>
              </a:ext>
            </a:extLst>
          </p:cNvPr>
          <p:cNvGrpSpPr/>
          <p:nvPr/>
        </p:nvGrpSpPr>
        <p:grpSpPr>
          <a:xfrm>
            <a:off x="8367774" y="4316490"/>
            <a:ext cx="253890" cy="177723"/>
            <a:chOff x="1369637" y="1480086"/>
            <a:chExt cx="712544" cy="498780"/>
          </a:xfrm>
        </p:grpSpPr>
        <p:sp>
          <p:nvSpPr>
            <p:cNvPr id="145" name="Rectangle 144">
              <a:extLst>
                <a:ext uri="{FF2B5EF4-FFF2-40B4-BE49-F238E27FC236}">
                  <a16:creationId xmlns:a16="http://schemas.microsoft.com/office/drawing/2014/main" id="{37C1BF51-7E36-CE0B-CACF-D1CDBC6F38E0}"/>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Graphic 44" descr="Envelope with solid fill">
              <a:extLst>
                <a:ext uri="{FF2B5EF4-FFF2-40B4-BE49-F238E27FC236}">
                  <a16:creationId xmlns:a16="http://schemas.microsoft.com/office/drawing/2014/main" id="{4DD6FEF4-3D09-48F0-02AE-C66C8925BA96}"/>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6">
                <a:lumMod val="75000"/>
              </a:schemeClr>
            </a:solidFill>
            <a:ln w="8830" cap="flat">
              <a:solidFill>
                <a:schemeClr val="accent6">
                  <a:lumMod val="75000"/>
                </a:schemeClr>
              </a:solidFill>
              <a:prstDash val="solid"/>
              <a:miter/>
            </a:ln>
          </p:spPr>
          <p:txBody>
            <a:bodyPr rtlCol="0" anchor="ctr"/>
            <a:lstStyle/>
            <a:p>
              <a:endParaRPr lang="en-US"/>
            </a:p>
          </p:txBody>
        </p:sp>
      </p:grpSp>
      <p:sp>
        <p:nvSpPr>
          <p:cNvPr id="148" name="Rectangle 147">
            <a:extLst>
              <a:ext uri="{FF2B5EF4-FFF2-40B4-BE49-F238E27FC236}">
                <a16:creationId xmlns:a16="http://schemas.microsoft.com/office/drawing/2014/main" id="{97075E54-AF7F-FDA1-F8FF-B14D2A2A8AA2}"/>
              </a:ext>
            </a:extLst>
          </p:cNvPr>
          <p:cNvSpPr/>
          <p:nvPr/>
        </p:nvSpPr>
        <p:spPr>
          <a:xfrm>
            <a:off x="3060273" y="2900949"/>
            <a:ext cx="1209480" cy="1211384"/>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lumMod val="50000"/>
                  </a:schemeClr>
                </a:solidFill>
              </a:rPr>
              <a:t>Accounting</a:t>
            </a:r>
          </a:p>
          <a:p>
            <a:pPr algn="ctr"/>
            <a:r>
              <a:rPr lang="en-US" sz="1600" dirty="0">
                <a:solidFill>
                  <a:schemeClr val="accent1">
                    <a:lumMod val="50000"/>
                  </a:schemeClr>
                </a:solidFill>
              </a:rPr>
              <a:t>Trade</a:t>
            </a:r>
          </a:p>
          <a:p>
            <a:pPr algn="ctr"/>
            <a:r>
              <a:rPr lang="en-US" sz="1600" dirty="0">
                <a:solidFill>
                  <a:schemeClr val="accent1">
                    <a:lumMod val="50000"/>
                  </a:schemeClr>
                </a:solidFill>
              </a:rPr>
              <a:t>Queue Manager</a:t>
            </a:r>
          </a:p>
        </p:txBody>
      </p:sp>
      <p:cxnSp>
        <p:nvCxnSpPr>
          <p:cNvPr id="163" name="Straight Arrow Connector 162">
            <a:extLst>
              <a:ext uri="{FF2B5EF4-FFF2-40B4-BE49-F238E27FC236}">
                <a16:creationId xmlns:a16="http://schemas.microsoft.com/office/drawing/2014/main" id="{4D7E6F66-F8A3-AC4E-4E39-52CB80D786E2}"/>
              </a:ext>
            </a:extLst>
          </p:cNvPr>
          <p:cNvCxnSpPr>
            <a:cxnSpLocks/>
            <a:stCxn id="148" idx="3"/>
            <a:endCxn id="42" idx="1"/>
          </p:cNvCxnSpPr>
          <p:nvPr/>
        </p:nvCxnSpPr>
        <p:spPr>
          <a:xfrm flipV="1">
            <a:off x="4269753" y="3504534"/>
            <a:ext cx="435177" cy="2107"/>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nvGrpSpPr>
          <p:cNvPr id="169" name="Group 168">
            <a:extLst>
              <a:ext uri="{FF2B5EF4-FFF2-40B4-BE49-F238E27FC236}">
                <a16:creationId xmlns:a16="http://schemas.microsoft.com/office/drawing/2014/main" id="{5DC3C770-45D5-5507-4B50-64C74682EC8F}"/>
              </a:ext>
            </a:extLst>
          </p:cNvPr>
          <p:cNvGrpSpPr/>
          <p:nvPr/>
        </p:nvGrpSpPr>
        <p:grpSpPr>
          <a:xfrm>
            <a:off x="1333144" y="3414588"/>
            <a:ext cx="253890" cy="177723"/>
            <a:chOff x="1369637" y="1480086"/>
            <a:chExt cx="712544" cy="498780"/>
          </a:xfrm>
        </p:grpSpPr>
        <p:sp>
          <p:nvSpPr>
            <p:cNvPr id="170" name="Rectangle 169">
              <a:extLst>
                <a:ext uri="{FF2B5EF4-FFF2-40B4-BE49-F238E27FC236}">
                  <a16:creationId xmlns:a16="http://schemas.microsoft.com/office/drawing/2014/main" id="{23725590-9B28-EC72-3953-D62F16D51C48}"/>
                </a:ext>
              </a:extLst>
            </p:cNvPr>
            <p:cNvSpPr/>
            <p:nvPr/>
          </p:nvSpPr>
          <p:spPr>
            <a:xfrm>
              <a:off x="1398270" y="1508232"/>
              <a:ext cx="651510" cy="442488"/>
            </a:xfrm>
            <a:prstGeom prst="rect">
              <a:avLst/>
            </a:prstGeom>
            <a:solidFill>
              <a:schemeClr val="bg1"/>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Graphic 44" descr="Envelope with solid fill">
              <a:extLst>
                <a:ext uri="{FF2B5EF4-FFF2-40B4-BE49-F238E27FC236}">
                  <a16:creationId xmlns:a16="http://schemas.microsoft.com/office/drawing/2014/main" id="{D9A245F0-78A8-FD5A-9AEF-708922847000}"/>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rgbClr val="0070C0"/>
            </a:solidFill>
            <a:ln w="8830" cap="flat">
              <a:solidFill>
                <a:schemeClr val="accent4">
                  <a:lumMod val="75000"/>
                </a:schemeClr>
              </a:solidFill>
              <a:prstDash val="solid"/>
              <a:miter/>
            </a:ln>
          </p:spPr>
          <p:txBody>
            <a:bodyPr rtlCol="0" anchor="ctr"/>
            <a:lstStyle/>
            <a:p>
              <a:endParaRPr lang="en-US"/>
            </a:p>
          </p:txBody>
        </p:sp>
      </p:grpSp>
      <p:grpSp>
        <p:nvGrpSpPr>
          <p:cNvPr id="172" name="Group 171">
            <a:extLst>
              <a:ext uri="{FF2B5EF4-FFF2-40B4-BE49-F238E27FC236}">
                <a16:creationId xmlns:a16="http://schemas.microsoft.com/office/drawing/2014/main" id="{810AE465-F873-7C2C-10BF-52935B511E30}"/>
              </a:ext>
            </a:extLst>
          </p:cNvPr>
          <p:cNvGrpSpPr/>
          <p:nvPr/>
        </p:nvGrpSpPr>
        <p:grpSpPr>
          <a:xfrm>
            <a:off x="1675803" y="3414588"/>
            <a:ext cx="253890" cy="177723"/>
            <a:chOff x="1369637" y="1480086"/>
            <a:chExt cx="712544" cy="498780"/>
          </a:xfrm>
        </p:grpSpPr>
        <p:sp>
          <p:nvSpPr>
            <p:cNvPr id="173" name="Rectangle 172">
              <a:extLst>
                <a:ext uri="{FF2B5EF4-FFF2-40B4-BE49-F238E27FC236}">
                  <a16:creationId xmlns:a16="http://schemas.microsoft.com/office/drawing/2014/main" id="{2BA871E7-CA6E-630D-FD29-69B7C3DD47B3}"/>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Graphic 44" descr="Envelope with solid fill">
              <a:extLst>
                <a:ext uri="{FF2B5EF4-FFF2-40B4-BE49-F238E27FC236}">
                  <a16:creationId xmlns:a16="http://schemas.microsoft.com/office/drawing/2014/main" id="{99698B49-0A8F-E029-0BB6-9DFDB14B1760}"/>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2"/>
            </a:solidFill>
            <a:ln w="8830" cap="flat">
              <a:solidFill>
                <a:schemeClr val="accent2"/>
              </a:solidFill>
              <a:prstDash val="solid"/>
              <a:miter/>
            </a:ln>
          </p:spPr>
          <p:txBody>
            <a:bodyPr rtlCol="0" anchor="ctr"/>
            <a:lstStyle/>
            <a:p>
              <a:endParaRPr lang="en-US"/>
            </a:p>
          </p:txBody>
        </p:sp>
      </p:grpSp>
      <p:sp>
        <p:nvSpPr>
          <p:cNvPr id="3" name="Rectangle 2">
            <a:extLst>
              <a:ext uri="{FF2B5EF4-FFF2-40B4-BE49-F238E27FC236}">
                <a16:creationId xmlns:a16="http://schemas.microsoft.com/office/drawing/2014/main" id="{942C4A3E-4988-C39A-4C28-27AA5DFA84FC}"/>
              </a:ext>
            </a:extLst>
          </p:cNvPr>
          <p:cNvSpPr/>
          <p:nvPr/>
        </p:nvSpPr>
        <p:spPr>
          <a:xfrm>
            <a:off x="9811971" y="1813559"/>
            <a:ext cx="342438" cy="912445"/>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1600" dirty="0">
                <a:solidFill>
                  <a:schemeClr val="accent1">
                    <a:lumMod val="50000"/>
                  </a:schemeClr>
                </a:solidFill>
              </a:rPr>
              <a:t>Cache</a:t>
            </a:r>
          </a:p>
        </p:txBody>
      </p:sp>
      <p:sp>
        <p:nvSpPr>
          <p:cNvPr id="9" name="Rectangle 8">
            <a:extLst>
              <a:ext uri="{FF2B5EF4-FFF2-40B4-BE49-F238E27FC236}">
                <a16:creationId xmlns:a16="http://schemas.microsoft.com/office/drawing/2014/main" id="{A2861E0C-7C3C-DC1F-7273-2B3B031C1EBC}"/>
              </a:ext>
            </a:extLst>
          </p:cNvPr>
          <p:cNvSpPr/>
          <p:nvPr/>
        </p:nvSpPr>
        <p:spPr>
          <a:xfrm>
            <a:off x="9811971" y="3045266"/>
            <a:ext cx="342438" cy="912445"/>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1600" dirty="0">
                <a:solidFill>
                  <a:schemeClr val="accent1">
                    <a:lumMod val="50000"/>
                  </a:schemeClr>
                </a:solidFill>
              </a:rPr>
              <a:t>Cache</a:t>
            </a:r>
          </a:p>
        </p:txBody>
      </p:sp>
      <p:sp>
        <p:nvSpPr>
          <p:cNvPr id="11" name="Rectangle 10">
            <a:extLst>
              <a:ext uri="{FF2B5EF4-FFF2-40B4-BE49-F238E27FC236}">
                <a16:creationId xmlns:a16="http://schemas.microsoft.com/office/drawing/2014/main" id="{FE516D7F-7879-4D16-2A5E-B7E994B7EDAC}"/>
              </a:ext>
            </a:extLst>
          </p:cNvPr>
          <p:cNvSpPr/>
          <p:nvPr/>
        </p:nvSpPr>
        <p:spPr>
          <a:xfrm>
            <a:off x="9811971" y="4276972"/>
            <a:ext cx="342438" cy="912445"/>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1600" dirty="0">
                <a:solidFill>
                  <a:schemeClr val="accent1">
                    <a:lumMod val="50000"/>
                  </a:schemeClr>
                </a:solidFill>
              </a:rPr>
              <a:t>Cache</a:t>
            </a:r>
          </a:p>
        </p:txBody>
      </p:sp>
      <p:sp>
        <p:nvSpPr>
          <p:cNvPr id="6" name="TextBox 5">
            <a:extLst>
              <a:ext uri="{FF2B5EF4-FFF2-40B4-BE49-F238E27FC236}">
                <a16:creationId xmlns:a16="http://schemas.microsoft.com/office/drawing/2014/main" id="{B32AE1D9-F856-C54A-4330-8726A188C5F4}"/>
              </a:ext>
            </a:extLst>
          </p:cNvPr>
          <p:cNvSpPr txBox="1"/>
          <p:nvPr/>
        </p:nvSpPr>
        <p:spPr>
          <a:xfrm>
            <a:off x="1413613" y="2392871"/>
            <a:ext cx="2251400" cy="338554"/>
          </a:xfrm>
          <a:prstGeom prst="rect">
            <a:avLst/>
          </a:prstGeom>
          <a:noFill/>
        </p:spPr>
        <p:txBody>
          <a:bodyPr wrap="square" rtlCol="0">
            <a:spAutoFit/>
          </a:bodyPr>
          <a:lstStyle/>
          <a:p>
            <a:pPr algn="ctr"/>
            <a:r>
              <a:rPr lang="en-US" sz="1600" i="1" dirty="0">
                <a:highlight>
                  <a:srgbClr val="FFFF00"/>
                </a:highlight>
              </a:rPr>
              <a:t>Publisher/Subscriber</a:t>
            </a:r>
          </a:p>
        </p:txBody>
      </p:sp>
      <p:sp>
        <p:nvSpPr>
          <p:cNvPr id="7" name="TextBox 6">
            <a:extLst>
              <a:ext uri="{FF2B5EF4-FFF2-40B4-BE49-F238E27FC236}">
                <a16:creationId xmlns:a16="http://schemas.microsoft.com/office/drawing/2014/main" id="{FB5F182B-C638-609D-00A3-6DCD7FFB36E4}"/>
              </a:ext>
            </a:extLst>
          </p:cNvPr>
          <p:cNvSpPr txBox="1"/>
          <p:nvPr/>
        </p:nvSpPr>
        <p:spPr>
          <a:xfrm>
            <a:off x="5438678" y="2173116"/>
            <a:ext cx="1945444" cy="338554"/>
          </a:xfrm>
          <a:prstGeom prst="rect">
            <a:avLst/>
          </a:prstGeom>
          <a:noFill/>
        </p:spPr>
        <p:txBody>
          <a:bodyPr wrap="square" rtlCol="0">
            <a:spAutoFit/>
          </a:bodyPr>
          <a:lstStyle/>
          <a:p>
            <a:pPr algn="ctr"/>
            <a:r>
              <a:rPr lang="en-US" sz="1600" i="1" dirty="0">
                <a:highlight>
                  <a:srgbClr val="FFFF00"/>
                </a:highlight>
              </a:rPr>
              <a:t>Sequential Convoy </a:t>
            </a:r>
          </a:p>
        </p:txBody>
      </p:sp>
      <p:sp>
        <p:nvSpPr>
          <p:cNvPr id="8" name="TextBox 7">
            <a:extLst>
              <a:ext uri="{FF2B5EF4-FFF2-40B4-BE49-F238E27FC236}">
                <a16:creationId xmlns:a16="http://schemas.microsoft.com/office/drawing/2014/main" id="{04C5B9FA-95A2-C3FA-CCF3-1EFCADEEE6C2}"/>
              </a:ext>
            </a:extLst>
          </p:cNvPr>
          <p:cNvSpPr txBox="1"/>
          <p:nvPr/>
        </p:nvSpPr>
        <p:spPr>
          <a:xfrm>
            <a:off x="7401240" y="1325438"/>
            <a:ext cx="3412940" cy="584775"/>
          </a:xfrm>
          <a:prstGeom prst="rect">
            <a:avLst/>
          </a:prstGeom>
          <a:noFill/>
        </p:spPr>
        <p:txBody>
          <a:bodyPr wrap="square" rtlCol="0">
            <a:spAutoFit/>
          </a:bodyPr>
          <a:lstStyle/>
          <a:p>
            <a:pPr algn="ctr"/>
            <a:r>
              <a:rPr lang="en-US" sz="1600" i="1" dirty="0">
                <a:highlight>
                  <a:srgbClr val="FFFF00"/>
                </a:highlight>
              </a:rPr>
              <a:t>Session</a:t>
            </a:r>
            <a:br>
              <a:rPr lang="en-US" sz="1600" i="1" dirty="0">
                <a:highlight>
                  <a:srgbClr val="FFFF00"/>
                </a:highlight>
              </a:rPr>
            </a:br>
            <a:r>
              <a:rPr lang="en-US" sz="1600" i="1" dirty="0">
                <a:highlight>
                  <a:srgbClr val="FFFF00"/>
                </a:highlight>
              </a:rPr>
              <a:t>Consumer</a:t>
            </a:r>
          </a:p>
        </p:txBody>
      </p:sp>
      <p:sp>
        <p:nvSpPr>
          <p:cNvPr id="13" name="TextBox 12">
            <a:extLst>
              <a:ext uri="{FF2B5EF4-FFF2-40B4-BE49-F238E27FC236}">
                <a16:creationId xmlns:a16="http://schemas.microsoft.com/office/drawing/2014/main" id="{54AC97B5-AAD3-94FA-D91E-8DD120815C45}"/>
              </a:ext>
            </a:extLst>
          </p:cNvPr>
          <p:cNvSpPr txBox="1"/>
          <p:nvPr/>
        </p:nvSpPr>
        <p:spPr>
          <a:xfrm>
            <a:off x="9814099" y="1633323"/>
            <a:ext cx="1021481" cy="338554"/>
          </a:xfrm>
          <a:prstGeom prst="rect">
            <a:avLst/>
          </a:prstGeom>
          <a:noFill/>
        </p:spPr>
        <p:txBody>
          <a:bodyPr wrap="square" rtlCol="0">
            <a:spAutoFit/>
          </a:bodyPr>
          <a:lstStyle/>
          <a:p>
            <a:pPr algn="ctr"/>
            <a:r>
              <a:rPr lang="en-US" sz="1600" i="1" dirty="0">
                <a:highlight>
                  <a:srgbClr val="FFFF00"/>
                </a:highlight>
              </a:rPr>
              <a:t>Cache</a:t>
            </a:r>
          </a:p>
        </p:txBody>
      </p:sp>
      <p:sp>
        <p:nvSpPr>
          <p:cNvPr id="14" name="TextBox 13">
            <a:extLst>
              <a:ext uri="{FF2B5EF4-FFF2-40B4-BE49-F238E27FC236}">
                <a16:creationId xmlns:a16="http://schemas.microsoft.com/office/drawing/2014/main" id="{7B924400-B738-EF42-D2EB-FDABD212989F}"/>
              </a:ext>
            </a:extLst>
          </p:cNvPr>
          <p:cNvSpPr txBox="1"/>
          <p:nvPr/>
        </p:nvSpPr>
        <p:spPr>
          <a:xfrm>
            <a:off x="10405215" y="2453611"/>
            <a:ext cx="1301521" cy="584775"/>
          </a:xfrm>
          <a:prstGeom prst="rect">
            <a:avLst/>
          </a:prstGeom>
          <a:noFill/>
        </p:spPr>
        <p:txBody>
          <a:bodyPr wrap="square" rtlCol="0">
            <a:spAutoFit/>
          </a:bodyPr>
          <a:lstStyle/>
          <a:p>
            <a:pPr algn="ctr"/>
            <a:r>
              <a:rPr lang="en-US" sz="1600" i="1" dirty="0">
                <a:highlight>
                  <a:srgbClr val="FFFF00"/>
                </a:highlight>
              </a:rPr>
              <a:t>Relational</a:t>
            </a:r>
            <a:br>
              <a:rPr lang="en-US" sz="1600" i="1" dirty="0">
                <a:highlight>
                  <a:srgbClr val="FFFF00"/>
                </a:highlight>
              </a:rPr>
            </a:br>
            <a:r>
              <a:rPr lang="en-US" sz="1600" i="1" dirty="0">
                <a:highlight>
                  <a:srgbClr val="FFFF00"/>
                </a:highlight>
              </a:rPr>
              <a:t>Store</a:t>
            </a:r>
          </a:p>
        </p:txBody>
      </p:sp>
      <p:cxnSp>
        <p:nvCxnSpPr>
          <p:cNvPr id="15" name="Straight Arrow Connector 14">
            <a:extLst>
              <a:ext uri="{FF2B5EF4-FFF2-40B4-BE49-F238E27FC236}">
                <a16:creationId xmlns:a16="http://schemas.microsoft.com/office/drawing/2014/main" id="{381C07D0-EBBA-1D3A-84EC-04FC31A73637}"/>
              </a:ext>
            </a:extLst>
          </p:cNvPr>
          <p:cNvCxnSpPr>
            <a:cxnSpLocks/>
            <a:stCxn id="26" idx="1"/>
            <a:endCxn id="3" idx="3"/>
          </p:cNvCxnSpPr>
          <p:nvPr/>
        </p:nvCxnSpPr>
        <p:spPr>
          <a:xfrm flipH="1" flipV="1">
            <a:off x="10154409" y="2269782"/>
            <a:ext cx="556901" cy="1233311"/>
          </a:xfrm>
          <a:prstGeom prst="straightConnector1">
            <a:avLst/>
          </a:prstGeom>
          <a:ln>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19" name="Straight Arrow Connector 14">
            <a:extLst>
              <a:ext uri="{FF2B5EF4-FFF2-40B4-BE49-F238E27FC236}">
                <a16:creationId xmlns:a16="http://schemas.microsoft.com/office/drawing/2014/main" id="{26445F7D-AA1F-9E60-8F8A-A162F02A8107}"/>
              </a:ext>
            </a:extLst>
          </p:cNvPr>
          <p:cNvCxnSpPr>
            <a:cxnSpLocks/>
            <a:stCxn id="26" idx="1"/>
            <a:endCxn id="9" idx="3"/>
          </p:cNvCxnSpPr>
          <p:nvPr/>
        </p:nvCxnSpPr>
        <p:spPr>
          <a:xfrm flipH="1" flipV="1">
            <a:off x="10154409" y="3501489"/>
            <a:ext cx="556901" cy="1604"/>
          </a:xfrm>
          <a:prstGeom prst="straightConnector1">
            <a:avLst/>
          </a:prstGeom>
          <a:ln>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20" name="Straight Arrow Connector 14">
            <a:extLst>
              <a:ext uri="{FF2B5EF4-FFF2-40B4-BE49-F238E27FC236}">
                <a16:creationId xmlns:a16="http://schemas.microsoft.com/office/drawing/2014/main" id="{F71BDCE9-F53F-5D1F-FB6D-D8EBCB212A85}"/>
              </a:ext>
            </a:extLst>
          </p:cNvPr>
          <p:cNvCxnSpPr>
            <a:cxnSpLocks/>
            <a:stCxn id="26" idx="1"/>
            <a:endCxn id="11" idx="3"/>
          </p:cNvCxnSpPr>
          <p:nvPr/>
        </p:nvCxnSpPr>
        <p:spPr>
          <a:xfrm flipH="1">
            <a:off x="10154409" y="3503093"/>
            <a:ext cx="556901" cy="1230102"/>
          </a:xfrm>
          <a:prstGeom prst="straightConnector1">
            <a:avLst/>
          </a:prstGeom>
          <a:ln>
            <a:solidFill>
              <a:schemeClr val="tx1"/>
            </a:solidFill>
            <a:tailEnd type="none"/>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9E909C74-BDD8-F8F5-0FA7-32A91B034A6D}"/>
              </a:ext>
            </a:extLst>
          </p:cNvPr>
          <p:cNvSpPr/>
          <p:nvPr/>
        </p:nvSpPr>
        <p:spPr>
          <a:xfrm>
            <a:off x="10711310" y="3352922"/>
            <a:ext cx="377134" cy="3003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Cylinder 106">
            <a:extLst>
              <a:ext uri="{FF2B5EF4-FFF2-40B4-BE49-F238E27FC236}">
                <a16:creationId xmlns:a16="http://schemas.microsoft.com/office/drawing/2014/main" id="{7643A71F-E578-4AFA-5790-145DBD84D0E2}"/>
              </a:ext>
            </a:extLst>
          </p:cNvPr>
          <p:cNvSpPr/>
          <p:nvPr/>
        </p:nvSpPr>
        <p:spPr>
          <a:xfrm>
            <a:off x="10571355" y="3037451"/>
            <a:ext cx="1000199" cy="932731"/>
          </a:xfrm>
          <a:prstGeom prst="can">
            <a:avLst>
              <a:gd name="adj" fmla="val 16667"/>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accent1">
                    <a:lumMod val="50000"/>
                  </a:schemeClr>
                </a:solidFill>
              </a:rPr>
              <a:t>Persistent</a:t>
            </a:r>
          </a:p>
          <a:p>
            <a:pPr algn="ctr"/>
            <a:r>
              <a:rPr lang="en-US" sz="1400" dirty="0">
                <a:solidFill>
                  <a:schemeClr val="accent1">
                    <a:lumMod val="50000"/>
                  </a:schemeClr>
                </a:solidFill>
              </a:rPr>
              <a:t>Store</a:t>
            </a:r>
          </a:p>
        </p:txBody>
      </p:sp>
    </p:spTree>
    <p:extLst>
      <p:ext uri="{BB962C8B-B14F-4D97-AF65-F5344CB8AC3E}">
        <p14:creationId xmlns:p14="http://schemas.microsoft.com/office/powerpoint/2010/main" val="22895880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C618C-D017-8C89-1426-A7CCA1BA146A}"/>
              </a:ext>
            </a:extLst>
          </p:cNvPr>
          <p:cNvSpPr>
            <a:spLocks noGrp="1"/>
          </p:cNvSpPr>
          <p:nvPr>
            <p:ph type="title"/>
          </p:nvPr>
        </p:nvSpPr>
        <p:spPr/>
        <p:txBody>
          <a:bodyPr/>
          <a:lstStyle/>
          <a:p>
            <a:r>
              <a:rPr lang="en-US" dirty="0"/>
              <a:t>From Patterns to Implementation</a:t>
            </a:r>
          </a:p>
        </p:txBody>
      </p:sp>
      <p:graphicFrame>
        <p:nvGraphicFramePr>
          <p:cNvPr id="5" name="Content Placeholder 4">
            <a:extLst>
              <a:ext uri="{FF2B5EF4-FFF2-40B4-BE49-F238E27FC236}">
                <a16:creationId xmlns:a16="http://schemas.microsoft.com/office/drawing/2014/main" id="{8A0DEDA0-06FB-3B11-21CB-963FF7423559}"/>
              </a:ext>
            </a:extLst>
          </p:cNvPr>
          <p:cNvGraphicFramePr>
            <a:graphicFrameLocks noGrp="1"/>
          </p:cNvGraphicFramePr>
          <p:nvPr>
            <p:ph idx="1"/>
            <p:extLst>
              <p:ext uri="{D42A27DB-BD31-4B8C-83A1-F6EECF244321}">
                <p14:modId xmlns:p14="http://schemas.microsoft.com/office/powerpoint/2010/main" val="2177492489"/>
              </p:ext>
            </p:extLst>
          </p:nvPr>
        </p:nvGraphicFramePr>
        <p:xfrm>
          <a:off x="1338072" y="1165225"/>
          <a:ext cx="9515856" cy="4754880"/>
        </p:xfrm>
        <a:graphic>
          <a:graphicData uri="http://schemas.openxmlformats.org/drawingml/2006/table">
            <a:tbl>
              <a:tblPr firstRow="1" bandRow="1">
                <a:tableStyleId>{2D5ABB26-0587-4C30-8999-92F81FD0307C}</a:tableStyleId>
              </a:tblPr>
              <a:tblGrid>
                <a:gridCol w="2700297">
                  <a:extLst>
                    <a:ext uri="{9D8B030D-6E8A-4147-A177-3AD203B41FA5}">
                      <a16:colId xmlns:a16="http://schemas.microsoft.com/office/drawing/2014/main" val="2364718329"/>
                    </a:ext>
                  </a:extLst>
                </a:gridCol>
                <a:gridCol w="6815559">
                  <a:extLst>
                    <a:ext uri="{9D8B030D-6E8A-4147-A177-3AD203B41FA5}">
                      <a16:colId xmlns:a16="http://schemas.microsoft.com/office/drawing/2014/main" val="3848476852"/>
                    </a:ext>
                  </a:extLst>
                </a:gridCol>
              </a:tblGrid>
              <a:tr h="378055">
                <a:tc>
                  <a:txBody>
                    <a:bodyPr/>
                    <a:lstStyle/>
                    <a:p>
                      <a:r>
                        <a:rPr lang="en-US" sz="2400" b="1" dirty="0"/>
                        <a:t>Pattern</a:t>
                      </a:r>
                    </a:p>
                  </a:txBody>
                  <a:tcPr marL="137160" marR="137160" marT="137160" marB="137160">
                    <a:lnL>
                      <a:noFill/>
                    </a:lnL>
                    <a:lnR>
                      <a:noFill/>
                    </a:lnR>
                    <a:lnT>
                      <a:noFill/>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ym typeface="Wingdings" panose="05000000000000000000" pitchFamily="2" charset="2"/>
                        </a:rPr>
                        <a:t>Implementation Choices</a:t>
                      </a:r>
                    </a:p>
                  </a:txBody>
                  <a:tcPr marL="137160" marR="137160" marT="137160" marB="137160">
                    <a:lnL>
                      <a:noFill/>
                    </a:lnL>
                    <a:lnR>
                      <a:noFill/>
                    </a:lnR>
                    <a:lnT>
                      <a:noFill/>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74587199"/>
                  </a:ext>
                </a:extLst>
              </a:tr>
              <a:tr h="810118">
                <a:tc>
                  <a:txBody>
                    <a:bodyPr/>
                    <a:lstStyle/>
                    <a:p>
                      <a:r>
                        <a:rPr lang="en-US" sz="2000" dirty="0"/>
                        <a:t>Publisher/Subscriber (Broker/Consumer)</a:t>
                      </a:r>
                    </a:p>
                  </a:txBody>
                  <a:tcPr marL="137160" marR="137160" marT="137160" marB="137160">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ym typeface="Wingdings" panose="05000000000000000000" pitchFamily="2" charset="2"/>
                        </a:rPr>
                        <a:t>Azure Service Bus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ym typeface="Wingdings" panose="05000000000000000000" pitchFamily="2" charset="2"/>
                        </a:rPr>
                        <a:t>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ym typeface="Wingdings" panose="05000000000000000000" pitchFamily="2" charset="2"/>
                        </a:rPr>
                        <a:t>Azure Event Hub</a:t>
                      </a:r>
                    </a:p>
                  </a:txBody>
                  <a:tcPr marL="137160" marR="137160" marT="137160" marB="137160">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40396343"/>
                  </a:ext>
                </a:extLst>
              </a:tr>
              <a:tr h="378055">
                <a:tc>
                  <a:txBody>
                    <a:bodyPr/>
                    <a:lstStyle/>
                    <a:p>
                      <a:r>
                        <a:rPr lang="en-US" sz="2000" dirty="0">
                          <a:sym typeface="Wingdings" panose="05000000000000000000" pitchFamily="2" charset="2"/>
                        </a:rPr>
                        <a:t>Sequential Convoy</a:t>
                      </a:r>
                    </a:p>
                  </a:txBody>
                  <a:tcPr marL="137160" marR="137160" marT="137160" marB="137160">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Azure Service Bus Message Sessions</a:t>
                      </a:r>
                    </a:p>
                  </a:txBody>
                  <a:tcPr marL="137160" marR="137160" marT="137160" marB="137160">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43729734"/>
                  </a:ext>
                </a:extLst>
              </a:tr>
              <a:tr h="810118">
                <a:tc>
                  <a:txBody>
                    <a:bodyPr/>
                    <a:lstStyle/>
                    <a:p>
                      <a:r>
                        <a:rPr lang="en-US" sz="2000" dirty="0">
                          <a:sym typeface="Wingdings" panose="05000000000000000000" pitchFamily="2" charset="2"/>
                        </a:rPr>
                        <a:t>Category (Session) Consumer</a:t>
                      </a:r>
                    </a:p>
                  </a:txBody>
                  <a:tcPr marL="137160" marR="137160" marT="137160" marB="137160">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solidFill>
                            <a:schemeClr val="tx1"/>
                          </a:solidFill>
                        </a:rPr>
                        <a:t>Logic App with the Service Bus Peek-Lock Connector</a:t>
                      </a:r>
                      <a:br>
                        <a:rPr lang="en-US" sz="2000" dirty="0">
                          <a:solidFill>
                            <a:schemeClr val="tx1"/>
                          </a:solidFill>
                        </a:rPr>
                      </a:br>
                      <a:r>
                        <a:rPr lang="en-US" sz="2000" dirty="0">
                          <a:solidFill>
                            <a:schemeClr val="tx1"/>
                          </a:solidFill>
                        </a:rPr>
                        <a:t>or</a:t>
                      </a:r>
                    </a:p>
                    <a:p>
                      <a:r>
                        <a:rPr lang="en-US" sz="2000" dirty="0">
                          <a:solidFill>
                            <a:schemeClr val="tx1"/>
                          </a:solidFill>
                        </a:rPr>
                        <a:t>Azure Functions with the Service Bus trigger</a:t>
                      </a:r>
                    </a:p>
                  </a:txBody>
                  <a:tcPr marL="137160" marR="137160" marT="137160" marB="137160">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6015198"/>
                  </a:ext>
                </a:extLst>
              </a:tr>
              <a:tr h="378055">
                <a:tc>
                  <a:txBody>
                    <a:bodyPr/>
                    <a:lstStyle/>
                    <a:p>
                      <a:r>
                        <a:rPr lang="en-US" sz="2000" dirty="0">
                          <a:sym typeface="Wingdings" panose="05000000000000000000" pitchFamily="2" charset="2"/>
                        </a:rPr>
                        <a:t>Cache</a:t>
                      </a:r>
                    </a:p>
                  </a:txBody>
                  <a:tcPr marL="137160" marR="137160" marT="137160" marB="137160">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sym typeface="Wingdings" panose="05000000000000000000" pitchFamily="2" charset="2"/>
                        </a:rPr>
                        <a:t>Azure Cache for Redis</a:t>
                      </a:r>
                      <a:endParaRPr lang="en-US" sz="2000" dirty="0"/>
                    </a:p>
                  </a:txBody>
                  <a:tcPr marL="137160" marR="137160" marT="137160" marB="137160">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34046486"/>
                  </a:ext>
                </a:extLst>
              </a:tr>
              <a:tr h="3780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ym typeface="Wingdings" panose="05000000000000000000" pitchFamily="2" charset="2"/>
                        </a:rPr>
                        <a:t>Relational Store</a:t>
                      </a:r>
                      <a:endParaRPr lang="en-US" sz="2000" dirty="0"/>
                    </a:p>
                  </a:txBody>
                  <a:tcPr marL="137160" marR="137160" marT="137160" marB="137160">
                    <a:lnL>
                      <a:noFill/>
                    </a:lnL>
                    <a:lnR>
                      <a:noFill/>
                    </a:lnR>
                    <a:lnT w="12700" cap="flat" cmpd="sng" algn="ctr">
                      <a:solidFill>
                        <a:schemeClr val="bg1">
                          <a:lumMod val="50000"/>
                        </a:schemeClr>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r>
                        <a:rPr lang="en-US" sz="2000" dirty="0"/>
                        <a:t>Azure SQL Managed Instance </a:t>
                      </a:r>
                    </a:p>
                  </a:txBody>
                  <a:tcPr marL="137160" marR="137160" marT="137160" marB="137160">
                    <a:lnL>
                      <a:noFill/>
                    </a:lnL>
                    <a:lnR>
                      <a:noFill/>
                    </a:lnR>
                    <a:lnT w="12700" cap="flat" cmpd="sng" algn="ctr">
                      <a:solidFill>
                        <a:schemeClr val="bg1">
                          <a:lumMod val="50000"/>
                        </a:schemeClr>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4292204459"/>
                  </a:ext>
                </a:extLst>
              </a:tr>
            </a:tbl>
          </a:graphicData>
        </a:graphic>
      </p:graphicFrame>
      <p:sp>
        <p:nvSpPr>
          <p:cNvPr id="3" name="Slide Number Placeholder 2">
            <a:extLst>
              <a:ext uri="{FF2B5EF4-FFF2-40B4-BE49-F238E27FC236}">
                <a16:creationId xmlns:a16="http://schemas.microsoft.com/office/drawing/2014/main" id="{A83413A7-A027-3DB3-5F1B-7F568DFC75B7}"/>
              </a:ext>
            </a:extLst>
          </p:cNvPr>
          <p:cNvSpPr>
            <a:spLocks noGrp="1"/>
          </p:cNvSpPr>
          <p:nvPr>
            <p:ph type="sldNum" sz="quarter" idx="12"/>
          </p:nvPr>
        </p:nvSpPr>
        <p:spPr/>
        <p:txBody>
          <a:bodyPr/>
          <a:lstStyle/>
          <a:p>
            <a:fld id="{E6E087A0-8E33-4AD2-B40F-AC5841A95ADE}" type="slidenum">
              <a:rPr lang="en-US" smtClean="0"/>
              <a:t>39</a:t>
            </a:fld>
            <a:endParaRPr lang="en-US"/>
          </a:p>
        </p:txBody>
      </p:sp>
    </p:spTree>
    <p:extLst>
      <p:ext uri="{BB962C8B-B14F-4D97-AF65-F5344CB8AC3E}">
        <p14:creationId xmlns:p14="http://schemas.microsoft.com/office/powerpoint/2010/main" val="166967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4D765-829A-455F-F724-9AF7DC4DDA09}"/>
              </a:ext>
            </a:extLst>
          </p:cNvPr>
          <p:cNvSpPr>
            <a:spLocks noGrp="1"/>
          </p:cNvSpPr>
          <p:nvPr>
            <p:ph type="title"/>
          </p:nvPr>
        </p:nvSpPr>
        <p:spPr/>
        <p:txBody>
          <a:bodyPr/>
          <a:lstStyle/>
          <a:p>
            <a:r>
              <a:rPr lang="en-US" dirty="0"/>
              <a:t>What Now?</a:t>
            </a:r>
          </a:p>
        </p:txBody>
      </p:sp>
      <p:sp>
        <p:nvSpPr>
          <p:cNvPr id="3" name="Content Placeholder 2">
            <a:extLst>
              <a:ext uri="{FF2B5EF4-FFF2-40B4-BE49-F238E27FC236}">
                <a16:creationId xmlns:a16="http://schemas.microsoft.com/office/drawing/2014/main" id="{D507A97C-CA25-87CA-957D-FBDF7D16C8FF}"/>
              </a:ext>
            </a:extLst>
          </p:cNvPr>
          <p:cNvSpPr>
            <a:spLocks noGrp="1"/>
          </p:cNvSpPr>
          <p:nvPr>
            <p:ph idx="1"/>
          </p:nvPr>
        </p:nvSpPr>
        <p:spPr/>
        <p:txBody>
          <a:bodyPr>
            <a:normAutofit lnSpcReduction="10000"/>
          </a:bodyPr>
          <a:lstStyle/>
          <a:p>
            <a:r>
              <a:rPr lang="en-US" dirty="0"/>
              <a:t>Have yourselves a Pattern Catalog</a:t>
            </a:r>
          </a:p>
          <a:p>
            <a:r>
              <a:rPr lang="en-US" dirty="0"/>
              <a:t>Review and reuse what’s out there</a:t>
            </a:r>
          </a:p>
          <a:p>
            <a:r>
              <a:rPr lang="en-US" dirty="0"/>
              <a:t>Fine tune to fit your org and keep it alive</a:t>
            </a:r>
          </a:p>
          <a:p>
            <a:r>
              <a:rPr lang="en-US" dirty="0"/>
              <a:t>Within your scope of influence:</a:t>
            </a:r>
          </a:p>
          <a:p>
            <a:pPr lvl="1"/>
            <a:r>
              <a:rPr lang="en-US" dirty="0"/>
              <a:t>Refactor your architecture function to own and curate Pattern Catalog</a:t>
            </a:r>
          </a:p>
          <a:p>
            <a:pPr lvl="1"/>
            <a:r>
              <a:rPr lang="en-US" dirty="0"/>
              <a:t>Build a community</a:t>
            </a:r>
          </a:p>
          <a:p>
            <a:endParaRPr lang="en-US" dirty="0"/>
          </a:p>
          <a:p>
            <a:endParaRPr lang="en-US" dirty="0"/>
          </a:p>
          <a:p>
            <a:pPr marL="0" indent="0" algn="ctr">
              <a:buNone/>
            </a:pPr>
            <a:r>
              <a:rPr lang="en-US" b="1" dirty="0"/>
              <a:t>Thank You</a:t>
            </a:r>
          </a:p>
        </p:txBody>
      </p:sp>
      <p:sp>
        <p:nvSpPr>
          <p:cNvPr id="4" name="Slide Number Placeholder 3">
            <a:extLst>
              <a:ext uri="{FF2B5EF4-FFF2-40B4-BE49-F238E27FC236}">
                <a16:creationId xmlns:a16="http://schemas.microsoft.com/office/drawing/2014/main" id="{25ECF180-6460-6462-FA41-0803B69803F7}"/>
              </a:ext>
            </a:extLst>
          </p:cNvPr>
          <p:cNvSpPr>
            <a:spLocks noGrp="1"/>
          </p:cNvSpPr>
          <p:nvPr>
            <p:ph type="sldNum" sz="quarter" idx="12"/>
          </p:nvPr>
        </p:nvSpPr>
        <p:spPr/>
        <p:txBody>
          <a:bodyPr/>
          <a:lstStyle/>
          <a:p>
            <a:fld id="{E6E087A0-8E33-4AD2-B40F-AC5841A95ADE}" type="slidenum">
              <a:rPr lang="en-US" smtClean="0"/>
              <a:t>40</a:t>
            </a:fld>
            <a:endParaRPr lang="en-US"/>
          </a:p>
        </p:txBody>
      </p:sp>
      <p:pic>
        <p:nvPicPr>
          <p:cNvPr id="5" name="Picture 4" descr="A stick figure holding a computer&#10;&#10;AI-generated content may be incorrect.">
            <a:extLst>
              <a:ext uri="{FF2B5EF4-FFF2-40B4-BE49-F238E27FC236}">
                <a16:creationId xmlns:a16="http://schemas.microsoft.com/office/drawing/2014/main" id="{40844901-1E6C-BD6C-CED1-8ABE7330BAD8}"/>
              </a:ext>
            </a:extLst>
          </p:cNvPr>
          <p:cNvPicPr>
            <a:picLocks noChangeAspect="1"/>
          </p:cNvPicPr>
          <p:nvPr/>
        </p:nvPicPr>
        <p:blipFill>
          <a:blip r:embed="rId2">
            <a:extLst>
              <a:ext uri="{28A0092B-C50C-407E-A947-70E740481C1C}">
                <a14:useLocalDpi xmlns:a14="http://schemas.microsoft.com/office/drawing/2010/main" val="0"/>
              </a:ext>
            </a:extLst>
          </a:blip>
          <a:srcRect l="27556" t="36000" r="32444" b="12000"/>
          <a:stretch>
            <a:fillRect/>
          </a:stretch>
        </p:blipFill>
        <p:spPr>
          <a:xfrm>
            <a:off x="9376169" y="4324066"/>
            <a:ext cx="1563294" cy="2032283"/>
          </a:xfrm>
          <a:prstGeom prst="rect">
            <a:avLst/>
          </a:prstGeom>
        </p:spPr>
      </p:pic>
      <p:pic>
        <p:nvPicPr>
          <p:cNvPr id="6" name="Picture 5" descr="A stick figure holding a computer&#10;&#10;AI-generated content may be incorrect.">
            <a:extLst>
              <a:ext uri="{FF2B5EF4-FFF2-40B4-BE49-F238E27FC236}">
                <a16:creationId xmlns:a16="http://schemas.microsoft.com/office/drawing/2014/main" id="{4565D62E-CA22-51E8-7779-568F66EAB64E}"/>
              </a:ext>
            </a:extLst>
          </p:cNvPr>
          <p:cNvPicPr>
            <a:picLocks noChangeAspect="1"/>
          </p:cNvPicPr>
          <p:nvPr/>
        </p:nvPicPr>
        <p:blipFill>
          <a:blip r:embed="rId3">
            <a:extLst>
              <a:ext uri="{28A0092B-C50C-407E-A947-70E740481C1C}">
                <a14:useLocalDpi xmlns:a14="http://schemas.microsoft.com/office/drawing/2010/main" val="0"/>
              </a:ext>
            </a:extLst>
          </a:blip>
          <a:srcRect l="24778" t="34556" r="30778" b="12778"/>
          <a:stretch>
            <a:fillRect/>
          </a:stretch>
        </p:blipFill>
        <p:spPr>
          <a:xfrm flipH="1">
            <a:off x="7490825" y="3634740"/>
            <a:ext cx="1736994" cy="2058338"/>
          </a:xfrm>
          <a:prstGeom prst="rect">
            <a:avLst/>
          </a:prstGeom>
        </p:spPr>
      </p:pic>
    </p:spTree>
    <p:extLst>
      <p:ext uri="{BB962C8B-B14F-4D97-AF65-F5344CB8AC3E}">
        <p14:creationId xmlns:p14="http://schemas.microsoft.com/office/powerpoint/2010/main" val="13946408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11761AA-B215-CF4F-1710-C573B1F563A6}"/>
              </a:ext>
            </a:extLst>
          </p:cNvPr>
          <p:cNvSpPr>
            <a:spLocks noGrp="1"/>
          </p:cNvSpPr>
          <p:nvPr>
            <p:ph type="title"/>
          </p:nvPr>
        </p:nvSpPr>
        <p:spPr/>
        <p:txBody>
          <a:bodyPr/>
          <a:lstStyle/>
          <a:p>
            <a:r>
              <a:rPr lang="en-US" dirty="0"/>
              <a:t>Appendix</a:t>
            </a:r>
          </a:p>
        </p:txBody>
      </p:sp>
      <p:sp>
        <p:nvSpPr>
          <p:cNvPr id="6" name="Text Placeholder 5">
            <a:extLst>
              <a:ext uri="{FF2B5EF4-FFF2-40B4-BE49-F238E27FC236}">
                <a16:creationId xmlns:a16="http://schemas.microsoft.com/office/drawing/2014/main" id="{AA4777BD-9434-9D1D-D98C-EA5299C37C0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E5DB577-A2CA-C9FA-246B-DD020DA4072B}"/>
              </a:ext>
            </a:extLst>
          </p:cNvPr>
          <p:cNvSpPr>
            <a:spLocks noGrp="1"/>
          </p:cNvSpPr>
          <p:nvPr>
            <p:ph type="sldNum" sz="quarter" idx="12"/>
          </p:nvPr>
        </p:nvSpPr>
        <p:spPr/>
        <p:txBody>
          <a:bodyPr/>
          <a:lstStyle/>
          <a:p>
            <a:fld id="{E6E087A0-8E33-4AD2-B40F-AC5841A95ADE}" type="slidenum">
              <a:rPr lang="en-US" smtClean="0"/>
              <a:t>41</a:t>
            </a:fld>
            <a:endParaRPr lang="en-US"/>
          </a:p>
        </p:txBody>
      </p:sp>
    </p:spTree>
    <p:extLst>
      <p:ext uri="{BB962C8B-B14F-4D97-AF65-F5344CB8AC3E}">
        <p14:creationId xmlns:p14="http://schemas.microsoft.com/office/powerpoint/2010/main" val="7673362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43DA2AF-D748-ED3E-7D21-45FBA747A920}"/>
              </a:ext>
            </a:extLst>
          </p:cNvPr>
          <p:cNvSpPr>
            <a:spLocks noGrp="1"/>
          </p:cNvSpPr>
          <p:nvPr>
            <p:ph type="title"/>
          </p:nvPr>
        </p:nvSpPr>
        <p:spPr/>
        <p:txBody>
          <a:bodyPr/>
          <a:lstStyle/>
          <a:p>
            <a:r>
              <a:rPr lang="en-US" dirty="0"/>
              <a:t>Sources</a:t>
            </a:r>
          </a:p>
        </p:txBody>
      </p:sp>
      <p:sp>
        <p:nvSpPr>
          <p:cNvPr id="6" name="Content Placeholder 5">
            <a:extLst>
              <a:ext uri="{FF2B5EF4-FFF2-40B4-BE49-F238E27FC236}">
                <a16:creationId xmlns:a16="http://schemas.microsoft.com/office/drawing/2014/main" id="{AF8DF8C4-E495-5145-0BD8-7DDE9B4987BA}"/>
              </a:ext>
            </a:extLst>
          </p:cNvPr>
          <p:cNvSpPr>
            <a:spLocks noGrp="1"/>
          </p:cNvSpPr>
          <p:nvPr>
            <p:ph idx="1"/>
          </p:nvPr>
        </p:nvSpPr>
        <p:spPr/>
        <p:txBody>
          <a:bodyPr>
            <a:normAutofit/>
          </a:bodyPr>
          <a:lstStyle/>
          <a:p>
            <a:r>
              <a:rPr lang="en-US" sz="1800" b="1" i="1" dirty="0"/>
              <a:t>Wikipedia</a:t>
            </a:r>
            <a:r>
              <a:rPr lang="en-US" sz="1800" i="1" dirty="0"/>
              <a:t>, </a:t>
            </a:r>
            <a:r>
              <a:rPr lang="en-US" sz="1800" i="1" dirty="0">
                <a:hlinkClick r:id="rId2"/>
              </a:rPr>
              <a:t>https://en.wikipedia.org/wiki/Software_architecture</a:t>
            </a:r>
            <a:r>
              <a:rPr lang="en-US" sz="1800" i="1" dirty="0"/>
              <a:t> </a:t>
            </a:r>
            <a:endParaRPr lang="en-US" sz="1800" b="1" i="1" dirty="0"/>
          </a:p>
          <a:p>
            <a:r>
              <a:rPr lang="en-US" sz="1800" b="1" i="1" dirty="0"/>
              <a:t>Martin Fowler</a:t>
            </a:r>
            <a:r>
              <a:rPr lang="en-US" sz="1800" i="1" dirty="0"/>
              <a:t>, “Software Architecture Guide”</a:t>
            </a:r>
          </a:p>
          <a:p>
            <a:r>
              <a:rPr lang="en-US" sz="1800" b="1" i="1" dirty="0"/>
              <a:t>Grady Booch</a:t>
            </a:r>
            <a:r>
              <a:rPr lang="en-US" sz="1800" i="1" dirty="0"/>
              <a:t>, “Architecture as a Shared Hallucination”</a:t>
            </a:r>
          </a:p>
          <a:p>
            <a:r>
              <a:rPr lang="en-US" sz="1800" b="1" i="1" dirty="0"/>
              <a:t>Fred Brooks</a:t>
            </a:r>
            <a:r>
              <a:rPr lang="en-US" sz="1800" i="1" dirty="0"/>
              <a:t>, “The Mythical Man-Month”</a:t>
            </a:r>
          </a:p>
          <a:p>
            <a:r>
              <a:rPr lang="en-US" sz="1800" b="1" i="1" dirty="0"/>
              <a:t>Martin Fowler</a:t>
            </a:r>
            <a:r>
              <a:rPr lang="en-US" sz="1800" i="1" dirty="0"/>
              <a:t>, “Who Needs an Architect?”</a:t>
            </a:r>
            <a:endParaRPr lang="en-US" sz="1800" b="1" i="1" dirty="0"/>
          </a:p>
          <a:p>
            <a:r>
              <a:rPr lang="en-US" sz="1800" b="1" i="1" dirty="0"/>
              <a:t>Ralph Johnson</a:t>
            </a:r>
            <a:r>
              <a:rPr lang="en-US" sz="1800" i="1" dirty="0"/>
              <a:t>, as quoted by Martin Fowler in “Who Needs an Architect?”</a:t>
            </a:r>
          </a:p>
          <a:p>
            <a:r>
              <a:rPr lang="en-US" sz="1800" b="1" i="1" dirty="0"/>
              <a:t>Richard Gabriel</a:t>
            </a:r>
            <a:r>
              <a:rPr lang="en-US" sz="1800" dirty="0"/>
              <a:t>, “What are Patterns”, </a:t>
            </a:r>
            <a:r>
              <a:rPr lang="en-US" sz="1800" dirty="0">
                <a:hlinkClick r:id="rId3"/>
              </a:rPr>
              <a:t>https://hillside.net/patterns-definition</a:t>
            </a:r>
            <a:r>
              <a:rPr lang="en-US" sz="1800" dirty="0"/>
              <a:t> </a:t>
            </a:r>
          </a:p>
        </p:txBody>
      </p:sp>
      <p:sp>
        <p:nvSpPr>
          <p:cNvPr id="4" name="Slide Number Placeholder 3">
            <a:extLst>
              <a:ext uri="{FF2B5EF4-FFF2-40B4-BE49-F238E27FC236}">
                <a16:creationId xmlns:a16="http://schemas.microsoft.com/office/drawing/2014/main" id="{6093AD9D-E87F-198F-EDD3-1D835E0FAC90}"/>
              </a:ext>
            </a:extLst>
          </p:cNvPr>
          <p:cNvSpPr>
            <a:spLocks noGrp="1"/>
          </p:cNvSpPr>
          <p:nvPr>
            <p:ph type="sldNum" sz="quarter" idx="12"/>
          </p:nvPr>
        </p:nvSpPr>
        <p:spPr/>
        <p:txBody>
          <a:bodyPr/>
          <a:lstStyle/>
          <a:p>
            <a:fld id="{E6E087A0-8E33-4AD2-B40F-AC5841A95ADE}" type="slidenum">
              <a:rPr lang="en-US" smtClean="0"/>
              <a:t>42</a:t>
            </a:fld>
            <a:endParaRPr lang="en-US"/>
          </a:p>
        </p:txBody>
      </p:sp>
    </p:spTree>
    <p:extLst>
      <p:ext uri="{BB962C8B-B14F-4D97-AF65-F5344CB8AC3E}">
        <p14:creationId xmlns:p14="http://schemas.microsoft.com/office/powerpoint/2010/main" val="31114544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BEB115D-B936-B4A2-8973-3032BDEB539B}"/>
              </a:ext>
            </a:extLst>
          </p:cNvPr>
          <p:cNvSpPr>
            <a:spLocks noGrp="1"/>
          </p:cNvSpPr>
          <p:nvPr>
            <p:ph type="sldNum" sz="quarter" idx="12"/>
          </p:nvPr>
        </p:nvSpPr>
        <p:spPr/>
        <p:txBody>
          <a:bodyPr/>
          <a:lstStyle/>
          <a:p>
            <a:fld id="{E6E087A0-8E33-4AD2-B40F-AC5841A95ADE}" type="slidenum">
              <a:rPr lang="en-US" smtClean="0"/>
              <a:t>43</a:t>
            </a:fld>
            <a:endParaRPr lang="en-US"/>
          </a:p>
        </p:txBody>
      </p:sp>
      <p:grpSp>
        <p:nvGrpSpPr>
          <p:cNvPr id="5" name="Group 4">
            <a:extLst>
              <a:ext uri="{FF2B5EF4-FFF2-40B4-BE49-F238E27FC236}">
                <a16:creationId xmlns:a16="http://schemas.microsoft.com/office/drawing/2014/main" id="{D7076561-B9C1-5531-215C-F8430563DCC7}"/>
              </a:ext>
            </a:extLst>
          </p:cNvPr>
          <p:cNvGrpSpPr/>
          <p:nvPr/>
        </p:nvGrpSpPr>
        <p:grpSpPr>
          <a:xfrm>
            <a:off x="3600650" y="933650"/>
            <a:ext cx="4990700" cy="4990700"/>
            <a:chOff x="3581401" y="1157604"/>
            <a:chExt cx="4990700" cy="4990700"/>
          </a:xfrm>
        </p:grpSpPr>
        <p:pic>
          <p:nvPicPr>
            <p:cNvPr id="16" name="Picture 15" descr="Cartoon of men standing in front of a wall of fossils&#10;&#10;AI-generated content may be incorrect.">
              <a:extLst>
                <a:ext uri="{FF2B5EF4-FFF2-40B4-BE49-F238E27FC236}">
                  <a16:creationId xmlns:a16="http://schemas.microsoft.com/office/drawing/2014/main" id="{5295B652-E1CA-749D-F0CF-8010A9B741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1401" y="1157604"/>
              <a:ext cx="4990700" cy="4990700"/>
            </a:xfrm>
            <a:prstGeom prst="rect">
              <a:avLst/>
            </a:prstGeom>
          </p:spPr>
        </p:pic>
        <p:sp>
          <p:nvSpPr>
            <p:cNvPr id="9" name="Speech Bubble: Rectangle with Corners Rounded 8">
              <a:extLst>
                <a:ext uri="{FF2B5EF4-FFF2-40B4-BE49-F238E27FC236}">
                  <a16:creationId xmlns:a16="http://schemas.microsoft.com/office/drawing/2014/main" id="{B5789C3F-4D68-F3C8-EECE-F84531459D5E}"/>
                </a:ext>
              </a:extLst>
            </p:cNvPr>
            <p:cNvSpPr/>
            <p:nvPr/>
          </p:nvSpPr>
          <p:spPr>
            <a:xfrm>
              <a:off x="3637544" y="4148108"/>
              <a:ext cx="2756483" cy="1923730"/>
            </a:xfrm>
            <a:custGeom>
              <a:avLst/>
              <a:gdLst>
                <a:gd name="connsiteX0" fmla="*/ 0 w 2756483"/>
                <a:gd name="connsiteY0" fmla="*/ 153891 h 923330"/>
                <a:gd name="connsiteX1" fmla="*/ 153891 w 2756483"/>
                <a:gd name="connsiteY1" fmla="*/ 0 h 923330"/>
                <a:gd name="connsiteX2" fmla="*/ 459414 w 2756483"/>
                <a:gd name="connsiteY2" fmla="*/ 0 h 923330"/>
                <a:gd name="connsiteX3" fmla="*/ 568221 w 2756483"/>
                <a:gd name="connsiteY3" fmla="*/ -1000400 h 923330"/>
                <a:gd name="connsiteX4" fmla="*/ 1148535 w 2756483"/>
                <a:gd name="connsiteY4" fmla="*/ 0 h 923330"/>
                <a:gd name="connsiteX5" fmla="*/ 2602592 w 2756483"/>
                <a:gd name="connsiteY5" fmla="*/ 0 h 923330"/>
                <a:gd name="connsiteX6" fmla="*/ 2756483 w 2756483"/>
                <a:gd name="connsiteY6" fmla="*/ 153891 h 923330"/>
                <a:gd name="connsiteX7" fmla="*/ 2756483 w 2756483"/>
                <a:gd name="connsiteY7" fmla="*/ 153888 h 923330"/>
                <a:gd name="connsiteX8" fmla="*/ 2756483 w 2756483"/>
                <a:gd name="connsiteY8" fmla="*/ 153888 h 923330"/>
                <a:gd name="connsiteX9" fmla="*/ 2756483 w 2756483"/>
                <a:gd name="connsiteY9" fmla="*/ 384721 h 923330"/>
                <a:gd name="connsiteX10" fmla="*/ 2756483 w 2756483"/>
                <a:gd name="connsiteY10" fmla="*/ 769439 h 923330"/>
                <a:gd name="connsiteX11" fmla="*/ 2602592 w 2756483"/>
                <a:gd name="connsiteY11" fmla="*/ 923330 h 923330"/>
                <a:gd name="connsiteX12" fmla="*/ 1148535 w 2756483"/>
                <a:gd name="connsiteY12" fmla="*/ 923330 h 923330"/>
                <a:gd name="connsiteX13" fmla="*/ 459414 w 2756483"/>
                <a:gd name="connsiteY13" fmla="*/ 923330 h 923330"/>
                <a:gd name="connsiteX14" fmla="*/ 459414 w 2756483"/>
                <a:gd name="connsiteY14" fmla="*/ 923330 h 923330"/>
                <a:gd name="connsiteX15" fmla="*/ 153891 w 2756483"/>
                <a:gd name="connsiteY15" fmla="*/ 923330 h 923330"/>
                <a:gd name="connsiteX16" fmla="*/ 0 w 2756483"/>
                <a:gd name="connsiteY16" fmla="*/ 769439 h 923330"/>
                <a:gd name="connsiteX17" fmla="*/ 0 w 2756483"/>
                <a:gd name="connsiteY17" fmla="*/ 384721 h 923330"/>
                <a:gd name="connsiteX18" fmla="*/ 0 w 2756483"/>
                <a:gd name="connsiteY18" fmla="*/ 153888 h 923330"/>
                <a:gd name="connsiteX19" fmla="*/ 0 w 2756483"/>
                <a:gd name="connsiteY19" fmla="*/ 153888 h 923330"/>
                <a:gd name="connsiteX20" fmla="*/ 0 w 2756483"/>
                <a:gd name="connsiteY20" fmla="*/ 153891 h 923330"/>
                <a:gd name="connsiteX0" fmla="*/ 0 w 2756483"/>
                <a:gd name="connsiteY0" fmla="*/ 1154291 h 1923730"/>
                <a:gd name="connsiteX1" fmla="*/ 153891 w 2756483"/>
                <a:gd name="connsiteY1" fmla="*/ 1000400 h 1923730"/>
                <a:gd name="connsiteX2" fmla="*/ 459414 w 2756483"/>
                <a:gd name="connsiteY2" fmla="*/ 1000400 h 1923730"/>
                <a:gd name="connsiteX3" fmla="*/ 568221 w 2756483"/>
                <a:gd name="connsiteY3" fmla="*/ 0 h 1923730"/>
                <a:gd name="connsiteX4" fmla="*/ 867781 w 2756483"/>
                <a:gd name="connsiteY4" fmla="*/ 521047 h 1923730"/>
                <a:gd name="connsiteX5" fmla="*/ 1148535 w 2756483"/>
                <a:gd name="connsiteY5" fmla="*/ 1000400 h 1923730"/>
                <a:gd name="connsiteX6" fmla="*/ 2602592 w 2756483"/>
                <a:gd name="connsiteY6" fmla="*/ 1000400 h 1923730"/>
                <a:gd name="connsiteX7" fmla="*/ 2756483 w 2756483"/>
                <a:gd name="connsiteY7" fmla="*/ 1154291 h 1923730"/>
                <a:gd name="connsiteX8" fmla="*/ 2756483 w 2756483"/>
                <a:gd name="connsiteY8" fmla="*/ 1154288 h 1923730"/>
                <a:gd name="connsiteX9" fmla="*/ 2756483 w 2756483"/>
                <a:gd name="connsiteY9" fmla="*/ 1154288 h 1923730"/>
                <a:gd name="connsiteX10" fmla="*/ 2756483 w 2756483"/>
                <a:gd name="connsiteY10" fmla="*/ 1385121 h 1923730"/>
                <a:gd name="connsiteX11" fmla="*/ 2756483 w 2756483"/>
                <a:gd name="connsiteY11" fmla="*/ 1769839 h 1923730"/>
                <a:gd name="connsiteX12" fmla="*/ 2602592 w 2756483"/>
                <a:gd name="connsiteY12" fmla="*/ 1923730 h 1923730"/>
                <a:gd name="connsiteX13" fmla="*/ 1148535 w 2756483"/>
                <a:gd name="connsiteY13" fmla="*/ 1923730 h 1923730"/>
                <a:gd name="connsiteX14" fmla="*/ 459414 w 2756483"/>
                <a:gd name="connsiteY14" fmla="*/ 1923730 h 1923730"/>
                <a:gd name="connsiteX15" fmla="*/ 459414 w 2756483"/>
                <a:gd name="connsiteY15" fmla="*/ 1923730 h 1923730"/>
                <a:gd name="connsiteX16" fmla="*/ 153891 w 2756483"/>
                <a:gd name="connsiteY16" fmla="*/ 1923730 h 1923730"/>
                <a:gd name="connsiteX17" fmla="*/ 0 w 2756483"/>
                <a:gd name="connsiteY17" fmla="*/ 1769839 h 1923730"/>
                <a:gd name="connsiteX18" fmla="*/ 0 w 2756483"/>
                <a:gd name="connsiteY18" fmla="*/ 1385121 h 1923730"/>
                <a:gd name="connsiteX19" fmla="*/ 0 w 2756483"/>
                <a:gd name="connsiteY19" fmla="*/ 1154288 h 1923730"/>
                <a:gd name="connsiteX20" fmla="*/ 0 w 2756483"/>
                <a:gd name="connsiteY20" fmla="*/ 1154288 h 1923730"/>
                <a:gd name="connsiteX21" fmla="*/ 0 w 2756483"/>
                <a:gd name="connsiteY21" fmla="*/ 1154291 h 1923730"/>
                <a:gd name="connsiteX0" fmla="*/ 0 w 2756483"/>
                <a:gd name="connsiteY0" fmla="*/ 1154291 h 1923730"/>
                <a:gd name="connsiteX1" fmla="*/ 153891 w 2756483"/>
                <a:gd name="connsiteY1" fmla="*/ 1000400 h 1923730"/>
                <a:gd name="connsiteX2" fmla="*/ 459414 w 2756483"/>
                <a:gd name="connsiteY2" fmla="*/ 1000400 h 1923730"/>
                <a:gd name="connsiteX3" fmla="*/ 568221 w 2756483"/>
                <a:gd name="connsiteY3" fmla="*/ 0 h 1923730"/>
                <a:gd name="connsiteX4" fmla="*/ 723001 w 2756483"/>
                <a:gd name="connsiteY4" fmla="*/ 644872 h 1923730"/>
                <a:gd name="connsiteX5" fmla="*/ 1148535 w 2756483"/>
                <a:gd name="connsiteY5" fmla="*/ 1000400 h 1923730"/>
                <a:gd name="connsiteX6" fmla="*/ 2602592 w 2756483"/>
                <a:gd name="connsiteY6" fmla="*/ 1000400 h 1923730"/>
                <a:gd name="connsiteX7" fmla="*/ 2756483 w 2756483"/>
                <a:gd name="connsiteY7" fmla="*/ 1154291 h 1923730"/>
                <a:gd name="connsiteX8" fmla="*/ 2756483 w 2756483"/>
                <a:gd name="connsiteY8" fmla="*/ 1154288 h 1923730"/>
                <a:gd name="connsiteX9" fmla="*/ 2756483 w 2756483"/>
                <a:gd name="connsiteY9" fmla="*/ 1154288 h 1923730"/>
                <a:gd name="connsiteX10" fmla="*/ 2756483 w 2756483"/>
                <a:gd name="connsiteY10" fmla="*/ 1385121 h 1923730"/>
                <a:gd name="connsiteX11" fmla="*/ 2756483 w 2756483"/>
                <a:gd name="connsiteY11" fmla="*/ 1769839 h 1923730"/>
                <a:gd name="connsiteX12" fmla="*/ 2602592 w 2756483"/>
                <a:gd name="connsiteY12" fmla="*/ 1923730 h 1923730"/>
                <a:gd name="connsiteX13" fmla="*/ 1148535 w 2756483"/>
                <a:gd name="connsiteY13" fmla="*/ 1923730 h 1923730"/>
                <a:gd name="connsiteX14" fmla="*/ 459414 w 2756483"/>
                <a:gd name="connsiteY14" fmla="*/ 1923730 h 1923730"/>
                <a:gd name="connsiteX15" fmla="*/ 459414 w 2756483"/>
                <a:gd name="connsiteY15" fmla="*/ 1923730 h 1923730"/>
                <a:gd name="connsiteX16" fmla="*/ 153891 w 2756483"/>
                <a:gd name="connsiteY16" fmla="*/ 1923730 h 1923730"/>
                <a:gd name="connsiteX17" fmla="*/ 0 w 2756483"/>
                <a:gd name="connsiteY17" fmla="*/ 1769839 h 1923730"/>
                <a:gd name="connsiteX18" fmla="*/ 0 w 2756483"/>
                <a:gd name="connsiteY18" fmla="*/ 1385121 h 1923730"/>
                <a:gd name="connsiteX19" fmla="*/ 0 w 2756483"/>
                <a:gd name="connsiteY19" fmla="*/ 1154288 h 1923730"/>
                <a:gd name="connsiteX20" fmla="*/ 0 w 2756483"/>
                <a:gd name="connsiteY20" fmla="*/ 1154288 h 1923730"/>
                <a:gd name="connsiteX21" fmla="*/ 0 w 2756483"/>
                <a:gd name="connsiteY21" fmla="*/ 1154291 h 1923730"/>
                <a:gd name="connsiteX0" fmla="*/ 0 w 2756483"/>
                <a:gd name="connsiteY0" fmla="*/ 1154291 h 1923730"/>
                <a:gd name="connsiteX1" fmla="*/ 153891 w 2756483"/>
                <a:gd name="connsiteY1" fmla="*/ 1000400 h 1923730"/>
                <a:gd name="connsiteX2" fmla="*/ 602289 w 2756483"/>
                <a:gd name="connsiteY2" fmla="*/ 1002305 h 1923730"/>
                <a:gd name="connsiteX3" fmla="*/ 568221 w 2756483"/>
                <a:gd name="connsiteY3" fmla="*/ 0 h 1923730"/>
                <a:gd name="connsiteX4" fmla="*/ 723001 w 2756483"/>
                <a:gd name="connsiteY4" fmla="*/ 644872 h 1923730"/>
                <a:gd name="connsiteX5" fmla="*/ 1148535 w 2756483"/>
                <a:gd name="connsiteY5" fmla="*/ 1000400 h 1923730"/>
                <a:gd name="connsiteX6" fmla="*/ 2602592 w 2756483"/>
                <a:gd name="connsiteY6" fmla="*/ 1000400 h 1923730"/>
                <a:gd name="connsiteX7" fmla="*/ 2756483 w 2756483"/>
                <a:gd name="connsiteY7" fmla="*/ 1154291 h 1923730"/>
                <a:gd name="connsiteX8" fmla="*/ 2756483 w 2756483"/>
                <a:gd name="connsiteY8" fmla="*/ 1154288 h 1923730"/>
                <a:gd name="connsiteX9" fmla="*/ 2756483 w 2756483"/>
                <a:gd name="connsiteY9" fmla="*/ 1154288 h 1923730"/>
                <a:gd name="connsiteX10" fmla="*/ 2756483 w 2756483"/>
                <a:gd name="connsiteY10" fmla="*/ 1385121 h 1923730"/>
                <a:gd name="connsiteX11" fmla="*/ 2756483 w 2756483"/>
                <a:gd name="connsiteY11" fmla="*/ 1769839 h 1923730"/>
                <a:gd name="connsiteX12" fmla="*/ 2602592 w 2756483"/>
                <a:gd name="connsiteY12" fmla="*/ 1923730 h 1923730"/>
                <a:gd name="connsiteX13" fmla="*/ 1148535 w 2756483"/>
                <a:gd name="connsiteY13" fmla="*/ 1923730 h 1923730"/>
                <a:gd name="connsiteX14" fmla="*/ 459414 w 2756483"/>
                <a:gd name="connsiteY14" fmla="*/ 1923730 h 1923730"/>
                <a:gd name="connsiteX15" fmla="*/ 459414 w 2756483"/>
                <a:gd name="connsiteY15" fmla="*/ 1923730 h 1923730"/>
                <a:gd name="connsiteX16" fmla="*/ 153891 w 2756483"/>
                <a:gd name="connsiteY16" fmla="*/ 1923730 h 1923730"/>
                <a:gd name="connsiteX17" fmla="*/ 0 w 2756483"/>
                <a:gd name="connsiteY17" fmla="*/ 1769839 h 1923730"/>
                <a:gd name="connsiteX18" fmla="*/ 0 w 2756483"/>
                <a:gd name="connsiteY18" fmla="*/ 1385121 h 1923730"/>
                <a:gd name="connsiteX19" fmla="*/ 0 w 2756483"/>
                <a:gd name="connsiteY19" fmla="*/ 1154288 h 1923730"/>
                <a:gd name="connsiteX20" fmla="*/ 0 w 2756483"/>
                <a:gd name="connsiteY20" fmla="*/ 1154288 h 1923730"/>
                <a:gd name="connsiteX21" fmla="*/ 0 w 2756483"/>
                <a:gd name="connsiteY21" fmla="*/ 1154291 h 1923730"/>
                <a:gd name="connsiteX0" fmla="*/ 0 w 2756483"/>
                <a:gd name="connsiteY0" fmla="*/ 1154291 h 1923730"/>
                <a:gd name="connsiteX1" fmla="*/ 153891 w 2756483"/>
                <a:gd name="connsiteY1" fmla="*/ 1000400 h 1923730"/>
                <a:gd name="connsiteX2" fmla="*/ 602289 w 2756483"/>
                <a:gd name="connsiteY2" fmla="*/ 1002305 h 1923730"/>
                <a:gd name="connsiteX3" fmla="*/ 589651 w 2756483"/>
                <a:gd name="connsiteY3" fmla="*/ 587722 h 1923730"/>
                <a:gd name="connsiteX4" fmla="*/ 568221 w 2756483"/>
                <a:gd name="connsiteY4" fmla="*/ 0 h 1923730"/>
                <a:gd name="connsiteX5" fmla="*/ 723001 w 2756483"/>
                <a:gd name="connsiteY5" fmla="*/ 644872 h 1923730"/>
                <a:gd name="connsiteX6" fmla="*/ 1148535 w 2756483"/>
                <a:gd name="connsiteY6" fmla="*/ 1000400 h 1923730"/>
                <a:gd name="connsiteX7" fmla="*/ 2602592 w 2756483"/>
                <a:gd name="connsiteY7" fmla="*/ 1000400 h 1923730"/>
                <a:gd name="connsiteX8" fmla="*/ 2756483 w 2756483"/>
                <a:gd name="connsiteY8" fmla="*/ 1154291 h 1923730"/>
                <a:gd name="connsiteX9" fmla="*/ 2756483 w 2756483"/>
                <a:gd name="connsiteY9" fmla="*/ 1154288 h 1923730"/>
                <a:gd name="connsiteX10" fmla="*/ 2756483 w 2756483"/>
                <a:gd name="connsiteY10" fmla="*/ 1154288 h 1923730"/>
                <a:gd name="connsiteX11" fmla="*/ 2756483 w 2756483"/>
                <a:gd name="connsiteY11" fmla="*/ 1385121 h 1923730"/>
                <a:gd name="connsiteX12" fmla="*/ 2756483 w 2756483"/>
                <a:gd name="connsiteY12" fmla="*/ 1769839 h 1923730"/>
                <a:gd name="connsiteX13" fmla="*/ 2602592 w 2756483"/>
                <a:gd name="connsiteY13" fmla="*/ 1923730 h 1923730"/>
                <a:gd name="connsiteX14" fmla="*/ 1148535 w 2756483"/>
                <a:gd name="connsiteY14" fmla="*/ 1923730 h 1923730"/>
                <a:gd name="connsiteX15" fmla="*/ 459414 w 2756483"/>
                <a:gd name="connsiteY15" fmla="*/ 1923730 h 1923730"/>
                <a:gd name="connsiteX16" fmla="*/ 459414 w 2756483"/>
                <a:gd name="connsiteY16" fmla="*/ 1923730 h 1923730"/>
                <a:gd name="connsiteX17" fmla="*/ 153891 w 2756483"/>
                <a:gd name="connsiteY17" fmla="*/ 1923730 h 1923730"/>
                <a:gd name="connsiteX18" fmla="*/ 0 w 2756483"/>
                <a:gd name="connsiteY18" fmla="*/ 1769839 h 1923730"/>
                <a:gd name="connsiteX19" fmla="*/ 0 w 2756483"/>
                <a:gd name="connsiteY19" fmla="*/ 1385121 h 1923730"/>
                <a:gd name="connsiteX20" fmla="*/ 0 w 2756483"/>
                <a:gd name="connsiteY20" fmla="*/ 1154288 h 1923730"/>
                <a:gd name="connsiteX21" fmla="*/ 0 w 2756483"/>
                <a:gd name="connsiteY21" fmla="*/ 1154288 h 1923730"/>
                <a:gd name="connsiteX22" fmla="*/ 0 w 2756483"/>
                <a:gd name="connsiteY22" fmla="*/ 1154291 h 1923730"/>
                <a:gd name="connsiteX0" fmla="*/ 0 w 2756483"/>
                <a:gd name="connsiteY0" fmla="*/ 1154291 h 1923730"/>
                <a:gd name="connsiteX1" fmla="*/ 153891 w 2756483"/>
                <a:gd name="connsiteY1" fmla="*/ 1000400 h 1923730"/>
                <a:gd name="connsiteX2" fmla="*/ 602289 w 2756483"/>
                <a:gd name="connsiteY2" fmla="*/ 1002305 h 1923730"/>
                <a:gd name="connsiteX3" fmla="*/ 532501 w 2756483"/>
                <a:gd name="connsiteY3" fmla="*/ 608677 h 1923730"/>
                <a:gd name="connsiteX4" fmla="*/ 568221 w 2756483"/>
                <a:gd name="connsiteY4" fmla="*/ 0 h 1923730"/>
                <a:gd name="connsiteX5" fmla="*/ 723001 w 2756483"/>
                <a:gd name="connsiteY5" fmla="*/ 644872 h 1923730"/>
                <a:gd name="connsiteX6" fmla="*/ 1148535 w 2756483"/>
                <a:gd name="connsiteY6" fmla="*/ 1000400 h 1923730"/>
                <a:gd name="connsiteX7" fmla="*/ 2602592 w 2756483"/>
                <a:gd name="connsiteY7" fmla="*/ 1000400 h 1923730"/>
                <a:gd name="connsiteX8" fmla="*/ 2756483 w 2756483"/>
                <a:gd name="connsiteY8" fmla="*/ 1154291 h 1923730"/>
                <a:gd name="connsiteX9" fmla="*/ 2756483 w 2756483"/>
                <a:gd name="connsiteY9" fmla="*/ 1154288 h 1923730"/>
                <a:gd name="connsiteX10" fmla="*/ 2756483 w 2756483"/>
                <a:gd name="connsiteY10" fmla="*/ 1154288 h 1923730"/>
                <a:gd name="connsiteX11" fmla="*/ 2756483 w 2756483"/>
                <a:gd name="connsiteY11" fmla="*/ 1385121 h 1923730"/>
                <a:gd name="connsiteX12" fmla="*/ 2756483 w 2756483"/>
                <a:gd name="connsiteY12" fmla="*/ 1769839 h 1923730"/>
                <a:gd name="connsiteX13" fmla="*/ 2602592 w 2756483"/>
                <a:gd name="connsiteY13" fmla="*/ 1923730 h 1923730"/>
                <a:gd name="connsiteX14" fmla="*/ 1148535 w 2756483"/>
                <a:gd name="connsiteY14" fmla="*/ 1923730 h 1923730"/>
                <a:gd name="connsiteX15" fmla="*/ 459414 w 2756483"/>
                <a:gd name="connsiteY15" fmla="*/ 1923730 h 1923730"/>
                <a:gd name="connsiteX16" fmla="*/ 459414 w 2756483"/>
                <a:gd name="connsiteY16" fmla="*/ 1923730 h 1923730"/>
                <a:gd name="connsiteX17" fmla="*/ 153891 w 2756483"/>
                <a:gd name="connsiteY17" fmla="*/ 1923730 h 1923730"/>
                <a:gd name="connsiteX18" fmla="*/ 0 w 2756483"/>
                <a:gd name="connsiteY18" fmla="*/ 1769839 h 1923730"/>
                <a:gd name="connsiteX19" fmla="*/ 0 w 2756483"/>
                <a:gd name="connsiteY19" fmla="*/ 1385121 h 1923730"/>
                <a:gd name="connsiteX20" fmla="*/ 0 w 2756483"/>
                <a:gd name="connsiteY20" fmla="*/ 1154288 h 1923730"/>
                <a:gd name="connsiteX21" fmla="*/ 0 w 2756483"/>
                <a:gd name="connsiteY21" fmla="*/ 1154288 h 1923730"/>
                <a:gd name="connsiteX22" fmla="*/ 0 w 2756483"/>
                <a:gd name="connsiteY22" fmla="*/ 1154291 h 1923730"/>
                <a:gd name="connsiteX0" fmla="*/ 0 w 2756483"/>
                <a:gd name="connsiteY0" fmla="*/ 1154291 h 1923730"/>
                <a:gd name="connsiteX1" fmla="*/ 153891 w 2756483"/>
                <a:gd name="connsiteY1" fmla="*/ 1000400 h 1923730"/>
                <a:gd name="connsiteX2" fmla="*/ 602289 w 2756483"/>
                <a:gd name="connsiteY2" fmla="*/ 1002305 h 1923730"/>
                <a:gd name="connsiteX3" fmla="*/ 532501 w 2756483"/>
                <a:gd name="connsiteY3" fmla="*/ 608677 h 1923730"/>
                <a:gd name="connsiteX4" fmla="*/ 568221 w 2756483"/>
                <a:gd name="connsiteY4" fmla="*/ 0 h 1923730"/>
                <a:gd name="connsiteX5" fmla="*/ 715381 w 2756483"/>
                <a:gd name="connsiteY5" fmla="*/ 589627 h 1923730"/>
                <a:gd name="connsiteX6" fmla="*/ 1148535 w 2756483"/>
                <a:gd name="connsiteY6" fmla="*/ 1000400 h 1923730"/>
                <a:gd name="connsiteX7" fmla="*/ 2602592 w 2756483"/>
                <a:gd name="connsiteY7" fmla="*/ 1000400 h 1923730"/>
                <a:gd name="connsiteX8" fmla="*/ 2756483 w 2756483"/>
                <a:gd name="connsiteY8" fmla="*/ 1154291 h 1923730"/>
                <a:gd name="connsiteX9" fmla="*/ 2756483 w 2756483"/>
                <a:gd name="connsiteY9" fmla="*/ 1154288 h 1923730"/>
                <a:gd name="connsiteX10" fmla="*/ 2756483 w 2756483"/>
                <a:gd name="connsiteY10" fmla="*/ 1154288 h 1923730"/>
                <a:gd name="connsiteX11" fmla="*/ 2756483 w 2756483"/>
                <a:gd name="connsiteY11" fmla="*/ 1385121 h 1923730"/>
                <a:gd name="connsiteX12" fmla="*/ 2756483 w 2756483"/>
                <a:gd name="connsiteY12" fmla="*/ 1769839 h 1923730"/>
                <a:gd name="connsiteX13" fmla="*/ 2602592 w 2756483"/>
                <a:gd name="connsiteY13" fmla="*/ 1923730 h 1923730"/>
                <a:gd name="connsiteX14" fmla="*/ 1148535 w 2756483"/>
                <a:gd name="connsiteY14" fmla="*/ 1923730 h 1923730"/>
                <a:gd name="connsiteX15" fmla="*/ 459414 w 2756483"/>
                <a:gd name="connsiteY15" fmla="*/ 1923730 h 1923730"/>
                <a:gd name="connsiteX16" fmla="*/ 459414 w 2756483"/>
                <a:gd name="connsiteY16" fmla="*/ 1923730 h 1923730"/>
                <a:gd name="connsiteX17" fmla="*/ 153891 w 2756483"/>
                <a:gd name="connsiteY17" fmla="*/ 1923730 h 1923730"/>
                <a:gd name="connsiteX18" fmla="*/ 0 w 2756483"/>
                <a:gd name="connsiteY18" fmla="*/ 1769839 h 1923730"/>
                <a:gd name="connsiteX19" fmla="*/ 0 w 2756483"/>
                <a:gd name="connsiteY19" fmla="*/ 1385121 h 1923730"/>
                <a:gd name="connsiteX20" fmla="*/ 0 w 2756483"/>
                <a:gd name="connsiteY20" fmla="*/ 1154288 h 1923730"/>
                <a:gd name="connsiteX21" fmla="*/ 0 w 2756483"/>
                <a:gd name="connsiteY21" fmla="*/ 1154288 h 1923730"/>
                <a:gd name="connsiteX22" fmla="*/ 0 w 2756483"/>
                <a:gd name="connsiteY22" fmla="*/ 1154291 h 1923730"/>
                <a:gd name="connsiteX0" fmla="*/ 0 w 2756483"/>
                <a:gd name="connsiteY0" fmla="*/ 1154291 h 1923730"/>
                <a:gd name="connsiteX1" fmla="*/ 153891 w 2756483"/>
                <a:gd name="connsiteY1" fmla="*/ 1000400 h 1923730"/>
                <a:gd name="connsiteX2" fmla="*/ 602289 w 2756483"/>
                <a:gd name="connsiteY2" fmla="*/ 1002305 h 1923730"/>
                <a:gd name="connsiteX3" fmla="*/ 532501 w 2756483"/>
                <a:gd name="connsiteY3" fmla="*/ 608677 h 1923730"/>
                <a:gd name="connsiteX4" fmla="*/ 568221 w 2756483"/>
                <a:gd name="connsiteY4" fmla="*/ 0 h 1923730"/>
                <a:gd name="connsiteX5" fmla="*/ 715381 w 2756483"/>
                <a:gd name="connsiteY5" fmla="*/ 589627 h 1923730"/>
                <a:gd name="connsiteX6" fmla="*/ 1148535 w 2756483"/>
                <a:gd name="connsiteY6" fmla="*/ 1000400 h 1923730"/>
                <a:gd name="connsiteX7" fmla="*/ 2602592 w 2756483"/>
                <a:gd name="connsiteY7" fmla="*/ 1000400 h 1923730"/>
                <a:gd name="connsiteX8" fmla="*/ 2756483 w 2756483"/>
                <a:gd name="connsiteY8" fmla="*/ 1154291 h 1923730"/>
                <a:gd name="connsiteX9" fmla="*/ 2756483 w 2756483"/>
                <a:gd name="connsiteY9" fmla="*/ 1154288 h 1923730"/>
                <a:gd name="connsiteX10" fmla="*/ 2756483 w 2756483"/>
                <a:gd name="connsiteY10" fmla="*/ 1154288 h 1923730"/>
                <a:gd name="connsiteX11" fmla="*/ 2756483 w 2756483"/>
                <a:gd name="connsiteY11" fmla="*/ 1385121 h 1923730"/>
                <a:gd name="connsiteX12" fmla="*/ 2756483 w 2756483"/>
                <a:gd name="connsiteY12" fmla="*/ 1769839 h 1923730"/>
                <a:gd name="connsiteX13" fmla="*/ 2602592 w 2756483"/>
                <a:gd name="connsiteY13" fmla="*/ 1923730 h 1923730"/>
                <a:gd name="connsiteX14" fmla="*/ 1148535 w 2756483"/>
                <a:gd name="connsiteY14" fmla="*/ 1923730 h 1923730"/>
                <a:gd name="connsiteX15" fmla="*/ 459414 w 2756483"/>
                <a:gd name="connsiteY15" fmla="*/ 1923730 h 1923730"/>
                <a:gd name="connsiteX16" fmla="*/ 459414 w 2756483"/>
                <a:gd name="connsiteY16" fmla="*/ 1923730 h 1923730"/>
                <a:gd name="connsiteX17" fmla="*/ 153891 w 2756483"/>
                <a:gd name="connsiteY17" fmla="*/ 1923730 h 1923730"/>
                <a:gd name="connsiteX18" fmla="*/ 0 w 2756483"/>
                <a:gd name="connsiteY18" fmla="*/ 1769839 h 1923730"/>
                <a:gd name="connsiteX19" fmla="*/ 0 w 2756483"/>
                <a:gd name="connsiteY19" fmla="*/ 1385121 h 1923730"/>
                <a:gd name="connsiteX20" fmla="*/ 0 w 2756483"/>
                <a:gd name="connsiteY20" fmla="*/ 1154288 h 1923730"/>
                <a:gd name="connsiteX21" fmla="*/ 0 w 2756483"/>
                <a:gd name="connsiteY21" fmla="*/ 1154288 h 1923730"/>
                <a:gd name="connsiteX22" fmla="*/ 0 w 2756483"/>
                <a:gd name="connsiteY22" fmla="*/ 1154291 h 1923730"/>
                <a:gd name="connsiteX0" fmla="*/ 0 w 2756483"/>
                <a:gd name="connsiteY0" fmla="*/ 1154291 h 1923730"/>
                <a:gd name="connsiteX1" fmla="*/ 153891 w 2756483"/>
                <a:gd name="connsiteY1" fmla="*/ 1000400 h 1923730"/>
                <a:gd name="connsiteX2" fmla="*/ 602289 w 2756483"/>
                <a:gd name="connsiteY2" fmla="*/ 1002305 h 1923730"/>
                <a:gd name="connsiteX3" fmla="*/ 532501 w 2756483"/>
                <a:gd name="connsiteY3" fmla="*/ 608677 h 1923730"/>
                <a:gd name="connsiteX4" fmla="*/ 568221 w 2756483"/>
                <a:gd name="connsiteY4" fmla="*/ 0 h 1923730"/>
                <a:gd name="connsiteX5" fmla="*/ 715381 w 2756483"/>
                <a:gd name="connsiteY5" fmla="*/ 589627 h 1923730"/>
                <a:gd name="connsiteX6" fmla="*/ 1148535 w 2756483"/>
                <a:gd name="connsiteY6" fmla="*/ 1000400 h 1923730"/>
                <a:gd name="connsiteX7" fmla="*/ 2602592 w 2756483"/>
                <a:gd name="connsiteY7" fmla="*/ 1000400 h 1923730"/>
                <a:gd name="connsiteX8" fmla="*/ 2756483 w 2756483"/>
                <a:gd name="connsiteY8" fmla="*/ 1154291 h 1923730"/>
                <a:gd name="connsiteX9" fmla="*/ 2756483 w 2756483"/>
                <a:gd name="connsiteY9" fmla="*/ 1154288 h 1923730"/>
                <a:gd name="connsiteX10" fmla="*/ 2756483 w 2756483"/>
                <a:gd name="connsiteY10" fmla="*/ 1154288 h 1923730"/>
                <a:gd name="connsiteX11" fmla="*/ 2756483 w 2756483"/>
                <a:gd name="connsiteY11" fmla="*/ 1385121 h 1923730"/>
                <a:gd name="connsiteX12" fmla="*/ 2756483 w 2756483"/>
                <a:gd name="connsiteY12" fmla="*/ 1769839 h 1923730"/>
                <a:gd name="connsiteX13" fmla="*/ 2602592 w 2756483"/>
                <a:gd name="connsiteY13" fmla="*/ 1923730 h 1923730"/>
                <a:gd name="connsiteX14" fmla="*/ 1148535 w 2756483"/>
                <a:gd name="connsiteY14" fmla="*/ 1923730 h 1923730"/>
                <a:gd name="connsiteX15" fmla="*/ 459414 w 2756483"/>
                <a:gd name="connsiteY15" fmla="*/ 1923730 h 1923730"/>
                <a:gd name="connsiteX16" fmla="*/ 459414 w 2756483"/>
                <a:gd name="connsiteY16" fmla="*/ 1923730 h 1923730"/>
                <a:gd name="connsiteX17" fmla="*/ 153891 w 2756483"/>
                <a:gd name="connsiteY17" fmla="*/ 1923730 h 1923730"/>
                <a:gd name="connsiteX18" fmla="*/ 0 w 2756483"/>
                <a:gd name="connsiteY18" fmla="*/ 1769839 h 1923730"/>
                <a:gd name="connsiteX19" fmla="*/ 0 w 2756483"/>
                <a:gd name="connsiteY19" fmla="*/ 1385121 h 1923730"/>
                <a:gd name="connsiteX20" fmla="*/ 0 w 2756483"/>
                <a:gd name="connsiteY20" fmla="*/ 1154288 h 1923730"/>
                <a:gd name="connsiteX21" fmla="*/ 0 w 2756483"/>
                <a:gd name="connsiteY21" fmla="*/ 1154288 h 1923730"/>
                <a:gd name="connsiteX22" fmla="*/ 0 w 2756483"/>
                <a:gd name="connsiteY22" fmla="*/ 1154291 h 1923730"/>
                <a:gd name="connsiteX0" fmla="*/ 0 w 2756483"/>
                <a:gd name="connsiteY0" fmla="*/ 1154291 h 1923730"/>
                <a:gd name="connsiteX1" fmla="*/ 153891 w 2756483"/>
                <a:gd name="connsiteY1" fmla="*/ 1000400 h 1923730"/>
                <a:gd name="connsiteX2" fmla="*/ 720399 w 2756483"/>
                <a:gd name="connsiteY2" fmla="*/ 1002305 h 1923730"/>
                <a:gd name="connsiteX3" fmla="*/ 532501 w 2756483"/>
                <a:gd name="connsiteY3" fmla="*/ 608677 h 1923730"/>
                <a:gd name="connsiteX4" fmla="*/ 568221 w 2756483"/>
                <a:gd name="connsiteY4" fmla="*/ 0 h 1923730"/>
                <a:gd name="connsiteX5" fmla="*/ 715381 w 2756483"/>
                <a:gd name="connsiteY5" fmla="*/ 589627 h 1923730"/>
                <a:gd name="connsiteX6" fmla="*/ 1148535 w 2756483"/>
                <a:gd name="connsiteY6" fmla="*/ 1000400 h 1923730"/>
                <a:gd name="connsiteX7" fmla="*/ 2602592 w 2756483"/>
                <a:gd name="connsiteY7" fmla="*/ 1000400 h 1923730"/>
                <a:gd name="connsiteX8" fmla="*/ 2756483 w 2756483"/>
                <a:gd name="connsiteY8" fmla="*/ 1154291 h 1923730"/>
                <a:gd name="connsiteX9" fmla="*/ 2756483 w 2756483"/>
                <a:gd name="connsiteY9" fmla="*/ 1154288 h 1923730"/>
                <a:gd name="connsiteX10" fmla="*/ 2756483 w 2756483"/>
                <a:gd name="connsiteY10" fmla="*/ 1154288 h 1923730"/>
                <a:gd name="connsiteX11" fmla="*/ 2756483 w 2756483"/>
                <a:gd name="connsiteY11" fmla="*/ 1385121 h 1923730"/>
                <a:gd name="connsiteX12" fmla="*/ 2756483 w 2756483"/>
                <a:gd name="connsiteY12" fmla="*/ 1769839 h 1923730"/>
                <a:gd name="connsiteX13" fmla="*/ 2602592 w 2756483"/>
                <a:gd name="connsiteY13" fmla="*/ 1923730 h 1923730"/>
                <a:gd name="connsiteX14" fmla="*/ 1148535 w 2756483"/>
                <a:gd name="connsiteY14" fmla="*/ 1923730 h 1923730"/>
                <a:gd name="connsiteX15" fmla="*/ 459414 w 2756483"/>
                <a:gd name="connsiteY15" fmla="*/ 1923730 h 1923730"/>
                <a:gd name="connsiteX16" fmla="*/ 459414 w 2756483"/>
                <a:gd name="connsiteY16" fmla="*/ 1923730 h 1923730"/>
                <a:gd name="connsiteX17" fmla="*/ 153891 w 2756483"/>
                <a:gd name="connsiteY17" fmla="*/ 1923730 h 1923730"/>
                <a:gd name="connsiteX18" fmla="*/ 0 w 2756483"/>
                <a:gd name="connsiteY18" fmla="*/ 1769839 h 1923730"/>
                <a:gd name="connsiteX19" fmla="*/ 0 w 2756483"/>
                <a:gd name="connsiteY19" fmla="*/ 1385121 h 1923730"/>
                <a:gd name="connsiteX20" fmla="*/ 0 w 2756483"/>
                <a:gd name="connsiteY20" fmla="*/ 1154288 h 1923730"/>
                <a:gd name="connsiteX21" fmla="*/ 0 w 2756483"/>
                <a:gd name="connsiteY21" fmla="*/ 1154288 h 1923730"/>
                <a:gd name="connsiteX22" fmla="*/ 0 w 2756483"/>
                <a:gd name="connsiteY22" fmla="*/ 1154291 h 1923730"/>
                <a:gd name="connsiteX0" fmla="*/ 0 w 2756483"/>
                <a:gd name="connsiteY0" fmla="*/ 1154291 h 1923730"/>
                <a:gd name="connsiteX1" fmla="*/ 153891 w 2756483"/>
                <a:gd name="connsiteY1" fmla="*/ 1000400 h 1923730"/>
                <a:gd name="connsiteX2" fmla="*/ 720399 w 2756483"/>
                <a:gd name="connsiteY2" fmla="*/ 1002305 h 1923730"/>
                <a:gd name="connsiteX3" fmla="*/ 532501 w 2756483"/>
                <a:gd name="connsiteY3" fmla="*/ 608677 h 1923730"/>
                <a:gd name="connsiteX4" fmla="*/ 568221 w 2756483"/>
                <a:gd name="connsiteY4" fmla="*/ 0 h 1923730"/>
                <a:gd name="connsiteX5" fmla="*/ 715381 w 2756483"/>
                <a:gd name="connsiteY5" fmla="*/ 589627 h 1923730"/>
                <a:gd name="connsiteX6" fmla="*/ 1148535 w 2756483"/>
                <a:gd name="connsiteY6" fmla="*/ 1000400 h 1923730"/>
                <a:gd name="connsiteX7" fmla="*/ 2602592 w 2756483"/>
                <a:gd name="connsiteY7" fmla="*/ 1000400 h 1923730"/>
                <a:gd name="connsiteX8" fmla="*/ 2756483 w 2756483"/>
                <a:gd name="connsiteY8" fmla="*/ 1154291 h 1923730"/>
                <a:gd name="connsiteX9" fmla="*/ 2756483 w 2756483"/>
                <a:gd name="connsiteY9" fmla="*/ 1154288 h 1923730"/>
                <a:gd name="connsiteX10" fmla="*/ 2756483 w 2756483"/>
                <a:gd name="connsiteY10" fmla="*/ 1154288 h 1923730"/>
                <a:gd name="connsiteX11" fmla="*/ 2756483 w 2756483"/>
                <a:gd name="connsiteY11" fmla="*/ 1385121 h 1923730"/>
                <a:gd name="connsiteX12" fmla="*/ 2756483 w 2756483"/>
                <a:gd name="connsiteY12" fmla="*/ 1769839 h 1923730"/>
                <a:gd name="connsiteX13" fmla="*/ 2602592 w 2756483"/>
                <a:gd name="connsiteY13" fmla="*/ 1923730 h 1923730"/>
                <a:gd name="connsiteX14" fmla="*/ 1148535 w 2756483"/>
                <a:gd name="connsiteY14" fmla="*/ 1923730 h 1923730"/>
                <a:gd name="connsiteX15" fmla="*/ 459414 w 2756483"/>
                <a:gd name="connsiteY15" fmla="*/ 1923730 h 1923730"/>
                <a:gd name="connsiteX16" fmla="*/ 459414 w 2756483"/>
                <a:gd name="connsiteY16" fmla="*/ 1923730 h 1923730"/>
                <a:gd name="connsiteX17" fmla="*/ 153891 w 2756483"/>
                <a:gd name="connsiteY17" fmla="*/ 1923730 h 1923730"/>
                <a:gd name="connsiteX18" fmla="*/ 0 w 2756483"/>
                <a:gd name="connsiteY18" fmla="*/ 1769839 h 1923730"/>
                <a:gd name="connsiteX19" fmla="*/ 0 w 2756483"/>
                <a:gd name="connsiteY19" fmla="*/ 1385121 h 1923730"/>
                <a:gd name="connsiteX20" fmla="*/ 0 w 2756483"/>
                <a:gd name="connsiteY20" fmla="*/ 1154288 h 1923730"/>
                <a:gd name="connsiteX21" fmla="*/ 0 w 2756483"/>
                <a:gd name="connsiteY21" fmla="*/ 1154288 h 1923730"/>
                <a:gd name="connsiteX22" fmla="*/ 0 w 2756483"/>
                <a:gd name="connsiteY22" fmla="*/ 1154291 h 1923730"/>
                <a:gd name="connsiteX0" fmla="*/ 0 w 2756483"/>
                <a:gd name="connsiteY0" fmla="*/ 1154291 h 1923730"/>
                <a:gd name="connsiteX1" fmla="*/ 153891 w 2756483"/>
                <a:gd name="connsiteY1" fmla="*/ 1000400 h 1923730"/>
                <a:gd name="connsiteX2" fmla="*/ 720399 w 2756483"/>
                <a:gd name="connsiteY2" fmla="*/ 1002305 h 1923730"/>
                <a:gd name="connsiteX3" fmla="*/ 532501 w 2756483"/>
                <a:gd name="connsiteY3" fmla="*/ 608677 h 1923730"/>
                <a:gd name="connsiteX4" fmla="*/ 568221 w 2756483"/>
                <a:gd name="connsiteY4" fmla="*/ 0 h 1923730"/>
                <a:gd name="connsiteX5" fmla="*/ 715381 w 2756483"/>
                <a:gd name="connsiteY5" fmla="*/ 589627 h 1923730"/>
                <a:gd name="connsiteX6" fmla="*/ 1148535 w 2756483"/>
                <a:gd name="connsiteY6" fmla="*/ 1000400 h 1923730"/>
                <a:gd name="connsiteX7" fmla="*/ 2602592 w 2756483"/>
                <a:gd name="connsiteY7" fmla="*/ 1000400 h 1923730"/>
                <a:gd name="connsiteX8" fmla="*/ 2756483 w 2756483"/>
                <a:gd name="connsiteY8" fmla="*/ 1154291 h 1923730"/>
                <a:gd name="connsiteX9" fmla="*/ 2756483 w 2756483"/>
                <a:gd name="connsiteY9" fmla="*/ 1154288 h 1923730"/>
                <a:gd name="connsiteX10" fmla="*/ 2756483 w 2756483"/>
                <a:gd name="connsiteY10" fmla="*/ 1154288 h 1923730"/>
                <a:gd name="connsiteX11" fmla="*/ 2756483 w 2756483"/>
                <a:gd name="connsiteY11" fmla="*/ 1385121 h 1923730"/>
                <a:gd name="connsiteX12" fmla="*/ 2756483 w 2756483"/>
                <a:gd name="connsiteY12" fmla="*/ 1769839 h 1923730"/>
                <a:gd name="connsiteX13" fmla="*/ 2602592 w 2756483"/>
                <a:gd name="connsiteY13" fmla="*/ 1923730 h 1923730"/>
                <a:gd name="connsiteX14" fmla="*/ 1148535 w 2756483"/>
                <a:gd name="connsiteY14" fmla="*/ 1923730 h 1923730"/>
                <a:gd name="connsiteX15" fmla="*/ 459414 w 2756483"/>
                <a:gd name="connsiteY15" fmla="*/ 1923730 h 1923730"/>
                <a:gd name="connsiteX16" fmla="*/ 459414 w 2756483"/>
                <a:gd name="connsiteY16" fmla="*/ 1923730 h 1923730"/>
                <a:gd name="connsiteX17" fmla="*/ 153891 w 2756483"/>
                <a:gd name="connsiteY17" fmla="*/ 1923730 h 1923730"/>
                <a:gd name="connsiteX18" fmla="*/ 0 w 2756483"/>
                <a:gd name="connsiteY18" fmla="*/ 1769839 h 1923730"/>
                <a:gd name="connsiteX19" fmla="*/ 0 w 2756483"/>
                <a:gd name="connsiteY19" fmla="*/ 1385121 h 1923730"/>
                <a:gd name="connsiteX20" fmla="*/ 0 w 2756483"/>
                <a:gd name="connsiteY20" fmla="*/ 1154288 h 1923730"/>
                <a:gd name="connsiteX21" fmla="*/ 0 w 2756483"/>
                <a:gd name="connsiteY21" fmla="*/ 1154288 h 1923730"/>
                <a:gd name="connsiteX22" fmla="*/ 0 w 2756483"/>
                <a:gd name="connsiteY22" fmla="*/ 1154291 h 1923730"/>
                <a:gd name="connsiteX0" fmla="*/ 0 w 2756483"/>
                <a:gd name="connsiteY0" fmla="*/ 1154291 h 1923730"/>
                <a:gd name="connsiteX1" fmla="*/ 153891 w 2756483"/>
                <a:gd name="connsiteY1" fmla="*/ 1000400 h 1923730"/>
                <a:gd name="connsiteX2" fmla="*/ 720399 w 2756483"/>
                <a:gd name="connsiteY2" fmla="*/ 1002305 h 1923730"/>
                <a:gd name="connsiteX3" fmla="*/ 532501 w 2756483"/>
                <a:gd name="connsiteY3" fmla="*/ 608677 h 1923730"/>
                <a:gd name="connsiteX4" fmla="*/ 568221 w 2756483"/>
                <a:gd name="connsiteY4" fmla="*/ 0 h 1923730"/>
                <a:gd name="connsiteX5" fmla="*/ 715381 w 2756483"/>
                <a:gd name="connsiteY5" fmla="*/ 589627 h 1923730"/>
                <a:gd name="connsiteX6" fmla="*/ 1018995 w 2756483"/>
                <a:gd name="connsiteY6" fmla="*/ 998495 h 1923730"/>
                <a:gd name="connsiteX7" fmla="*/ 2602592 w 2756483"/>
                <a:gd name="connsiteY7" fmla="*/ 1000400 h 1923730"/>
                <a:gd name="connsiteX8" fmla="*/ 2756483 w 2756483"/>
                <a:gd name="connsiteY8" fmla="*/ 1154291 h 1923730"/>
                <a:gd name="connsiteX9" fmla="*/ 2756483 w 2756483"/>
                <a:gd name="connsiteY9" fmla="*/ 1154288 h 1923730"/>
                <a:gd name="connsiteX10" fmla="*/ 2756483 w 2756483"/>
                <a:gd name="connsiteY10" fmla="*/ 1154288 h 1923730"/>
                <a:gd name="connsiteX11" fmla="*/ 2756483 w 2756483"/>
                <a:gd name="connsiteY11" fmla="*/ 1385121 h 1923730"/>
                <a:gd name="connsiteX12" fmla="*/ 2756483 w 2756483"/>
                <a:gd name="connsiteY12" fmla="*/ 1769839 h 1923730"/>
                <a:gd name="connsiteX13" fmla="*/ 2602592 w 2756483"/>
                <a:gd name="connsiteY13" fmla="*/ 1923730 h 1923730"/>
                <a:gd name="connsiteX14" fmla="*/ 1148535 w 2756483"/>
                <a:gd name="connsiteY14" fmla="*/ 1923730 h 1923730"/>
                <a:gd name="connsiteX15" fmla="*/ 459414 w 2756483"/>
                <a:gd name="connsiteY15" fmla="*/ 1923730 h 1923730"/>
                <a:gd name="connsiteX16" fmla="*/ 459414 w 2756483"/>
                <a:gd name="connsiteY16" fmla="*/ 1923730 h 1923730"/>
                <a:gd name="connsiteX17" fmla="*/ 153891 w 2756483"/>
                <a:gd name="connsiteY17" fmla="*/ 1923730 h 1923730"/>
                <a:gd name="connsiteX18" fmla="*/ 0 w 2756483"/>
                <a:gd name="connsiteY18" fmla="*/ 1769839 h 1923730"/>
                <a:gd name="connsiteX19" fmla="*/ 0 w 2756483"/>
                <a:gd name="connsiteY19" fmla="*/ 1385121 h 1923730"/>
                <a:gd name="connsiteX20" fmla="*/ 0 w 2756483"/>
                <a:gd name="connsiteY20" fmla="*/ 1154288 h 1923730"/>
                <a:gd name="connsiteX21" fmla="*/ 0 w 2756483"/>
                <a:gd name="connsiteY21" fmla="*/ 1154288 h 1923730"/>
                <a:gd name="connsiteX22" fmla="*/ 0 w 2756483"/>
                <a:gd name="connsiteY22" fmla="*/ 1154291 h 1923730"/>
                <a:gd name="connsiteX0" fmla="*/ 0 w 2756483"/>
                <a:gd name="connsiteY0" fmla="*/ 1154291 h 1923730"/>
                <a:gd name="connsiteX1" fmla="*/ 153891 w 2756483"/>
                <a:gd name="connsiteY1" fmla="*/ 1000400 h 1923730"/>
                <a:gd name="connsiteX2" fmla="*/ 720399 w 2756483"/>
                <a:gd name="connsiteY2" fmla="*/ 1002305 h 1923730"/>
                <a:gd name="connsiteX3" fmla="*/ 532501 w 2756483"/>
                <a:gd name="connsiteY3" fmla="*/ 608677 h 1923730"/>
                <a:gd name="connsiteX4" fmla="*/ 568221 w 2756483"/>
                <a:gd name="connsiteY4" fmla="*/ 0 h 1923730"/>
                <a:gd name="connsiteX5" fmla="*/ 715381 w 2756483"/>
                <a:gd name="connsiteY5" fmla="*/ 589627 h 1923730"/>
                <a:gd name="connsiteX6" fmla="*/ 1018995 w 2756483"/>
                <a:gd name="connsiteY6" fmla="*/ 998495 h 1923730"/>
                <a:gd name="connsiteX7" fmla="*/ 2602592 w 2756483"/>
                <a:gd name="connsiteY7" fmla="*/ 1000400 h 1923730"/>
                <a:gd name="connsiteX8" fmla="*/ 2756483 w 2756483"/>
                <a:gd name="connsiteY8" fmla="*/ 1154291 h 1923730"/>
                <a:gd name="connsiteX9" fmla="*/ 2756483 w 2756483"/>
                <a:gd name="connsiteY9" fmla="*/ 1154288 h 1923730"/>
                <a:gd name="connsiteX10" fmla="*/ 2756483 w 2756483"/>
                <a:gd name="connsiteY10" fmla="*/ 1154288 h 1923730"/>
                <a:gd name="connsiteX11" fmla="*/ 2756483 w 2756483"/>
                <a:gd name="connsiteY11" fmla="*/ 1385121 h 1923730"/>
                <a:gd name="connsiteX12" fmla="*/ 2756483 w 2756483"/>
                <a:gd name="connsiteY12" fmla="*/ 1769839 h 1923730"/>
                <a:gd name="connsiteX13" fmla="*/ 2602592 w 2756483"/>
                <a:gd name="connsiteY13" fmla="*/ 1923730 h 1923730"/>
                <a:gd name="connsiteX14" fmla="*/ 1148535 w 2756483"/>
                <a:gd name="connsiteY14" fmla="*/ 1923730 h 1923730"/>
                <a:gd name="connsiteX15" fmla="*/ 459414 w 2756483"/>
                <a:gd name="connsiteY15" fmla="*/ 1923730 h 1923730"/>
                <a:gd name="connsiteX16" fmla="*/ 459414 w 2756483"/>
                <a:gd name="connsiteY16" fmla="*/ 1923730 h 1923730"/>
                <a:gd name="connsiteX17" fmla="*/ 153891 w 2756483"/>
                <a:gd name="connsiteY17" fmla="*/ 1923730 h 1923730"/>
                <a:gd name="connsiteX18" fmla="*/ 0 w 2756483"/>
                <a:gd name="connsiteY18" fmla="*/ 1769839 h 1923730"/>
                <a:gd name="connsiteX19" fmla="*/ 0 w 2756483"/>
                <a:gd name="connsiteY19" fmla="*/ 1385121 h 1923730"/>
                <a:gd name="connsiteX20" fmla="*/ 0 w 2756483"/>
                <a:gd name="connsiteY20" fmla="*/ 1154288 h 1923730"/>
                <a:gd name="connsiteX21" fmla="*/ 0 w 2756483"/>
                <a:gd name="connsiteY21" fmla="*/ 1154288 h 1923730"/>
                <a:gd name="connsiteX22" fmla="*/ 0 w 2756483"/>
                <a:gd name="connsiteY22" fmla="*/ 1154291 h 1923730"/>
                <a:gd name="connsiteX0" fmla="*/ 0 w 2756483"/>
                <a:gd name="connsiteY0" fmla="*/ 1154291 h 1923730"/>
                <a:gd name="connsiteX1" fmla="*/ 153891 w 2756483"/>
                <a:gd name="connsiteY1" fmla="*/ 1000400 h 1923730"/>
                <a:gd name="connsiteX2" fmla="*/ 720399 w 2756483"/>
                <a:gd name="connsiteY2" fmla="*/ 1002305 h 1923730"/>
                <a:gd name="connsiteX3" fmla="*/ 532501 w 2756483"/>
                <a:gd name="connsiteY3" fmla="*/ 608677 h 1923730"/>
                <a:gd name="connsiteX4" fmla="*/ 568221 w 2756483"/>
                <a:gd name="connsiteY4" fmla="*/ 0 h 1923730"/>
                <a:gd name="connsiteX5" fmla="*/ 715381 w 2756483"/>
                <a:gd name="connsiteY5" fmla="*/ 589627 h 1923730"/>
                <a:gd name="connsiteX6" fmla="*/ 1018995 w 2756483"/>
                <a:gd name="connsiteY6" fmla="*/ 998495 h 1923730"/>
                <a:gd name="connsiteX7" fmla="*/ 2602592 w 2756483"/>
                <a:gd name="connsiteY7" fmla="*/ 1000400 h 1923730"/>
                <a:gd name="connsiteX8" fmla="*/ 2756483 w 2756483"/>
                <a:gd name="connsiteY8" fmla="*/ 1154291 h 1923730"/>
                <a:gd name="connsiteX9" fmla="*/ 2756483 w 2756483"/>
                <a:gd name="connsiteY9" fmla="*/ 1154288 h 1923730"/>
                <a:gd name="connsiteX10" fmla="*/ 2756483 w 2756483"/>
                <a:gd name="connsiteY10" fmla="*/ 1154288 h 1923730"/>
                <a:gd name="connsiteX11" fmla="*/ 2756483 w 2756483"/>
                <a:gd name="connsiteY11" fmla="*/ 1385121 h 1923730"/>
                <a:gd name="connsiteX12" fmla="*/ 2756483 w 2756483"/>
                <a:gd name="connsiteY12" fmla="*/ 1769839 h 1923730"/>
                <a:gd name="connsiteX13" fmla="*/ 2602592 w 2756483"/>
                <a:gd name="connsiteY13" fmla="*/ 1923730 h 1923730"/>
                <a:gd name="connsiteX14" fmla="*/ 1148535 w 2756483"/>
                <a:gd name="connsiteY14" fmla="*/ 1923730 h 1923730"/>
                <a:gd name="connsiteX15" fmla="*/ 459414 w 2756483"/>
                <a:gd name="connsiteY15" fmla="*/ 1923730 h 1923730"/>
                <a:gd name="connsiteX16" fmla="*/ 459414 w 2756483"/>
                <a:gd name="connsiteY16" fmla="*/ 1923730 h 1923730"/>
                <a:gd name="connsiteX17" fmla="*/ 153891 w 2756483"/>
                <a:gd name="connsiteY17" fmla="*/ 1923730 h 1923730"/>
                <a:gd name="connsiteX18" fmla="*/ 0 w 2756483"/>
                <a:gd name="connsiteY18" fmla="*/ 1769839 h 1923730"/>
                <a:gd name="connsiteX19" fmla="*/ 0 w 2756483"/>
                <a:gd name="connsiteY19" fmla="*/ 1385121 h 1923730"/>
                <a:gd name="connsiteX20" fmla="*/ 0 w 2756483"/>
                <a:gd name="connsiteY20" fmla="*/ 1154288 h 1923730"/>
                <a:gd name="connsiteX21" fmla="*/ 0 w 2756483"/>
                <a:gd name="connsiteY21" fmla="*/ 1154288 h 1923730"/>
                <a:gd name="connsiteX22" fmla="*/ 0 w 2756483"/>
                <a:gd name="connsiteY22" fmla="*/ 1154291 h 1923730"/>
                <a:gd name="connsiteX0" fmla="*/ 0 w 2756483"/>
                <a:gd name="connsiteY0" fmla="*/ 1154291 h 1923730"/>
                <a:gd name="connsiteX1" fmla="*/ 153891 w 2756483"/>
                <a:gd name="connsiteY1" fmla="*/ 1000400 h 1923730"/>
                <a:gd name="connsiteX2" fmla="*/ 720399 w 2756483"/>
                <a:gd name="connsiteY2" fmla="*/ 1002305 h 1923730"/>
                <a:gd name="connsiteX3" fmla="*/ 532501 w 2756483"/>
                <a:gd name="connsiteY3" fmla="*/ 608677 h 1923730"/>
                <a:gd name="connsiteX4" fmla="*/ 568221 w 2756483"/>
                <a:gd name="connsiteY4" fmla="*/ 0 h 1923730"/>
                <a:gd name="connsiteX5" fmla="*/ 715381 w 2756483"/>
                <a:gd name="connsiteY5" fmla="*/ 589627 h 1923730"/>
                <a:gd name="connsiteX6" fmla="*/ 1018995 w 2756483"/>
                <a:gd name="connsiteY6" fmla="*/ 998495 h 1923730"/>
                <a:gd name="connsiteX7" fmla="*/ 2602592 w 2756483"/>
                <a:gd name="connsiteY7" fmla="*/ 1000400 h 1923730"/>
                <a:gd name="connsiteX8" fmla="*/ 2756483 w 2756483"/>
                <a:gd name="connsiteY8" fmla="*/ 1154291 h 1923730"/>
                <a:gd name="connsiteX9" fmla="*/ 2756483 w 2756483"/>
                <a:gd name="connsiteY9" fmla="*/ 1154288 h 1923730"/>
                <a:gd name="connsiteX10" fmla="*/ 2756483 w 2756483"/>
                <a:gd name="connsiteY10" fmla="*/ 1154288 h 1923730"/>
                <a:gd name="connsiteX11" fmla="*/ 2756483 w 2756483"/>
                <a:gd name="connsiteY11" fmla="*/ 1385121 h 1923730"/>
                <a:gd name="connsiteX12" fmla="*/ 2756483 w 2756483"/>
                <a:gd name="connsiteY12" fmla="*/ 1769839 h 1923730"/>
                <a:gd name="connsiteX13" fmla="*/ 2602592 w 2756483"/>
                <a:gd name="connsiteY13" fmla="*/ 1923730 h 1923730"/>
                <a:gd name="connsiteX14" fmla="*/ 1148535 w 2756483"/>
                <a:gd name="connsiteY14" fmla="*/ 1923730 h 1923730"/>
                <a:gd name="connsiteX15" fmla="*/ 459414 w 2756483"/>
                <a:gd name="connsiteY15" fmla="*/ 1923730 h 1923730"/>
                <a:gd name="connsiteX16" fmla="*/ 459414 w 2756483"/>
                <a:gd name="connsiteY16" fmla="*/ 1923730 h 1923730"/>
                <a:gd name="connsiteX17" fmla="*/ 153891 w 2756483"/>
                <a:gd name="connsiteY17" fmla="*/ 1923730 h 1923730"/>
                <a:gd name="connsiteX18" fmla="*/ 0 w 2756483"/>
                <a:gd name="connsiteY18" fmla="*/ 1769839 h 1923730"/>
                <a:gd name="connsiteX19" fmla="*/ 0 w 2756483"/>
                <a:gd name="connsiteY19" fmla="*/ 1385121 h 1923730"/>
                <a:gd name="connsiteX20" fmla="*/ 0 w 2756483"/>
                <a:gd name="connsiteY20" fmla="*/ 1154288 h 1923730"/>
                <a:gd name="connsiteX21" fmla="*/ 0 w 2756483"/>
                <a:gd name="connsiteY21" fmla="*/ 1154288 h 1923730"/>
                <a:gd name="connsiteX22" fmla="*/ 0 w 2756483"/>
                <a:gd name="connsiteY22" fmla="*/ 1154291 h 1923730"/>
                <a:gd name="connsiteX0" fmla="*/ 0 w 2756483"/>
                <a:gd name="connsiteY0" fmla="*/ 1154291 h 1923730"/>
                <a:gd name="connsiteX1" fmla="*/ 153891 w 2756483"/>
                <a:gd name="connsiteY1" fmla="*/ 1000400 h 1923730"/>
                <a:gd name="connsiteX2" fmla="*/ 720399 w 2756483"/>
                <a:gd name="connsiteY2" fmla="*/ 1002305 h 1923730"/>
                <a:gd name="connsiteX3" fmla="*/ 572506 w 2756483"/>
                <a:gd name="connsiteY3" fmla="*/ 614392 h 1923730"/>
                <a:gd name="connsiteX4" fmla="*/ 568221 w 2756483"/>
                <a:gd name="connsiteY4" fmla="*/ 0 h 1923730"/>
                <a:gd name="connsiteX5" fmla="*/ 715381 w 2756483"/>
                <a:gd name="connsiteY5" fmla="*/ 589627 h 1923730"/>
                <a:gd name="connsiteX6" fmla="*/ 1018995 w 2756483"/>
                <a:gd name="connsiteY6" fmla="*/ 998495 h 1923730"/>
                <a:gd name="connsiteX7" fmla="*/ 2602592 w 2756483"/>
                <a:gd name="connsiteY7" fmla="*/ 1000400 h 1923730"/>
                <a:gd name="connsiteX8" fmla="*/ 2756483 w 2756483"/>
                <a:gd name="connsiteY8" fmla="*/ 1154291 h 1923730"/>
                <a:gd name="connsiteX9" fmla="*/ 2756483 w 2756483"/>
                <a:gd name="connsiteY9" fmla="*/ 1154288 h 1923730"/>
                <a:gd name="connsiteX10" fmla="*/ 2756483 w 2756483"/>
                <a:gd name="connsiteY10" fmla="*/ 1154288 h 1923730"/>
                <a:gd name="connsiteX11" fmla="*/ 2756483 w 2756483"/>
                <a:gd name="connsiteY11" fmla="*/ 1385121 h 1923730"/>
                <a:gd name="connsiteX12" fmla="*/ 2756483 w 2756483"/>
                <a:gd name="connsiteY12" fmla="*/ 1769839 h 1923730"/>
                <a:gd name="connsiteX13" fmla="*/ 2602592 w 2756483"/>
                <a:gd name="connsiteY13" fmla="*/ 1923730 h 1923730"/>
                <a:gd name="connsiteX14" fmla="*/ 1148535 w 2756483"/>
                <a:gd name="connsiteY14" fmla="*/ 1923730 h 1923730"/>
                <a:gd name="connsiteX15" fmla="*/ 459414 w 2756483"/>
                <a:gd name="connsiteY15" fmla="*/ 1923730 h 1923730"/>
                <a:gd name="connsiteX16" fmla="*/ 459414 w 2756483"/>
                <a:gd name="connsiteY16" fmla="*/ 1923730 h 1923730"/>
                <a:gd name="connsiteX17" fmla="*/ 153891 w 2756483"/>
                <a:gd name="connsiteY17" fmla="*/ 1923730 h 1923730"/>
                <a:gd name="connsiteX18" fmla="*/ 0 w 2756483"/>
                <a:gd name="connsiteY18" fmla="*/ 1769839 h 1923730"/>
                <a:gd name="connsiteX19" fmla="*/ 0 w 2756483"/>
                <a:gd name="connsiteY19" fmla="*/ 1385121 h 1923730"/>
                <a:gd name="connsiteX20" fmla="*/ 0 w 2756483"/>
                <a:gd name="connsiteY20" fmla="*/ 1154288 h 1923730"/>
                <a:gd name="connsiteX21" fmla="*/ 0 w 2756483"/>
                <a:gd name="connsiteY21" fmla="*/ 1154288 h 1923730"/>
                <a:gd name="connsiteX22" fmla="*/ 0 w 2756483"/>
                <a:gd name="connsiteY22" fmla="*/ 1154291 h 192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56483" h="1923730">
                  <a:moveTo>
                    <a:pt x="0" y="1154291"/>
                  </a:moveTo>
                  <a:cubicBezTo>
                    <a:pt x="0" y="1069299"/>
                    <a:pt x="68899" y="1000400"/>
                    <a:pt x="153891" y="1000400"/>
                  </a:cubicBezTo>
                  <a:lnTo>
                    <a:pt x="720399" y="1002305"/>
                  </a:lnTo>
                  <a:cubicBezTo>
                    <a:pt x="657766" y="871096"/>
                    <a:pt x="608469" y="789416"/>
                    <a:pt x="572506" y="614392"/>
                  </a:cubicBezTo>
                  <a:cubicBezTo>
                    <a:pt x="548218" y="413405"/>
                    <a:pt x="556314" y="202892"/>
                    <a:pt x="568221" y="0"/>
                  </a:cubicBezTo>
                  <a:cubicBezTo>
                    <a:pt x="617274" y="196542"/>
                    <a:pt x="645373" y="396895"/>
                    <a:pt x="715381" y="589627"/>
                  </a:cubicBezTo>
                  <a:cubicBezTo>
                    <a:pt x="806426" y="768461"/>
                    <a:pt x="868895" y="861571"/>
                    <a:pt x="1018995" y="998495"/>
                  </a:cubicBezTo>
                  <a:lnTo>
                    <a:pt x="2602592" y="1000400"/>
                  </a:lnTo>
                  <a:cubicBezTo>
                    <a:pt x="2687584" y="1000400"/>
                    <a:pt x="2756483" y="1069299"/>
                    <a:pt x="2756483" y="1154291"/>
                  </a:cubicBezTo>
                  <a:lnTo>
                    <a:pt x="2756483" y="1154288"/>
                  </a:lnTo>
                  <a:lnTo>
                    <a:pt x="2756483" y="1154288"/>
                  </a:lnTo>
                  <a:lnTo>
                    <a:pt x="2756483" y="1385121"/>
                  </a:lnTo>
                  <a:lnTo>
                    <a:pt x="2756483" y="1769839"/>
                  </a:lnTo>
                  <a:cubicBezTo>
                    <a:pt x="2756483" y="1854831"/>
                    <a:pt x="2687584" y="1923730"/>
                    <a:pt x="2602592" y="1923730"/>
                  </a:cubicBezTo>
                  <a:lnTo>
                    <a:pt x="1148535" y="1923730"/>
                  </a:lnTo>
                  <a:lnTo>
                    <a:pt x="459414" y="1923730"/>
                  </a:lnTo>
                  <a:lnTo>
                    <a:pt x="459414" y="1923730"/>
                  </a:lnTo>
                  <a:lnTo>
                    <a:pt x="153891" y="1923730"/>
                  </a:lnTo>
                  <a:cubicBezTo>
                    <a:pt x="68899" y="1923730"/>
                    <a:pt x="0" y="1854831"/>
                    <a:pt x="0" y="1769839"/>
                  </a:cubicBezTo>
                  <a:lnTo>
                    <a:pt x="0" y="1385121"/>
                  </a:lnTo>
                  <a:lnTo>
                    <a:pt x="0" y="1154288"/>
                  </a:lnTo>
                  <a:lnTo>
                    <a:pt x="0" y="1154288"/>
                  </a:lnTo>
                  <a:lnTo>
                    <a:pt x="0" y="1154291"/>
                  </a:ln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044D0E-75F6-D846-769C-1527159DBE84}"/>
                </a:ext>
              </a:extLst>
            </p:cNvPr>
            <p:cNvSpPr txBox="1"/>
            <p:nvPr/>
          </p:nvSpPr>
          <p:spPr>
            <a:xfrm>
              <a:off x="3720012" y="5148508"/>
              <a:ext cx="2674015" cy="923330"/>
            </a:xfrm>
            <a:prstGeom prst="rect">
              <a:avLst/>
            </a:prstGeom>
            <a:noFill/>
          </p:spPr>
          <p:txBody>
            <a:bodyPr wrap="square" rtlCol="0">
              <a:spAutoFit/>
            </a:bodyPr>
            <a:lstStyle/>
            <a:p>
              <a:r>
                <a:rPr lang="en-US" dirty="0">
                  <a:latin typeface="Dreaming Outloud Pro" panose="03050502040302030504" pitchFamily="66" charset="0"/>
                  <a:cs typeface="Dreaming Outloud Pro" panose="03050502040302030504" pitchFamily="66" charset="0"/>
                </a:rPr>
                <a:t>AND HERE’S WHERE THEY </a:t>
              </a:r>
            </a:p>
            <a:p>
              <a:r>
                <a:rPr lang="en-US" dirty="0">
                  <a:latin typeface="Dreaming Outloud Pro" panose="03050502040302030504" pitchFamily="66" charset="0"/>
                  <a:cs typeface="Dreaming Outloud Pro" panose="03050502040302030504" pitchFamily="66" charset="0"/>
                </a:rPr>
                <a:t>DISCOVERED MESSAGE </a:t>
              </a:r>
            </a:p>
            <a:p>
              <a:r>
                <a:rPr lang="en-US" dirty="0">
                  <a:latin typeface="Dreaming Outloud Pro" panose="03050502040302030504" pitchFamily="66" charset="0"/>
                  <a:cs typeface="Dreaming Outloud Pro" panose="03050502040302030504" pitchFamily="66" charset="0"/>
                </a:rPr>
                <a:t>DRIVEN ARCITECTURE</a:t>
              </a:r>
            </a:p>
          </p:txBody>
        </p:sp>
      </p:grpSp>
    </p:spTree>
    <p:extLst>
      <p:ext uri="{BB962C8B-B14F-4D97-AF65-F5344CB8AC3E}">
        <p14:creationId xmlns:p14="http://schemas.microsoft.com/office/powerpoint/2010/main" val="39078245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2ECF750-8844-E166-A6AF-8E0C13FEB7C3}"/>
            </a:ext>
          </a:extLst>
        </p:cNvPr>
        <p:cNvGrpSpPr/>
        <p:nvPr/>
      </p:nvGrpSpPr>
      <p:grpSpPr>
        <a:xfrm>
          <a:off x="0" y="0"/>
          <a:ext cx="0" cy="0"/>
          <a:chOff x="0" y="0"/>
          <a:chExt cx="0" cy="0"/>
        </a:xfrm>
      </p:grpSpPr>
      <p:sp>
        <p:nvSpPr>
          <p:cNvPr id="187" name="Rectangle 186">
            <a:extLst>
              <a:ext uri="{FF2B5EF4-FFF2-40B4-BE49-F238E27FC236}">
                <a16:creationId xmlns:a16="http://schemas.microsoft.com/office/drawing/2014/main" id="{EAD84816-4FCF-4D11-C22A-9659BC1E22F4}"/>
              </a:ext>
            </a:extLst>
          </p:cNvPr>
          <p:cNvSpPr/>
          <p:nvPr/>
        </p:nvSpPr>
        <p:spPr>
          <a:xfrm>
            <a:off x="2327653" y="1440180"/>
            <a:ext cx="7966967" cy="434280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accent1">
                    <a:lumMod val="50000"/>
                  </a:schemeClr>
                </a:solidFill>
              </a:rPr>
              <a:t>System</a:t>
            </a:r>
          </a:p>
        </p:txBody>
      </p:sp>
      <p:sp>
        <p:nvSpPr>
          <p:cNvPr id="42" name="Rectangle 41">
            <a:extLst>
              <a:ext uri="{FF2B5EF4-FFF2-40B4-BE49-F238E27FC236}">
                <a16:creationId xmlns:a16="http://schemas.microsoft.com/office/drawing/2014/main" id="{F872B4E9-63F4-49DF-9057-3F98D1448833}"/>
              </a:ext>
            </a:extLst>
          </p:cNvPr>
          <p:cNvSpPr/>
          <p:nvPr/>
        </p:nvSpPr>
        <p:spPr>
          <a:xfrm>
            <a:off x="4704930" y="2629675"/>
            <a:ext cx="3416817" cy="1749718"/>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600" dirty="0">
                <a:solidFill>
                  <a:schemeClr val="accent1">
                    <a:lumMod val="50000"/>
                  </a:schemeClr>
                </a:solidFill>
              </a:rPr>
              <a:t>Accounting Trade Queue</a:t>
            </a:r>
          </a:p>
        </p:txBody>
      </p:sp>
      <p:sp>
        <p:nvSpPr>
          <p:cNvPr id="2" name="Title 1">
            <a:extLst>
              <a:ext uri="{FF2B5EF4-FFF2-40B4-BE49-F238E27FC236}">
                <a16:creationId xmlns:a16="http://schemas.microsoft.com/office/drawing/2014/main" id="{DF813D43-BCE3-BEAF-B8A6-DCD5C49ACBC8}"/>
              </a:ext>
            </a:extLst>
          </p:cNvPr>
          <p:cNvSpPr>
            <a:spLocks noGrp="1"/>
          </p:cNvSpPr>
          <p:nvPr>
            <p:ph type="title"/>
          </p:nvPr>
        </p:nvSpPr>
        <p:spPr/>
        <p:txBody>
          <a:bodyPr>
            <a:normAutofit/>
          </a:bodyPr>
          <a:lstStyle/>
          <a:p>
            <a:r>
              <a:rPr lang="en-US" dirty="0"/>
              <a:t>High Level Architecture</a:t>
            </a:r>
          </a:p>
        </p:txBody>
      </p:sp>
      <p:sp>
        <p:nvSpPr>
          <p:cNvPr id="4" name="Slide Number Placeholder 3">
            <a:extLst>
              <a:ext uri="{FF2B5EF4-FFF2-40B4-BE49-F238E27FC236}">
                <a16:creationId xmlns:a16="http://schemas.microsoft.com/office/drawing/2014/main" id="{0D0B66B1-D75C-28EE-9AE8-6925B03DF575}"/>
              </a:ext>
            </a:extLst>
          </p:cNvPr>
          <p:cNvSpPr>
            <a:spLocks noGrp="1"/>
          </p:cNvSpPr>
          <p:nvPr>
            <p:ph type="sldNum" sz="quarter" idx="12"/>
          </p:nvPr>
        </p:nvSpPr>
        <p:spPr/>
        <p:txBody>
          <a:bodyPr/>
          <a:lstStyle/>
          <a:p>
            <a:fld id="{E6E087A0-8E33-4AD2-B40F-AC5841A95ADE}" type="slidenum">
              <a:rPr lang="en-US" smtClean="0"/>
              <a:t>44</a:t>
            </a:fld>
            <a:endParaRPr lang="en-US"/>
          </a:p>
        </p:txBody>
      </p:sp>
      <p:sp>
        <p:nvSpPr>
          <p:cNvPr id="5" name="Rectangle 4">
            <a:extLst>
              <a:ext uri="{FF2B5EF4-FFF2-40B4-BE49-F238E27FC236}">
                <a16:creationId xmlns:a16="http://schemas.microsoft.com/office/drawing/2014/main" id="{D776BB7D-2BB8-91E7-610E-D19407FF657F}"/>
              </a:ext>
            </a:extLst>
          </p:cNvPr>
          <p:cNvSpPr/>
          <p:nvPr/>
        </p:nvSpPr>
        <p:spPr>
          <a:xfrm>
            <a:off x="485264" y="2836769"/>
            <a:ext cx="1643409" cy="1336864"/>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t"/>
          <a:lstStyle/>
          <a:p>
            <a:pPr algn="ctr"/>
            <a:r>
              <a:rPr lang="en-US" sz="1600" dirty="0">
                <a:solidFill>
                  <a:schemeClr val="accent1">
                    <a:lumMod val="50000"/>
                  </a:schemeClr>
                </a:solidFill>
              </a:rPr>
              <a:t>Trade Source</a:t>
            </a:r>
          </a:p>
        </p:txBody>
      </p:sp>
      <p:cxnSp>
        <p:nvCxnSpPr>
          <p:cNvPr id="10" name="Straight Arrow Connector 9">
            <a:extLst>
              <a:ext uri="{FF2B5EF4-FFF2-40B4-BE49-F238E27FC236}">
                <a16:creationId xmlns:a16="http://schemas.microsoft.com/office/drawing/2014/main" id="{23AB4773-D09F-BD9A-61F2-37D23C78D179}"/>
              </a:ext>
            </a:extLst>
          </p:cNvPr>
          <p:cNvCxnSpPr>
            <a:cxnSpLocks/>
            <a:stCxn id="5" idx="3"/>
            <a:endCxn id="42" idx="1"/>
          </p:cNvCxnSpPr>
          <p:nvPr/>
        </p:nvCxnSpPr>
        <p:spPr>
          <a:xfrm flipV="1">
            <a:off x="2128673" y="3504534"/>
            <a:ext cx="2576257" cy="667"/>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9AF07575-CBE3-0F93-094F-8D338E2FD164}"/>
              </a:ext>
            </a:extLst>
          </p:cNvPr>
          <p:cNvCxnSpPr>
            <a:cxnSpLocks/>
            <a:stCxn id="108" idx="3"/>
            <a:endCxn id="114" idx="1"/>
          </p:cNvCxnSpPr>
          <p:nvPr/>
        </p:nvCxnSpPr>
        <p:spPr>
          <a:xfrm>
            <a:off x="4818484" y="3197208"/>
            <a:ext cx="3188791" cy="0"/>
          </a:xfrm>
          <a:prstGeom prst="straightConnector1">
            <a:avLst/>
          </a:prstGeom>
          <a:ln w="12700">
            <a:solidFill>
              <a:schemeClr val="tx1"/>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02113D99-6EB3-E785-74A9-51E7170EF542}"/>
              </a:ext>
            </a:extLst>
          </p:cNvPr>
          <p:cNvCxnSpPr>
            <a:cxnSpLocks/>
            <a:stCxn id="109" idx="3"/>
            <a:endCxn id="115" idx="1"/>
          </p:cNvCxnSpPr>
          <p:nvPr/>
        </p:nvCxnSpPr>
        <p:spPr>
          <a:xfrm>
            <a:off x="4818484" y="3506641"/>
            <a:ext cx="3188791" cy="0"/>
          </a:xfrm>
          <a:prstGeom prst="straightConnector1">
            <a:avLst/>
          </a:prstGeom>
          <a:ln w="12700">
            <a:solidFill>
              <a:schemeClr val="tx1"/>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2D55E4C2-E3C6-3D15-22BC-32179EC11FCC}"/>
              </a:ext>
            </a:extLst>
          </p:cNvPr>
          <p:cNvCxnSpPr>
            <a:cxnSpLocks/>
            <a:stCxn id="110" idx="3"/>
            <a:endCxn id="116" idx="1"/>
          </p:cNvCxnSpPr>
          <p:nvPr/>
        </p:nvCxnSpPr>
        <p:spPr>
          <a:xfrm>
            <a:off x="4818484" y="3813966"/>
            <a:ext cx="3188791" cy="0"/>
          </a:xfrm>
          <a:prstGeom prst="straightConnector1">
            <a:avLst/>
          </a:prstGeom>
          <a:ln w="12700">
            <a:solidFill>
              <a:schemeClr val="tx1"/>
            </a:solidFill>
            <a:prstDash val="dash"/>
            <a:tailEnd type="arrow"/>
          </a:ln>
        </p:spPr>
        <p:style>
          <a:lnRef idx="2">
            <a:schemeClr val="accent1"/>
          </a:lnRef>
          <a:fillRef idx="0">
            <a:schemeClr val="accent1"/>
          </a:fillRef>
          <a:effectRef idx="1">
            <a:schemeClr val="accent1"/>
          </a:effectRef>
          <a:fontRef idx="minor">
            <a:schemeClr val="tx1"/>
          </a:fontRef>
        </p:style>
      </p:cxnSp>
      <p:grpSp>
        <p:nvGrpSpPr>
          <p:cNvPr id="50" name="Group 49">
            <a:extLst>
              <a:ext uri="{FF2B5EF4-FFF2-40B4-BE49-F238E27FC236}">
                <a16:creationId xmlns:a16="http://schemas.microsoft.com/office/drawing/2014/main" id="{317A2A05-FB41-8C20-378C-81FDCDAB555C}"/>
              </a:ext>
            </a:extLst>
          </p:cNvPr>
          <p:cNvGrpSpPr/>
          <p:nvPr/>
        </p:nvGrpSpPr>
        <p:grpSpPr>
          <a:xfrm>
            <a:off x="5184788" y="3108347"/>
            <a:ext cx="253890" cy="177723"/>
            <a:chOff x="1369637" y="1480086"/>
            <a:chExt cx="712544" cy="498780"/>
          </a:xfrm>
        </p:grpSpPr>
        <p:sp>
          <p:nvSpPr>
            <p:cNvPr id="51" name="Rectangle 50">
              <a:extLst>
                <a:ext uri="{FF2B5EF4-FFF2-40B4-BE49-F238E27FC236}">
                  <a16:creationId xmlns:a16="http://schemas.microsoft.com/office/drawing/2014/main" id="{F0C6568A-8C5C-1E0D-5AF4-16D05D05C41B}"/>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Graphic 44" descr="Envelope with solid fill">
              <a:extLst>
                <a:ext uri="{FF2B5EF4-FFF2-40B4-BE49-F238E27FC236}">
                  <a16:creationId xmlns:a16="http://schemas.microsoft.com/office/drawing/2014/main" id="{5B9EBFE6-27D5-7EDB-A8F2-D248F4565FB9}"/>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2"/>
            </a:solidFill>
            <a:ln w="8830" cap="flat">
              <a:solidFill>
                <a:schemeClr val="accent2"/>
              </a:solidFill>
              <a:prstDash val="solid"/>
              <a:miter/>
            </a:ln>
          </p:spPr>
          <p:txBody>
            <a:bodyPr rtlCol="0" anchor="ctr"/>
            <a:lstStyle/>
            <a:p>
              <a:endParaRPr lang="en-US"/>
            </a:p>
          </p:txBody>
        </p:sp>
      </p:grpSp>
      <p:grpSp>
        <p:nvGrpSpPr>
          <p:cNvPr id="57" name="Group 56">
            <a:extLst>
              <a:ext uri="{FF2B5EF4-FFF2-40B4-BE49-F238E27FC236}">
                <a16:creationId xmlns:a16="http://schemas.microsoft.com/office/drawing/2014/main" id="{9E1F2F20-6CA6-0358-8558-837576904127}"/>
              </a:ext>
            </a:extLst>
          </p:cNvPr>
          <p:cNvGrpSpPr/>
          <p:nvPr/>
        </p:nvGrpSpPr>
        <p:grpSpPr>
          <a:xfrm>
            <a:off x="6370280" y="3730706"/>
            <a:ext cx="253890" cy="177723"/>
            <a:chOff x="1369637" y="1480086"/>
            <a:chExt cx="712544" cy="498780"/>
          </a:xfrm>
        </p:grpSpPr>
        <p:sp>
          <p:nvSpPr>
            <p:cNvPr id="58" name="Rectangle 57">
              <a:extLst>
                <a:ext uri="{FF2B5EF4-FFF2-40B4-BE49-F238E27FC236}">
                  <a16:creationId xmlns:a16="http://schemas.microsoft.com/office/drawing/2014/main" id="{AA9E24F5-42C2-7A9C-2D43-2B51552DB2C2}"/>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Graphic 44" descr="Envelope with solid fill">
              <a:extLst>
                <a:ext uri="{FF2B5EF4-FFF2-40B4-BE49-F238E27FC236}">
                  <a16:creationId xmlns:a16="http://schemas.microsoft.com/office/drawing/2014/main" id="{7FC0C76F-22BC-23E7-4F7D-283552C964EB}"/>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6">
                <a:lumMod val="75000"/>
              </a:schemeClr>
            </a:solidFill>
            <a:ln w="8830" cap="flat">
              <a:solidFill>
                <a:schemeClr val="accent6">
                  <a:lumMod val="75000"/>
                </a:schemeClr>
              </a:solidFill>
              <a:prstDash val="solid"/>
              <a:miter/>
            </a:ln>
          </p:spPr>
          <p:txBody>
            <a:bodyPr rtlCol="0" anchor="ctr"/>
            <a:lstStyle/>
            <a:p>
              <a:endParaRPr lang="en-US"/>
            </a:p>
          </p:txBody>
        </p:sp>
      </p:grpSp>
      <p:grpSp>
        <p:nvGrpSpPr>
          <p:cNvPr id="60" name="Group 59">
            <a:extLst>
              <a:ext uri="{FF2B5EF4-FFF2-40B4-BE49-F238E27FC236}">
                <a16:creationId xmlns:a16="http://schemas.microsoft.com/office/drawing/2014/main" id="{EF20F891-2D3F-BCA6-2099-C463DECE994F}"/>
              </a:ext>
            </a:extLst>
          </p:cNvPr>
          <p:cNvGrpSpPr/>
          <p:nvPr/>
        </p:nvGrpSpPr>
        <p:grpSpPr>
          <a:xfrm>
            <a:off x="647824" y="3414588"/>
            <a:ext cx="253890" cy="177723"/>
            <a:chOff x="1369637" y="1480086"/>
            <a:chExt cx="712544" cy="498780"/>
          </a:xfrm>
        </p:grpSpPr>
        <p:sp>
          <p:nvSpPr>
            <p:cNvPr id="61" name="Rectangle 60">
              <a:extLst>
                <a:ext uri="{FF2B5EF4-FFF2-40B4-BE49-F238E27FC236}">
                  <a16:creationId xmlns:a16="http://schemas.microsoft.com/office/drawing/2014/main" id="{9265B3F7-8F7F-FE77-BBE8-74B02F1C8589}"/>
                </a:ext>
              </a:extLst>
            </p:cNvPr>
            <p:cNvSpPr/>
            <p:nvPr/>
          </p:nvSpPr>
          <p:spPr>
            <a:xfrm>
              <a:off x="1398270" y="1508232"/>
              <a:ext cx="651510" cy="442488"/>
            </a:xfrm>
            <a:prstGeom prst="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Graphic 44" descr="Envelope with solid fill">
              <a:extLst>
                <a:ext uri="{FF2B5EF4-FFF2-40B4-BE49-F238E27FC236}">
                  <a16:creationId xmlns:a16="http://schemas.microsoft.com/office/drawing/2014/main" id="{E5085F3F-95BB-0C86-725B-B5C18C5455FA}"/>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2"/>
            </a:solidFill>
            <a:ln w="8830" cap="flat">
              <a:solidFill>
                <a:schemeClr val="accent2"/>
              </a:solidFill>
              <a:prstDash val="solid"/>
              <a:miter/>
            </a:ln>
          </p:spPr>
          <p:txBody>
            <a:bodyPr rtlCol="0" anchor="ctr"/>
            <a:lstStyle/>
            <a:p>
              <a:endParaRPr lang="en-US"/>
            </a:p>
          </p:txBody>
        </p:sp>
      </p:grpSp>
      <p:grpSp>
        <p:nvGrpSpPr>
          <p:cNvPr id="63" name="Group 62">
            <a:extLst>
              <a:ext uri="{FF2B5EF4-FFF2-40B4-BE49-F238E27FC236}">
                <a16:creationId xmlns:a16="http://schemas.microsoft.com/office/drawing/2014/main" id="{F7DE1C30-ACC5-C040-0C9F-D8D8B191CCCB}"/>
              </a:ext>
            </a:extLst>
          </p:cNvPr>
          <p:cNvGrpSpPr/>
          <p:nvPr/>
        </p:nvGrpSpPr>
        <p:grpSpPr>
          <a:xfrm>
            <a:off x="990484" y="3414588"/>
            <a:ext cx="253890" cy="177723"/>
            <a:chOff x="1369637" y="1480086"/>
            <a:chExt cx="712544" cy="498780"/>
          </a:xfrm>
        </p:grpSpPr>
        <p:sp>
          <p:nvSpPr>
            <p:cNvPr id="64" name="Rectangle 63">
              <a:extLst>
                <a:ext uri="{FF2B5EF4-FFF2-40B4-BE49-F238E27FC236}">
                  <a16:creationId xmlns:a16="http://schemas.microsoft.com/office/drawing/2014/main" id="{E59F78F2-31DC-9778-AC0A-77AA877C1DD8}"/>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Graphic 44" descr="Envelope with solid fill">
              <a:extLst>
                <a:ext uri="{FF2B5EF4-FFF2-40B4-BE49-F238E27FC236}">
                  <a16:creationId xmlns:a16="http://schemas.microsoft.com/office/drawing/2014/main" id="{E2D49A72-BCAE-1D24-1120-66419A2AC3D3}"/>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6">
                <a:lumMod val="75000"/>
              </a:schemeClr>
            </a:solidFill>
            <a:ln w="8830" cap="flat">
              <a:solidFill>
                <a:schemeClr val="accent6">
                  <a:lumMod val="75000"/>
                </a:schemeClr>
              </a:solidFill>
              <a:prstDash val="solid"/>
              <a:miter/>
            </a:ln>
          </p:spPr>
          <p:txBody>
            <a:bodyPr rtlCol="0" anchor="ctr"/>
            <a:lstStyle/>
            <a:p>
              <a:endParaRPr lang="en-US"/>
            </a:p>
          </p:txBody>
        </p:sp>
      </p:grpSp>
      <p:grpSp>
        <p:nvGrpSpPr>
          <p:cNvPr id="70" name="Group 69">
            <a:extLst>
              <a:ext uri="{FF2B5EF4-FFF2-40B4-BE49-F238E27FC236}">
                <a16:creationId xmlns:a16="http://schemas.microsoft.com/office/drawing/2014/main" id="{3AE58A67-0BEA-42F5-BD48-D66F77693D0D}"/>
              </a:ext>
            </a:extLst>
          </p:cNvPr>
          <p:cNvGrpSpPr/>
          <p:nvPr/>
        </p:nvGrpSpPr>
        <p:grpSpPr>
          <a:xfrm>
            <a:off x="5777534" y="3108347"/>
            <a:ext cx="253890" cy="177723"/>
            <a:chOff x="1369637" y="1480086"/>
            <a:chExt cx="712544" cy="498780"/>
          </a:xfrm>
        </p:grpSpPr>
        <p:sp>
          <p:nvSpPr>
            <p:cNvPr id="71" name="Rectangle 70">
              <a:extLst>
                <a:ext uri="{FF2B5EF4-FFF2-40B4-BE49-F238E27FC236}">
                  <a16:creationId xmlns:a16="http://schemas.microsoft.com/office/drawing/2014/main" id="{A265B870-D132-934D-9E14-CEEBB597BAC0}"/>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Graphic 44" descr="Envelope with solid fill">
              <a:extLst>
                <a:ext uri="{FF2B5EF4-FFF2-40B4-BE49-F238E27FC236}">
                  <a16:creationId xmlns:a16="http://schemas.microsoft.com/office/drawing/2014/main" id="{184BF069-2594-762C-3034-EA8D23211B09}"/>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2"/>
            </a:solidFill>
            <a:ln w="8830" cap="flat">
              <a:solidFill>
                <a:schemeClr val="accent2"/>
              </a:solidFill>
              <a:prstDash val="solid"/>
              <a:miter/>
            </a:ln>
          </p:spPr>
          <p:txBody>
            <a:bodyPr rtlCol="0" anchor="ctr"/>
            <a:lstStyle/>
            <a:p>
              <a:endParaRPr lang="en-US"/>
            </a:p>
          </p:txBody>
        </p:sp>
      </p:grpSp>
      <p:grpSp>
        <p:nvGrpSpPr>
          <p:cNvPr id="73" name="Group 72">
            <a:extLst>
              <a:ext uri="{FF2B5EF4-FFF2-40B4-BE49-F238E27FC236}">
                <a16:creationId xmlns:a16="http://schemas.microsoft.com/office/drawing/2014/main" id="{B38FE650-02A2-41B6-0079-42F8D70EFF14}"/>
              </a:ext>
            </a:extLst>
          </p:cNvPr>
          <p:cNvGrpSpPr/>
          <p:nvPr/>
        </p:nvGrpSpPr>
        <p:grpSpPr>
          <a:xfrm>
            <a:off x="6073907" y="3108347"/>
            <a:ext cx="253890" cy="177723"/>
            <a:chOff x="1369637" y="1480086"/>
            <a:chExt cx="712544" cy="498780"/>
          </a:xfrm>
        </p:grpSpPr>
        <p:sp>
          <p:nvSpPr>
            <p:cNvPr id="74" name="Rectangle 73">
              <a:extLst>
                <a:ext uri="{FF2B5EF4-FFF2-40B4-BE49-F238E27FC236}">
                  <a16:creationId xmlns:a16="http://schemas.microsoft.com/office/drawing/2014/main" id="{15EEE4D9-A642-7FBD-6C98-E12AEF4AA34D}"/>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Graphic 44" descr="Envelope with solid fill">
              <a:extLst>
                <a:ext uri="{FF2B5EF4-FFF2-40B4-BE49-F238E27FC236}">
                  <a16:creationId xmlns:a16="http://schemas.microsoft.com/office/drawing/2014/main" id="{F5517A20-88D1-8C4E-4EFB-E08C798E22A0}"/>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2"/>
            </a:solidFill>
            <a:ln w="8830" cap="flat">
              <a:solidFill>
                <a:schemeClr val="accent2"/>
              </a:solidFill>
              <a:prstDash val="solid"/>
              <a:miter/>
            </a:ln>
          </p:spPr>
          <p:txBody>
            <a:bodyPr rtlCol="0" anchor="ctr"/>
            <a:lstStyle/>
            <a:p>
              <a:endParaRPr lang="en-US"/>
            </a:p>
          </p:txBody>
        </p:sp>
      </p:grpSp>
      <p:grpSp>
        <p:nvGrpSpPr>
          <p:cNvPr id="76" name="Group 75">
            <a:extLst>
              <a:ext uri="{FF2B5EF4-FFF2-40B4-BE49-F238E27FC236}">
                <a16:creationId xmlns:a16="http://schemas.microsoft.com/office/drawing/2014/main" id="{B2BCBB7F-938A-1B08-C6E6-7E8E4BF4EE87}"/>
              </a:ext>
            </a:extLst>
          </p:cNvPr>
          <p:cNvGrpSpPr/>
          <p:nvPr/>
        </p:nvGrpSpPr>
        <p:grpSpPr>
          <a:xfrm>
            <a:off x="6963026" y="3108347"/>
            <a:ext cx="253890" cy="177723"/>
            <a:chOff x="1369637" y="1480086"/>
            <a:chExt cx="712544" cy="498780"/>
          </a:xfrm>
        </p:grpSpPr>
        <p:sp>
          <p:nvSpPr>
            <p:cNvPr id="77" name="Rectangle 76">
              <a:extLst>
                <a:ext uri="{FF2B5EF4-FFF2-40B4-BE49-F238E27FC236}">
                  <a16:creationId xmlns:a16="http://schemas.microsoft.com/office/drawing/2014/main" id="{50ECE904-80F5-0D15-D701-33F33426AFC8}"/>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Graphic 44" descr="Envelope with solid fill">
              <a:extLst>
                <a:ext uri="{FF2B5EF4-FFF2-40B4-BE49-F238E27FC236}">
                  <a16:creationId xmlns:a16="http://schemas.microsoft.com/office/drawing/2014/main" id="{49A96971-4CB1-9DB4-51A8-2A31CEB468A9}"/>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2"/>
            </a:solidFill>
            <a:ln w="8830" cap="flat">
              <a:solidFill>
                <a:schemeClr val="accent2"/>
              </a:solidFill>
              <a:prstDash val="solid"/>
              <a:miter/>
            </a:ln>
          </p:spPr>
          <p:txBody>
            <a:bodyPr rtlCol="0" anchor="ctr"/>
            <a:lstStyle/>
            <a:p>
              <a:endParaRPr lang="en-US"/>
            </a:p>
          </p:txBody>
        </p:sp>
      </p:grpSp>
      <p:grpSp>
        <p:nvGrpSpPr>
          <p:cNvPr id="82" name="Group 81">
            <a:extLst>
              <a:ext uri="{FF2B5EF4-FFF2-40B4-BE49-F238E27FC236}">
                <a16:creationId xmlns:a16="http://schemas.microsoft.com/office/drawing/2014/main" id="{F9AD9C77-BA97-9A52-76B3-F9A317073455}"/>
              </a:ext>
            </a:extLst>
          </p:cNvPr>
          <p:cNvGrpSpPr/>
          <p:nvPr/>
        </p:nvGrpSpPr>
        <p:grpSpPr>
          <a:xfrm>
            <a:off x="4907465" y="3730706"/>
            <a:ext cx="253890" cy="177723"/>
            <a:chOff x="1369637" y="1480086"/>
            <a:chExt cx="712544" cy="498780"/>
          </a:xfrm>
        </p:grpSpPr>
        <p:sp>
          <p:nvSpPr>
            <p:cNvPr id="83" name="Rectangle 82">
              <a:extLst>
                <a:ext uri="{FF2B5EF4-FFF2-40B4-BE49-F238E27FC236}">
                  <a16:creationId xmlns:a16="http://schemas.microsoft.com/office/drawing/2014/main" id="{48D6192D-9E8E-E6F6-7E23-AC84C040FBAF}"/>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Graphic 44" descr="Envelope with solid fill">
              <a:extLst>
                <a:ext uri="{FF2B5EF4-FFF2-40B4-BE49-F238E27FC236}">
                  <a16:creationId xmlns:a16="http://schemas.microsoft.com/office/drawing/2014/main" id="{21FDC15C-9D34-3165-5A65-BD0D59730582}"/>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6">
                <a:lumMod val="75000"/>
              </a:schemeClr>
            </a:solidFill>
            <a:ln w="8830" cap="flat">
              <a:solidFill>
                <a:schemeClr val="accent6">
                  <a:lumMod val="75000"/>
                </a:schemeClr>
              </a:solidFill>
              <a:prstDash val="solid"/>
              <a:miter/>
            </a:ln>
          </p:spPr>
          <p:txBody>
            <a:bodyPr rtlCol="0" anchor="ctr"/>
            <a:lstStyle/>
            <a:p>
              <a:endParaRPr lang="en-US"/>
            </a:p>
          </p:txBody>
        </p:sp>
      </p:grpSp>
      <p:grpSp>
        <p:nvGrpSpPr>
          <p:cNvPr id="85" name="Group 84">
            <a:extLst>
              <a:ext uri="{FF2B5EF4-FFF2-40B4-BE49-F238E27FC236}">
                <a16:creationId xmlns:a16="http://schemas.microsoft.com/office/drawing/2014/main" id="{58151C16-E26B-5FFB-C25C-0F042564B334}"/>
              </a:ext>
            </a:extLst>
          </p:cNvPr>
          <p:cNvGrpSpPr/>
          <p:nvPr/>
        </p:nvGrpSpPr>
        <p:grpSpPr>
          <a:xfrm>
            <a:off x="5481161" y="3421272"/>
            <a:ext cx="253890" cy="177723"/>
            <a:chOff x="1369637" y="1480086"/>
            <a:chExt cx="712544" cy="498780"/>
          </a:xfrm>
        </p:grpSpPr>
        <p:sp>
          <p:nvSpPr>
            <p:cNvPr id="86" name="Rectangle 85">
              <a:extLst>
                <a:ext uri="{FF2B5EF4-FFF2-40B4-BE49-F238E27FC236}">
                  <a16:creationId xmlns:a16="http://schemas.microsoft.com/office/drawing/2014/main" id="{17F15718-FE9B-01ED-B488-FE3366C66B72}"/>
                </a:ext>
              </a:extLst>
            </p:cNvPr>
            <p:cNvSpPr/>
            <p:nvPr/>
          </p:nvSpPr>
          <p:spPr>
            <a:xfrm>
              <a:off x="1398270" y="1508232"/>
              <a:ext cx="651510" cy="442488"/>
            </a:xfrm>
            <a:prstGeom prst="rect">
              <a:avLst/>
            </a:prstGeom>
            <a:solidFill>
              <a:schemeClr val="bg1"/>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Graphic 44" descr="Envelope with solid fill">
              <a:extLst>
                <a:ext uri="{FF2B5EF4-FFF2-40B4-BE49-F238E27FC236}">
                  <a16:creationId xmlns:a16="http://schemas.microsoft.com/office/drawing/2014/main" id="{F337026F-9251-5DCC-EADF-31C4A9664F37}"/>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rgbClr val="0070C0"/>
            </a:solidFill>
            <a:ln w="8830" cap="flat">
              <a:solidFill>
                <a:schemeClr val="accent4">
                  <a:lumMod val="75000"/>
                </a:schemeClr>
              </a:solidFill>
              <a:prstDash val="solid"/>
              <a:miter/>
            </a:ln>
          </p:spPr>
          <p:txBody>
            <a:bodyPr rtlCol="0" anchor="ctr"/>
            <a:lstStyle/>
            <a:p>
              <a:endParaRPr lang="en-US"/>
            </a:p>
          </p:txBody>
        </p:sp>
      </p:grpSp>
      <p:grpSp>
        <p:nvGrpSpPr>
          <p:cNvPr id="89" name="Group 88">
            <a:extLst>
              <a:ext uri="{FF2B5EF4-FFF2-40B4-BE49-F238E27FC236}">
                <a16:creationId xmlns:a16="http://schemas.microsoft.com/office/drawing/2014/main" id="{51F60304-D1FD-2912-FF12-0DF7389CEC7D}"/>
              </a:ext>
            </a:extLst>
          </p:cNvPr>
          <p:cNvGrpSpPr/>
          <p:nvPr/>
        </p:nvGrpSpPr>
        <p:grpSpPr>
          <a:xfrm>
            <a:off x="7555770" y="3730706"/>
            <a:ext cx="253890" cy="177723"/>
            <a:chOff x="1369637" y="1480086"/>
            <a:chExt cx="712544" cy="498780"/>
          </a:xfrm>
        </p:grpSpPr>
        <p:sp>
          <p:nvSpPr>
            <p:cNvPr id="90" name="Rectangle 89">
              <a:extLst>
                <a:ext uri="{FF2B5EF4-FFF2-40B4-BE49-F238E27FC236}">
                  <a16:creationId xmlns:a16="http://schemas.microsoft.com/office/drawing/2014/main" id="{1F5DDD51-0412-D076-BE0B-0B7CF04A9595}"/>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Graphic 44" descr="Envelope with solid fill">
              <a:extLst>
                <a:ext uri="{FF2B5EF4-FFF2-40B4-BE49-F238E27FC236}">
                  <a16:creationId xmlns:a16="http://schemas.microsoft.com/office/drawing/2014/main" id="{6979F657-17D8-80DF-C5BF-88FBDC4037C8}"/>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6">
                <a:lumMod val="75000"/>
              </a:schemeClr>
            </a:solidFill>
            <a:ln w="8830" cap="flat">
              <a:solidFill>
                <a:schemeClr val="accent6">
                  <a:lumMod val="75000"/>
                </a:schemeClr>
              </a:solidFill>
              <a:prstDash val="solid"/>
              <a:miter/>
            </a:ln>
          </p:spPr>
          <p:txBody>
            <a:bodyPr rtlCol="0" anchor="ctr"/>
            <a:lstStyle/>
            <a:p>
              <a:endParaRPr lang="en-US" dirty="0"/>
            </a:p>
          </p:txBody>
        </p:sp>
      </p:grpSp>
      <p:grpSp>
        <p:nvGrpSpPr>
          <p:cNvPr id="92" name="Group 91">
            <a:extLst>
              <a:ext uri="{FF2B5EF4-FFF2-40B4-BE49-F238E27FC236}">
                <a16:creationId xmlns:a16="http://schemas.microsoft.com/office/drawing/2014/main" id="{5D04A265-6D80-B1D4-85FD-67588F0F05CB}"/>
              </a:ext>
            </a:extLst>
          </p:cNvPr>
          <p:cNvGrpSpPr/>
          <p:nvPr/>
        </p:nvGrpSpPr>
        <p:grpSpPr>
          <a:xfrm>
            <a:off x="7259399" y="3421272"/>
            <a:ext cx="253890" cy="177723"/>
            <a:chOff x="1369637" y="1480086"/>
            <a:chExt cx="712544" cy="498780"/>
          </a:xfrm>
        </p:grpSpPr>
        <p:sp>
          <p:nvSpPr>
            <p:cNvPr id="93" name="Rectangle 92">
              <a:extLst>
                <a:ext uri="{FF2B5EF4-FFF2-40B4-BE49-F238E27FC236}">
                  <a16:creationId xmlns:a16="http://schemas.microsoft.com/office/drawing/2014/main" id="{63EA1779-FF3A-2151-FE97-476DD07C0833}"/>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Graphic 44" descr="Envelope with solid fill">
              <a:extLst>
                <a:ext uri="{FF2B5EF4-FFF2-40B4-BE49-F238E27FC236}">
                  <a16:creationId xmlns:a16="http://schemas.microsoft.com/office/drawing/2014/main" id="{F4DFADA5-0BC4-F89C-3D14-9B9992E55562}"/>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rgbClr val="0070C0"/>
            </a:solidFill>
            <a:ln w="8830" cap="flat">
              <a:solidFill>
                <a:schemeClr val="accent4">
                  <a:lumMod val="75000"/>
                </a:schemeClr>
              </a:solidFill>
              <a:prstDash val="solid"/>
              <a:miter/>
            </a:ln>
          </p:spPr>
          <p:txBody>
            <a:bodyPr rtlCol="0" anchor="ctr"/>
            <a:lstStyle/>
            <a:p>
              <a:endParaRPr lang="en-US"/>
            </a:p>
          </p:txBody>
        </p:sp>
      </p:grpSp>
      <p:grpSp>
        <p:nvGrpSpPr>
          <p:cNvPr id="95" name="Group 94">
            <a:extLst>
              <a:ext uri="{FF2B5EF4-FFF2-40B4-BE49-F238E27FC236}">
                <a16:creationId xmlns:a16="http://schemas.microsoft.com/office/drawing/2014/main" id="{23736548-45ED-87A1-951F-76B4AB5D83FA}"/>
              </a:ext>
            </a:extLst>
          </p:cNvPr>
          <p:cNvGrpSpPr/>
          <p:nvPr/>
        </p:nvGrpSpPr>
        <p:grpSpPr>
          <a:xfrm>
            <a:off x="6666653" y="3421272"/>
            <a:ext cx="253890" cy="177723"/>
            <a:chOff x="1369637" y="1480086"/>
            <a:chExt cx="712544" cy="498780"/>
          </a:xfrm>
        </p:grpSpPr>
        <p:sp>
          <p:nvSpPr>
            <p:cNvPr id="96" name="Rectangle 95">
              <a:extLst>
                <a:ext uri="{FF2B5EF4-FFF2-40B4-BE49-F238E27FC236}">
                  <a16:creationId xmlns:a16="http://schemas.microsoft.com/office/drawing/2014/main" id="{3DE3FAAA-7844-DF1F-9748-06E436104C19}"/>
                </a:ext>
              </a:extLst>
            </p:cNvPr>
            <p:cNvSpPr/>
            <p:nvPr/>
          </p:nvSpPr>
          <p:spPr>
            <a:xfrm>
              <a:off x="1398270" y="1508232"/>
              <a:ext cx="651510" cy="442488"/>
            </a:xfrm>
            <a:prstGeom prst="rect">
              <a:avLst/>
            </a:prstGeom>
            <a:solidFill>
              <a:schemeClr val="bg1"/>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Graphic 44" descr="Envelope with solid fill">
              <a:extLst>
                <a:ext uri="{FF2B5EF4-FFF2-40B4-BE49-F238E27FC236}">
                  <a16:creationId xmlns:a16="http://schemas.microsoft.com/office/drawing/2014/main" id="{7E293522-D841-985E-A324-15109575509C}"/>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rgbClr val="0070C0"/>
            </a:solidFill>
            <a:ln w="8830" cap="flat">
              <a:solidFill>
                <a:schemeClr val="accent4">
                  <a:lumMod val="75000"/>
                </a:schemeClr>
              </a:solidFill>
              <a:prstDash val="solid"/>
              <a:miter/>
            </a:ln>
          </p:spPr>
          <p:txBody>
            <a:bodyPr rtlCol="0" anchor="ctr"/>
            <a:lstStyle/>
            <a:p>
              <a:endParaRPr lang="en-US"/>
            </a:p>
          </p:txBody>
        </p:sp>
      </p:grpSp>
      <p:sp>
        <p:nvSpPr>
          <p:cNvPr id="104" name="Rectangle 103">
            <a:extLst>
              <a:ext uri="{FF2B5EF4-FFF2-40B4-BE49-F238E27FC236}">
                <a16:creationId xmlns:a16="http://schemas.microsoft.com/office/drawing/2014/main" id="{5708239D-CEA8-DCCF-55F8-114B55DCDC57}"/>
              </a:ext>
            </a:extLst>
          </p:cNvPr>
          <p:cNvSpPr/>
          <p:nvPr/>
        </p:nvSpPr>
        <p:spPr>
          <a:xfrm>
            <a:off x="8737262" y="1813559"/>
            <a:ext cx="1405601" cy="912445"/>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lumMod val="50000"/>
                  </a:schemeClr>
                </a:solidFill>
              </a:rPr>
              <a:t>Trade Processor 1</a:t>
            </a:r>
          </a:p>
        </p:txBody>
      </p:sp>
      <p:sp>
        <p:nvSpPr>
          <p:cNvPr id="105" name="Rectangle 104">
            <a:extLst>
              <a:ext uri="{FF2B5EF4-FFF2-40B4-BE49-F238E27FC236}">
                <a16:creationId xmlns:a16="http://schemas.microsoft.com/office/drawing/2014/main" id="{D928B937-A91C-0602-F9DB-3A50B8DD42AB}"/>
              </a:ext>
            </a:extLst>
          </p:cNvPr>
          <p:cNvSpPr/>
          <p:nvPr/>
        </p:nvSpPr>
        <p:spPr>
          <a:xfrm>
            <a:off x="8737262" y="3045266"/>
            <a:ext cx="1401723" cy="912445"/>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lumMod val="50000"/>
                  </a:schemeClr>
                </a:solidFill>
              </a:rPr>
              <a:t>Trade Processor 2</a:t>
            </a:r>
          </a:p>
        </p:txBody>
      </p:sp>
      <p:sp>
        <p:nvSpPr>
          <p:cNvPr id="106" name="Rectangle 105">
            <a:extLst>
              <a:ext uri="{FF2B5EF4-FFF2-40B4-BE49-F238E27FC236}">
                <a16:creationId xmlns:a16="http://schemas.microsoft.com/office/drawing/2014/main" id="{FD277A9E-93F4-F457-94D4-347F142BCDD5}"/>
              </a:ext>
            </a:extLst>
          </p:cNvPr>
          <p:cNvSpPr/>
          <p:nvPr/>
        </p:nvSpPr>
        <p:spPr>
          <a:xfrm>
            <a:off x="8737263" y="4276973"/>
            <a:ext cx="1401722" cy="912445"/>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lumMod val="50000"/>
                  </a:schemeClr>
                </a:solidFill>
              </a:rPr>
              <a:t>Trade Processor 3</a:t>
            </a:r>
          </a:p>
        </p:txBody>
      </p:sp>
      <p:grpSp>
        <p:nvGrpSpPr>
          <p:cNvPr id="118" name="Group 117">
            <a:extLst>
              <a:ext uri="{FF2B5EF4-FFF2-40B4-BE49-F238E27FC236}">
                <a16:creationId xmlns:a16="http://schemas.microsoft.com/office/drawing/2014/main" id="{E54F0462-08C3-CB78-A3D2-57096E80E2B6}"/>
              </a:ext>
            </a:extLst>
          </p:cNvPr>
          <p:cNvGrpSpPr/>
          <p:nvPr/>
        </p:nvGrpSpPr>
        <p:grpSpPr>
          <a:xfrm>
            <a:off x="4707889" y="3069573"/>
            <a:ext cx="110595" cy="872028"/>
            <a:chOff x="3021329" y="3069573"/>
            <a:chExt cx="110595" cy="872028"/>
          </a:xfrm>
          <a:noFill/>
        </p:grpSpPr>
        <p:sp>
          <p:nvSpPr>
            <p:cNvPr id="108" name="Rectangle 107">
              <a:extLst>
                <a:ext uri="{FF2B5EF4-FFF2-40B4-BE49-F238E27FC236}">
                  <a16:creationId xmlns:a16="http://schemas.microsoft.com/office/drawing/2014/main" id="{50A4B814-38AE-016E-9F36-8FAAF66AE5A6}"/>
                </a:ext>
              </a:extLst>
            </p:cNvPr>
            <p:cNvSpPr/>
            <p:nvPr/>
          </p:nvSpPr>
          <p:spPr>
            <a:xfrm>
              <a:off x="3021329" y="3069573"/>
              <a:ext cx="110595" cy="255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B8106A95-76FF-602C-2605-69D6B4DC29EB}"/>
                </a:ext>
              </a:extLst>
            </p:cNvPr>
            <p:cNvSpPr/>
            <p:nvPr/>
          </p:nvSpPr>
          <p:spPr>
            <a:xfrm>
              <a:off x="3021329" y="3379006"/>
              <a:ext cx="110595" cy="255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844A06DD-692E-DE00-6FFA-C1AECF6D4363}"/>
                </a:ext>
              </a:extLst>
            </p:cNvPr>
            <p:cNvSpPr/>
            <p:nvPr/>
          </p:nvSpPr>
          <p:spPr>
            <a:xfrm>
              <a:off x="3021329" y="3686331"/>
              <a:ext cx="110595" cy="255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7" name="Group 116">
            <a:extLst>
              <a:ext uri="{FF2B5EF4-FFF2-40B4-BE49-F238E27FC236}">
                <a16:creationId xmlns:a16="http://schemas.microsoft.com/office/drawing/2014/main" id="{68E4B71D-CBFF-D7FC-D2AE-E468B3A3A4B9}"/>
              </a:ext>
            </a:extLst>
          </p:cNvPr>
          <p:cNvGrpSpPr/>
          <p:nvPr/>
        </p:nvGrpSpPr>
        <p:grpSpPr>
          <a:xfrm>
            <a:off x="8007275" y="3069573"/>
            <a:ext cx="110595" cy="872028"/>
            <a:chOff x="6569510" y="3069573"/>
            <a:chExt cx="110595" cy="872028"/>
          </a:xfrm>
          <a:noFill/>
        </p:grpSpPr>
        <p:sp>
          <p:nvSpPr>
            <p:cNvPr id="114" name="Rectangle 113">
              <a:extLst>
                <a:ext uri="{FF2B5EF4-FFF2-40B4-BE49-F238E27FC236}">
                  <a16:creationId xmlns:a16="http://schemas.microsoft.com/office/drawing/2014/main" id="{836EE257-F76B-DF00-1439-A507AAA99A15}"/>
                </a:ext>
              </a:extLst>
            </p:cNvPr>
            <p:cNvSpPr/>
            <p:nvPr/>
          </p:nvSpPr>
          <p:spPr>
            <a:xfrm>
              <a:off x="6569510" y="3069573"/>
              <a:ext cx="110595" cy="255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2BC632C1-FA49-F868-5A5A-3DE0CBA486C1}"/>
                </a:ext>
              </a:extLst>
            </p:cNvPr>
            <p:cNvSpPr/>
            <p:nvPr/>
          </p:nvSpPr>
          <p:spPr>
            <a:xfrm>
              <a:off x="6569510" y="3379006"/>
              <a:ext cx="110595" cy="255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a:extLst>
                <a:ext uri="{FF2B5EF4-FFF2-40B4-BE49-F238E27FC236}">
                  <a16:creationId xmlns:a16="http://schemas.microsoft.com/office/drawing/2014/main" id="{C4FEB490-80C1-90B3-C28D-AD2DF24F6BFA}"/>
                </a:ext>
              </a:extLst>
            </p:cNvPr>
            <p:cNvSpPr/>
            <p:nvPr/>
          </p:nvSpPr>
          <p:spPr>
            <a:xfrm>
              <a:off x="6569510" y="3686331"/>
              <a:ext cx="110595" cy="255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5" name="Straight Arrow Connector 124">
            <a:extLst>
              <a:ext uri="{FF2B5EF4-FFF2-40B4-BE49-F238E27FC236}">
                <a16:creationId xmlns:a16="http://schemas.microsoft.com/office/drawing/2014/main" id="{F3A7C3EC-7D0D-E31A-7F73-A7E9DBE2ADD4}"/>
              </a:ext>
            </a:extLst>
          </p:cNvPr>
          <p:cNvCxnSpPr>
            <a:cxnSpLocks/>
            <a:stCxn id="114" idx="3"/>
            <a:endCxn id="104" idx="1"/>
          </p:cNvCxnSpPr>
          <p:nvPr/>
        </p:nvCxnSpPr>
        <p:spPr>
          <a:xfrm flipV="1">
            <a:off x="8117870" y="2269782"/>
            <a:ext cx="619392" cy="927426"/>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28" name="Straight Arrow Connector 127">
            <a:extLst>
              <a:ext uri="{FF2B5EF4-FFF2-40B4-BE49-F238E27FC236}">
                <a16:creationId xmlns:a16="http://schemas.microsoft.com/office/drawing/2014/main" id="{6B037FF3-67F2-C29F-2146-12BB30D60383}"/>
              </a:ext>
            </a:extLst>
          </p:cNvPr>
          <p:cNvCxnSpPr>
            <a:cxnSpLocks/>
            <a:stCxn id="115" idx="3"/>
            <a:endCxn id="105" idx="1"/>
          </p:cNvCxnSpPr>
          <p:nvPr/>
        </p:nvCxnSpPr>
        <p:spPr>
          <a:xfrm flipV="1">
            <a:off x="8117870" y="3501489"/>
            <a:ext cx="619392" cy="5152"/>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31" name="Straight Arrow Connector 130">
            <a:extLst>
              <a:ext uri="{FF2B5EF4-FFF2-40B4-BE49-F238E27FC236}">
                <a16:creationId xmlns:a16="http://schemas.microsoft.com/office/drawing/2014/main" id="{1BB1049B-3ADF-C7CA-AFA5-D6FC3F27B5F4}"/>
              </a:ext>
            </a:extLst>
          </p:cNvPr>
          <p:cNvCxnSpPr>
            <a:cxnSpLocks/>
            <a:stCxn id="116" idx="3"/>
            <a:endCxn id="106" idx="1"/>
          </p:cNvCxnSpPr>
          <p:nvPr/>
        </p:nvCxnSpPr>
        <p:spPr>
          <a:xfrm>
            <a:off x="8117870" y="3813966"/>
            <a:ext cx="619393" cy="91923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nvGrpSpPr>
          <p:cNvPr id="135" name="Group 134">
            <a:extLst>
              <a:ext uri="{FF2B5EF4-FFF2-40B4-BE49-F238E27FC236}">
                <a16:creationId xmlns:a16="http://schemas.microsoft.com/office/drawing/2014/main" id="{9A7B968B-CEBF-6B7B-672B-9382B9FA3EC9}"/>
              </a:ext>
            </a:extLst>
          </p:cNvPr>
          <p:cNvGrpSpPr/>
          <p:nvPr/>
        </p:nvGrpSpPr>
        <p:grpSpPr>
          <a:xfrm>
            <a:off x="8332776" y="2514704"/>
            <a:ext cx="253890" cy="177723"/>
            <a:chOff x="1369637" y="1480086"/>
            <a:chExt cx="712544" cy="498780"/>
          </a:xfrm>
        </p:grpSpPr>
        <p:sp>
          <p:nvSpPr>
            <p:cNvPr id="136" name="Rectangle 135">
              <a:extLst>
                <a:ext uri="{FF2B5EF4-FFF2-40B4-BE49-F238E27FC236}">
                  <a16:creationId xmlns:a16="http://schemas.microsoft.com/office/drawing/2014/main" id="{C368EF37-4E62-F9A2-3E87-4D094EEEBE88}"/>
                </a:ext>
              </a:extLst>
            </p:cNvPr>
            <p:cNvSpPr/>
            <p:nvPr/>
          </p:nvSpPr>
          <p:spPr>
            <a:xfrm>
              <a:off x="1398270" y="1508232"/>
              <a:ext cx="651510" cy="442488"/>
            </a:xfrm>
            <a:prstGeom prst="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Graphic 44" descr="Envelope with solid fill">
              <a:extLst>
                <a:ext uri="{FF2B5EF4-FFF2-40B4-BE49-F238E27FC236}">
                  <a16:creationId xmlns:a16="http://schemas.microsoft.com/office/drawing/2014/main" id="{CD3AF9B3-1CF6-D634-F7DA-5BFC6125B88E}"/>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2"/>
            </a:solidFill>
            <a:ln w="8830" cap="flat">
              <a:solidFill>
                <a:schemeClr val="accent2"/>
              </a:solidFill>
              <a:prstDash val="solid"/>
              <a:miter/>
            </a:ln>
          </p:spPr>
          <p:txBody>
            <a:bodyPr rtlCol="0" anchor="ctr"/>
            <a:lstStyle/>
            <a:p>
              <a:endParaRPr lang="en-US"/>
            </a:p>
          </p:txBody>
        </p:sp>
      </p:grpSp>
      <p:grpSp>
        <p:nvGrpSpPr>
          <p:cNvPr id="138" name="Group 137">
            <a:extLst>
              <a:ext uri="{FF2B5EF4-FFF2-40B4-BE49-F238E27FC236}">
                <a16:creationId xmlns:a16="http://schemas.microsoft.com/office/drawing/2014/main" id="{AE37C6B0-7984-2879-8A9D-2A0E90610EF1}"/>
              </a:ext>
            </a:extLst>
          </p:cNvPr>
          <p:cNvGrpSpPr/>
          <p:nvPr/>
        </p:nvGrpSpPr>
        <p:grpSpPr>
          <a:xfrm>
            <a:off x="8221076" y="2790267"/>
            <a:ext cx="253890" cy="177723"/>
            <a:chOff x="1369637" y="1480086"/>
            <a:chExt cx="712544" cy="498780"/>
          </a:xfrm>
        </p:grpSpPr>
        <p:sp>
          <p:nvSpPr>
            <p:cNvPr id="139" name="Rectangle 138">
              <a:extLst>
                <a:ext uri="{FF2B5EF4-FFF2-40B4-BE49-F238E27FC236}">
                  <a16:creationId xmlns:a16="http://schemas.microsoft.com/office/drawing/2014/main" id="{15368ADA-6BA5-877D-13C2-28DB7907225A}"/>
                </a:ext>
              </a:extLst>
            </p:cNvPr>
            <p:cNvSpPr/>
            <p:nvPr/>
          </p:nvSpPr>
          <p:spPr>
            <a:xfrm>
              <a:off x="1398270" y="1508232"/>
              <a:ext cx="651510" cy="442488"/>
            </a:xfrm>
            <a:prstGeom prst="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Graphic 44" descr="Envelope with solid fill">
              <a:extLst>
                <a:ext uri="{FF2B5EF4-FFF2-40B4-BE49-F238E27FC236}">
                  <a16:creationId xmlns:a16="http://schemas.microsoft.com/office/drawing/2014/main" id="{1E5AF4E7-1046-886A-73F2-6D6BDB846577}"/>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2"/>
            </a:solidFill>
            <a:ln w="8830" cap="flat">
              <a:solidFill>
                <a:schemeClr val="accent2"/>
              </a:solidFill>
              <a:prstDash val="solid"/>
              <a:miter/>
            </a:ln>
          </p:spPr>
          <p:txBody>
            <a:bodyPr rtlCol="0" anchor="ctr"/>
            <a:lstStyle/>
            <a:p>
              <a:endParaRPr lang="en-US"/>
            </a:p>
          </p:txBody>
        </p:sp>
      </p:grpSp>
      <p:grpSp>
        <p:nvGrpSpPr>
          <p:cNvPr id="141" name="Group 140">
            <a:extLst>
              <a:ext uri="{FF2B5EF4-FFF2-40B4-BE49-F238E27FC236}">
                <a16:creationId xmlns:a16="http://schemas.microsoft.com/office/drawing/2014/main" id="{87B997F3-21EE-6060-E11F-5C28FB47314E}"/>
              </a:ext>
            </a:extLst>
          </p:cNvPr>
          <p:cNvGrpSpPr/>
          <p:nvPr/>
        </p:nvGrpSpPr>
        <p:grpSpPr>
          <a:xfrm>
            <a:off x="8239751" y="3410168"/>
            <a:ext cx="253890" cy="177723"/>
            <a:chOff x="1369637" y="1480086"/>
            <a:chExt cx="712544" cy="498780"/>
          </a:xfrm>
        </p:grpSpPr>
        <p:sp>
          <p:nvSpPr>
            <p:cNvPr id="142" name="Rectangle 141">
              <a:extLst>
                <a:ext uri="{FF2B5EF4-FFF2-40B4-BE49-F238E27FC236}">
                  <a16:creationId xmlns:a16="http://schemas.microsoft.com/office/drawing/2014/main" id="{05E32713-2F89-A337-858E-52715E659887}"/>
                </a:ext>
              </a:extLst>
            </p:cNvPr>
            <p:cNvSpPr/>
            <p:nvPr/>
          </p:nvSpPr>
          <p:spPr>
            <a:xfrm>
              <a:off x="1398270" y="1508232"/>
              <a:ext cx="651510" cy="442488"/>
            </a:xfrm>
            <a:prstGeom prst="rect">
              <a:avLst/>
            </a:prstGeom>
            <a:solidFill>
              <a:schemeClr val="bg1"/>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Graphic 44" descr="Envelope with solid fill">
              <a:extLst>
                <a:ext uri="{FF2B5EF4-FFF2-40B4-BE49-F238E27FC236}">
                  <a16:creationId xmlns:a16="http://schemas.microsoft.com/office/drawing/2014/main" id="{FD218C60-9AEA-7ED9-6264-643D669FC4E5}"/>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rgbClr val="0070C0"/>
            </a:solidFill>
            <a:ln w="8830" cap="flat">
              <a:solidFill>
                <a:schemeClr val="accent4">
                  <a:lumMod val="75000"/>
                </a:schemeClr>
              </a:solidFill>
              <a:prstDash val="solid"/>
              <a:miter/>
            </a:ln>
          </p:spPr>
          <p:txBody>
            <a:bodyPr rtlCol="0" anchor="ctr"/>
            <a:lstStyle/>
            <a:p>
              <a:endParaRPr lang="en-US"/>
            </a:p>
          </p:txBody>
        </p:sp>
      </p:grpSp>
      <p:grpSp>
        <p:nvGrpSpPr>
          <p:cNvPr id="144" name="Group 143">
            <a:extLst>
              <a:ext uri="{FF2B5EF4-FFF2-40B4-BE49-F238E27FC236}">
                <a16:creationId xmlns:a16="http://schemas.microsoft.com/office/drawing/2014/main" id="{2AF305B6-7B18-B56E-8157-FD9CE6B2DC1F}"/>
              </a:ext>
            </a:extLst>
          </p:cNvPr>
          <p:cNvGrpSpPr/>
          <p:nvPr/>
        </p:nvGrpSpPr>
        <p:grpSpPr>
          <a:xfrm>
            <a:off x="8367774" y="4316490"/>
            <a:ext cx="253890" cy="177723"/>
            <a:chOff x="1369637" y="1480086"/>
            <a:chExt cx="712544" cy="498780"/>
          </a:xfrm>
        </p:grpSpPr>
        <p:sp>
          <p:nvSpPr>
            <p:cNvPr id="145" name="Rectangle 144">
              <a:extLst>
                <a:ext uri="{FF2B5EF4-FFF2-40B4-BE49-F238E27FC236}">
                  <a16:creationId xmlns:a16="http://schemas.microsoft.com/office/drawing/2014/main" id="{D04F7633-D43B-0F70-C4E0-31394F80382E}"/>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Graphic 44" descr="Envelope with solid fill">
              <a:extLst>
                <a:ext uri="{FF2B5EF4-FFF2-40B4-BE49-F238E27FC236}">
                  <a16:creationId xmlns:a16="http://schemas.microsoft.com/office/drawing/2014/main" id="{0524F4A8-89CA-8E3F-A4A9-F0B70A337877}"/>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6">
                <a:lumMod val="75000"/>
              </a:schemeClr>
            </a:solidFill>
            <a:ln w="8830" cap="flat">
              <a:solidFill>
                <a:schemeClr val="accent6">
                  <a:lumMod val="75000"/>
                </a:schemeClr>
              </a:solidFill>
              <a:prstDash val="solid"/>
              <a:miter/>
            </a:ln>
          </p:spPr>
          <p:txBody>
            <a:bodyPr rtlCol="0" anchor="ctr"/>
            <a:lstStyle/>
            <a:p>
              <a:endParaRPr lang="en-US"/>
            </a:p>
          </p:txBody>
        </p:sp>
      </p:grpSp>
      <p:grpSp>
        <p:nvGrpSpPr>
          <p:cNvPr id="169" name="Group 168">
            <a:extLst>
              <a:ext uri="{FF2B5EF4-FFF2-40B4-BE49-F238E27FC236}">
                <a16:creationId xmlns:a16="http://schemas.microsoft.com/office/drawing/2014/main" id="{DB90E300-002E-DC69-9E95-5FDB71B907AB}"/>
              </a:ext>
            </a:extLst>
          </p:cNvPr>
          <p:cNvGrpSpPr/>
          <p:nvPr/>
        </p:nvGrpSpPr>
        <p:grpSpPr>
          <a:xfrm>
            <a:off x="1333144" y="3414588"/>
            <a:ext cx="253890" cy="177723"/>
            <a:chOff x="1369637" y="1480086"/>
            <a:chExt cx="712544" cy="498780"/>
          </a:xfrm>
        </p:grpSpPr>
        <p:sp>
          <p:nvSpPr>
            <p:cNvPr id="170" name="Rectangle 169">
              <a:extLst>
                <a:ext uri="{FF2B5EF4-FFF2-40B4-BE49-F238E27FC236}">
                  <a16:creationId xmlns:a16="http://schemas.microsoft.com/office/drawing/2014/main" id="{6A7576B4-A371-5673-9798-6D4FB7951430}"/>
                </a:ext>
              </a:extLst>
            </p:cNvPr>
            <p:cNvSpPr/>
            <p:nvPr/>
          </p:nvSpPr>
          <p:spPr>
            <a:xfrm>
              <a:off x="1398270" y="1508232"/>
              <a:ext cx="651510" cy="442488"/>
            </a:xfrm>
            <a:prstGeom prst="rect">
              <a:avLst/>
            </a:prstGeom>
            <a:solidFill>
              <a:schemeClr val="bg1"/>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Graphic 44" descr="Envelope with solid fill">
              <a:extLst>
                <a:ext uri="{FF2B5EF4-FFF2-40B4-BE49-F238E27FC236}">
                  <a16:creationId xmlns:a16="http://schemas.microsoft.com/office/drawing/2014/main" id="{4C09901B-B399-FFA9-B7FA-C7EF57B89617}"/>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rgbClr val="0070C0"/>
            </a:solidFill>
            <a:ln w="8830" cap="flat">
              <a:solidFill>
                <a:schemeClr val="accent4">
                  <a:lumMod val="75000"/>
                </a:schemeClr>
              </a:solidFill>
              <a:prstDash val="solid"/>
              <a:miter/>
            </a:ln>
          </p:spPr>
          <p:txBody>
            <a:bodyPr rtlCol="0" anchor="ctr"/>
            <a:lstStyle/>
            <a:p>
              <a:endParaRPr lang="en-US"/>
            </a:p>
          </p:txBody>
        </p:sp>
      </p:grpSp>
      <p:grpSp>
        <p:nvGrpSpPr>
          <p:cNvPr id="172" name="Group 171">
            <a:extLst>
              <a:ext uri="{FF2B5EF4-FFF2-40B4-BE49-F238E27FC236}">
                <a16:creationId xmlns:a16="http://schemas.microsoft.com/office/drawing/2014/main" id="{0D530FC8-F87F-336B-1A17-55EB4DC54B30}"/>
              </a:ext>
            </a:extLst>
          </p:cNvPr>
          <p:cNvGrpSpPr/>
          <p:nvPr/>
        </p:nvGrpSpPr>
        <p:grpSpPr>
          <a:xfrm>
            <a:off x="1675803" y="3414588"/>
            <a:ext cx="253890" cy="177723"/>
            <a:chOff x="1369637" y="1480086"/>
            <a:chExt cx="712544" cy="498780"/>
          </a:xfrm>
        </p:grpSpPr>
        <p:sp>
          <p:nvSpPr>
            <p:cNvPr id="173" name="Rectangle 172">
              <a:extLst>
                <a:ext uri="{FF2B5EF4-FFF2-40B4-BE49-F238E27FC236}">
                  <a16:creationId xmlns:a16="http://schemas.microsoft.com/office/drawing/2014/main" id="{6E903EBA-E03C-DEA1-A730-7A4B4F333A38}"/>
                </a:ext>
              </a:extLst>
            </p:cNvPr>
            <p:cNvSpPr/>
            <p:nvPr/>
          </p:nvSpPr>
          <p:spPr>
            <a:xfrm>
              <a:off x="1398270" y="1508232"/>
              <a:ext cx="651510" cy="4424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Graphic 44" descr="Envelope with solid fill">
              <a:extLst>
                <a:ext uri="{FF2B5EF4-FFF2-40B4-BE49-F238E27FC236}">
                  <a16:creationId xmlns:a16="http://schemas.microsoft.com/office/drawing/2014/main" id="{041C7747-7B31-9D14-0700-8F20BC539647}"/>
                </a:ext>
              </a:extLst>
            </p:cNvPr>
            <p:cNvSpPr/>
            <p:nvPr/>
          </p:nvSpPr>
          <p:spPr>
            <a:xfrm>
              <a:off x="1369637" y="1480086"/>
              <a:ext cx="712544" cy="498780"/>
            </a:xfrm>
            <a:custGeom>
              <a:avLst/>
              <a:gdLst>
                <a:gd name="connsiteX0" fmla="*/ 0 w 712544"/>
                <a:gd name="connsiteY0" fmla="*/ 0 h 498780"/>
                <a:gd name="connsiteX1" fmla="*/ 0 w 712544"/>
                <a:gd name="connsiteY1" fmla="*/ 498781 h 498780"/>
                <a:gd name="connsiteX2" fmla="*/ 712544 w 712544"/>
                <a:gd name="connsiteY2" fmla="*/ 498781 h 498780"/>
                <a:gd name="connsiteX3" fmla="*/ 712544 w 712544"/>
                <a:gd name="connsiteY3" fmla="*/ 0 h 498780"/>
                <a:gd name="connsiteX4" fmla="*/ 0 w 712544"/>
                <a:gd name="connsiteY4" fmla="*/ 0 h 498780"/>
                <a:gd name="connsiteX5" fmla="*/ 368742 w 712544"/>
                <a:gd name="connsiteY5" fmla="*/ 310847 h 498780"/>
                <a:gd name="connsiteX6" fmla="*/ 343803 w 712544"/>
                <a:gd name="connsiteY6" fmla="*/ 310847 h 498780"/>
                <a:gd name="connsiteX7" fmla="*/ 80161 w 712544"/>
                <a:gd name="connsiteY7" fmla="*/ 53441 h 498780"/>
                <a:gd name="connsiteX8" fmla="*/ 633274 w 712544"/>
                <a:gd name="connsiteY8" fmla="*/ 53441 h 498780"/>
                <a:gd name="connsiteX9" fmla="*/ 368742 w 712544"/>
                <a:gd name="connsiteY9" fmla="*/ 310847 h 498780"/>
                <a:gd name="connsiteX10" fmla="*/ 227123 w 712544"/>
                <a:gd name="connsiteY10" fmla="*/ 246718 h 498780"/>
                <a:gd name="connsiteX11" fmla="*/ 53441 w 712544"/>
                <a:gd name="connsiteY11" fmla="*/ 421292 h 498780"/>
                <a:gd name="connsiteX12" fmla="*/ 53441 w 712544"/>
                <a:gd name="connsiteY12" fmla="*/ 76599 h 498780"/>
                <a:gd name="connsiteX13" fmla="*/ 227123 w 712544"/>
                <a:gd name="connsiteY13" fmla="*/ 246718 h 498780"/>
                <a:gd name="connsiteX14" fmla="*/ 252953 w 712544"/>
                <a:gd name="connsiteY14" fmla="*/ 271657 h 498780"/>
                <a:gd name="connsiteX15" fmla="*/ 319754 w 712544"/>
                <a:gd name="connsiteY15" fmla="*/ 336677 h 498780"/>
                <a:gd name="connsiteX16" fmla="*/ 357163 w 712544"/>
                <a:gd name="connsiteY16" fmla="*/ 351819 h 498780"/>
                <a:gd name="connsiteX17" fmla="*/ 394571 w 712544"/>
                <a:gd name="connsiteY17" fmla="*/ 336677 h 498780"/>
                <a:gd name="connsiteX18" fmla="*/ 461372 w 712544"/>
                <a:gd name="connsiteY18" fmla="*/ 271657 h 498780"/>
                <a:gd name="connsiteX19" fmla="*/ 634164 w 712544"/>
                <a:gd name="connsiteY19" fmla="*/ 445340 h 498780"/>
                <a:gd name="connsiteX20" fmla="*/ 79271 w 712544"/>
                <a:gd name="connsiteY20" fmla="*/ 445340 h 498780"/>
                <a:gd name="connsiteX21" fmla="*/ 252953 w 712544"/>
                <a:gd name="connsiteY21" fmla="*/ 271657 h 498780"/>
                <a:gd name="connsiteX22" fmla="*/ 485421 w 712544"/>
                <a:gd name="connsiteY22" fmla="*/ 246718 h 498780"/>
                <a:gd name="connsiteX23" fmla="*/ 659103 w 712544"/>
                <a:gd name="connsiteY23" fmla="*/ 77489 h 498780"/>
                <a:gd name="connsiteX24" fmla="*/ 659103 w 712544"/>
                <a:gd name="connsiteY24" fmla="*/ 420401 h 498780"/>
                <a:gd name="connsiteX25" fmla="*/ 485421 w 712544"/>
                <a:gd name="connsiteY25" fmla="*/ 246718 h 49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2544" h="498780">
                  <a:moveTo>
                    <a:pt x="0" y="0"/>
                  </a:moveTo>
                  <a:lnTo>
                    <a:pt x="0" y="498781"/>
                  </a:lnTo>
                  <a:lnTo>
                    <a:pt x="712544" y="498781"/>
                  </a:lnTo>
                  <a:lnTo>
                    <a:pt x="712544" y="0"/>
                  </a:lnTo>
                  <a:lnTo>
                    <a:pt x="0" y="0"/>
                  </a:lnTo>
                  <a:close/>
                  <a:moveTo>
                    <a:pt x="368742" y="310847"/>
                  </a:moveTo>
                  <a:cubicBezTo>
                    <a:pt x="361616" y="317973"/>
                    <a:pt x="350928" y="317973"/>
                    <a:pt x="343803" y="310847"/>
                  </a:cubicBezTo>
                  <a:lnTo>
                    <a:pt x="80161" y="53441"/>
                  </a:lnTo>
                  <a:lnTo>
                    <a:pt x="633274" y="53441"/>
                  </a:lnTo>
                  <a:lnTo>
                    <a:pt x="368742" y="310847"/>
                  </a:lnTo>
                  <a:close/>
                  <a:moveTo>
                    <a:pt x="227123" y="246718"/>
                  </a:moveTo>
                  <a:lnTo>
                    <a:pt x="53441" y="421292"/>
                  </a:lnTo>
                  <a:lnTo>
                    <a:pt x="53441" y="76599"/>
                  </a:lnTo>
                  <a:lnTo>
                    <a:pt x="227123" y="246718"/>
                  </a:lnTo>
                  <a:close/>
                  <a:moveTo>
                    <a:pt x="252953" y="271657"/>
                  </a:moveTo>
                  <a:lnTo>
                    <a:pt x="319754" y="336677"/>
                  </a:lnTo>
                  <a:cubicBezTo>
                    <a:pt x="330442" y="346475"/>
                    <a:pt x="343803" y="351819"/>
                    <a:pt x="357163" y="351819"/>
                  </a:cubicBezTo>
                  <a:cubicBezTo>
                    <a:pt x="370523" y="351819"/>
                    <a:pt x="383883" y="346475"/>
                    <a:pt x="394571" y="336677"/>
                  </a:cubicBezTo>
                  <a:lnTo>
                    <a:pt x="461372" y="271657"/>
                  </a:lnTo>
                  <a:lnTo>
                    <a:pt x="634164" y="445340"/>
                  </a:lnTo>
                  <a:lnTo>
                    <a:pt x="79271" y="445340"/>
                  </a:lnTo>
                  <a:lnTo>
                    <a:pt x="252953" y="271657"/>
                  </a:lnTo>
                  <a:close/>
                  <a:moveTo>
                    <a:pt x="485421" y="246718"/>
                  </a:moveTo>
                  <a:lnTo>
                    <a:pt x="659103" y="77489"/>
                  </a:lnTo>
                  <a:lnTo>
                    <a:pt x="659103" y="420401"/>
                  </a:lnTo>
                  <a:lnTo>
                    <a:pt x="485421" y="246718"/>
                  </a:lnTo>
                  <a:close/>
                </a:path>
              </a:pathLst>
            </a:custGeom>
            <a:solidFill>
              <a:schemeClr val="accent2"/>
            </a:solidFill>
            <a:ln w="8830" cap="flat">
              <a:solidFill>
                <a:schemeClr val="accent2"/>
              </a:solidFill>
              <a:prstDash val="solid"/>
              <a:miter/>
            </a:ln>
          </p:spPr>
          <p:txBody>
            <a:bodyPr rtlCol="0" anchor="ctr"/>
            <a:lstStyle/>
            <a:p>
              <a:endParaRPr lang="en-US"/>
            </a:p>
          </p:txBody>
        </p:sp>
      </p:grpSp>
      <p:cxnSp>
        <p:nvCxnSpPr>
          <p:cNvPr id="15" name="Straight Arrow Connector 14">
            <a:extLst>
              <a:ext uri="{FF2B5EF4-FFF2-40B4-BE49-F238E27FC236}">
                <a16:creationId xmlns:a16="http://schemas.microsoft.com/office/drawing/2014/main" id="{379F3AA7-1CA0-FB46-9AFF-44C07665B9CD}"/>
              </a:ext>
            </a:extLst>
          </p:cNvPr>
          <p:cNvCxnSpPr>
            <a:cxnSpLocks/>
            <a:stCxn id="26" idx="1"/>
            <a:endCxn id="104" idx="3"/>
          </p:cNvCxnSpPr>
          <p:nvPr/>
        </p:nvCxnSpPr>
        <p:spPr>
          <a:xfrm flipH="1" flipV="1">
            <a:off x="10142863" y="2269782"/>
            <a:ext cx="568447" cy="1233311"/>
          </a:xfrm>
          <a:prstGeom prst="straightConnector1">
            <a:avLst/>
          </a:prstGeom>
          <a:ln>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19" name="Straight Arrow Connector 14">
            <a:extLst>
              <a:ext uri="{FF2B5EF4-FFF2-40B4-BE49-F238E27FC236}">
                <a16:creationId xmlns:a16="http://schemas.microsoft.com/office/drawing/2014/main" id="{13B2449C-EA14-0E8D-8F47-590ECD0FEC10}"/>
              </a:ext>
            </a:extLst>
          </p:cNvPr>
          <p:cNvCxnSpPr>
            <a:cxnSpLocks/>
            <a:stCxn id="26" idx="1"/>
            <a:endCxn id="105" idx="3"/>
          </p:cNvCxnSpPr>
          <p:nvPr/>
        </p:nvCxnSpPr>
        <p:spPr>
          <a:xfrm flipH="1" flipV="1">
            <a:off x="10138985" y="3501489"/>
            <a:ext cx="572325" cy="1604"/>
          </a:xfrm>
          <a:prstGeom prst="straightConnector1">
            <a:avLst/>
          </a:prstGeom>
          <a:ln>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20" name="Straight Arrow Connector 14">
            <a:extLst>
              <a:ext uri="{FF2B5EF4-FFF2-40B4-BE49-F238E27FC236}">
                <a16:creationId xmlns:a16="http://schemas.microsoft.com/office/drawing/2014/main" id="{29029FBF-0681-D15C-F3A4-29FFA746EDAB}"/>
              </a:ext>
            </a:extLst>
          </p:cNvPr>
          <p:cNvCxnSpPr>
            <a:cxnSpLocks/>
            <a:stCxn id="26" idx="1"/>
            <a:endCxn id="106" idx="3"/>
          </p:cNvCxnSpPr>
          <p:nvPr/>
        </p:nvCxnSpPr>
        <p:spPr>
          <a:xfrm flipH="1">
            <a:off x="10138985" y="3503093"/>
            <a:ext cx="572325" cy="1230103"/>
          </a:xfrm>
          <a:prstGeom prst="straightConnector1">
            <a:avLst/>
          </a:prstGeom>
          <a:ln>
            <a:solidFill>
              <a:schemeClr val="tx1"/>
            </a:solidFill>
            <a:tailEnd type="none"/>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D15686C4-3032-1F0E-FD22-7E1E27D4CBBC}"/>
              </a:ext>
            </a:extLst>
          </p:cNvPr>
          <p:cNvSpPr/>
          <p:nvPr/>
        </p:nvSpPr>
        <p:spPr>
          <a:xfrm>
            <a:off x="10711310" y="3352922"/>
            <a:ext cx="377134" cy="3003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Cylinder 106">
            <a:extLst>
              <a:ext uri="{FF2B5EF4-FFF2-40B4-BE49-F238E27FC236}">
                <a16:creationId xmlns:a16="http://schemas.microsoft.com/office/drawing/2014/main" id="{86CDA2E3-2E3E-8606-DE05-6DEED7B2B2DD}"/>
              </a:ext>
            </a:extLst>
          </p:cNvPr>
          <p:cNvSpPr/>
          <p:nvPr/>
        </p:nvSpPr>
        <p:spPr>
          <a:xfrm>
            <a:off x="10571355" y="3037451"/>
            <a:ext cx="1000199" cy="932731"/>
          </a:xfrm>
          <a:prstGeom prst="can">
            <a:avLst>
              <a:gd name="adj" fmla="val 16667"/>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400" dirty="0">
                <a:solidFill>
                  <a:schemeClr val="accent1">
                    <a:lumMod val="50000"/>
                  </a:schemeClr>
                </a:solidFill>
              </a:rPr>
              <a:t>Persistent</a:t>
            </a:r>
          </a:p>
          <a:p>
            <a:pPr algn="ctr"/>
            <a:r>
              <a:rPr lang="en-US" sz="1400" dirty="0">
                <a:solidFill>
                  <a:schemeClr val="accent1">
                    <a:lumMod val="50000"/>
                  </a:schemeClr>
                </a:solidFill>
              </a:rPr>
              <a:t>Store</a:t>
            </a:r>
          </a:p>
        </p:txBody>
      </p:sp>
    </p:spTree>
    <p:extLst>
      <p:ext uri="{BB962C8B-B14F-4D97-AF65-F5344CB8AC3E}">
        <p14:creationId xmlns:p14="http://schemas.microsoft.com/office/powerpoint/2010/main" val="37844015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153392</TotalTime>
  <Words>5596</Words>
  <Application>Microsoft Office PowerPoint</Application>
  <PresentationFormat>Widescreen</PresentationFormat>
  <Paragraphs>897</Paragraphs>
  <Slides>44</Slides>
  <Notes>38</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44</vt:i4>
      </vt:variant>
    </vt:vector>
  </HeadingPairs>
  <TitlesOfParts>
    <vt:vector size="54" baseType="lpstr">
      <vt:lpstr>Amasis MT Pro Black</vt:lpstr>
      <vt:lpstr>Aptos</vt:lpstr>
      <vt:lpstr>Aptos Narrow</vt:lpstr>
      <vt:lpstr>Arial</vt:lpstr>
      <vt:lpstr>Cambria Math</vt:lpstr>
      <vt:lpstr>Dreaming Outloud Pro</vt:lpstr>
      <vt:lpstr>Impact</vt:lpstr>
      <vt:lpstr>Open Sans</vt:lpstr>
      <vt:lpstr>Wingdings</vt:lpstr>
      <vt:lpstr>Office Theme</vt:lpstr>
      <vt:lpstr>Escaping Architecture Ivory Tower with Architecture Pattern Catalog</vt:lpstr>
      <vt:lpstr>What Is Architecture?</vt:lpstr>
      <vt:lpstr>What Is Architecture? [Wikipedia]</vt:lpstr>
      <vt:lpstr>What Is Architecture? [Martin Fowler]</vt:lpstr>
      <vt:lpstr>What Is Architecture? [Grady Booch]</vt:lpstr>
      <vt:lpstr>What They* Say About Models</vt:lpstr>
      <vt:lpstr>“…a set of interlocking models…”</vt:lpstr>
      <vt:lpstr>What Is Architecture? [Fred Brooks]</vt:lpstr>
      <vt:lpstr>What Is Architecture? [Ralph Johnson]</vt:lpstr>
      <vt:lpstr>So, What Is Architecture?</vt:lpstr>
      <vt:lpstr>What Is Architect?</vt:lpstr>
      <vt:lpstr>Why Is Architect?</vt:lpstr>
      <vt:lpstr>Where Is Architect?</vt:lpstr>
      <vt:lpstr>A Recursion of Architects</vt:lpstr>
      <vt:lpstr>How to Capture Shared Understanding</vt:lpstr>
      <vt:lpstr>Standards</vt:lpstr>
      <vt:lpstr>Biases – Standards Refined</vt:lpstr>
      <vt:lpstr>Problems With Standards and Biases</vt:lpstr>
      <vt:lpstr>Solution?</vt:lpstr>
      <vt:lpstr>What Are Patterns?</vt:lpstr>
      <vt:lpstr>Why Do Patterns Make Sense?</vt:lpstr>
      <vt:lpstr>Pattern Examples</vt:lpstr>
      <vt:lpstr>Pattern Description Template</vt:lpstr>
      <vt:lpstr>Pattern Description Example</vt:lpstr>
      <vt:lpstr>Pattern Misuse</vt:lpstr>
      <vt:lpstr>Where Do Patterns Come From?</vt:lpstr>
      <vt:lpstr>Pattern Catalog Examples</vt:lpstr>
      <vt:lpstr>Use Case: Stock Trading Accounting</vt:lpstr>
      <vt:lpstr>Disclaimer</vt:lpstr>
      <vt:lpstr>Stock Trading Scenario</vt:lpstr>
      <vt:lpstr>Why FIFO Matters</vt:lpstr>
      <vt:lpstr>Why FIFO Matters</vt:lpstr>
      <vt:lpstr>Why FIFO Matters</vt:lpstr>
      <vt:lpstr>System Requirements</vt:lpstr>
      <vt:lpstr>Functional Architecture</vt:lpstr>
      <vt:lpstr>Business and Technical Requirements</vt:lpstr>
      <vt:lpstr>High Level Architecture</vt:lpstr>
      <vt:lpstr>Just Add Patterns</vt:lpstr>
      <vt:lpstr>From Patterns to Implementation</vt:lpstr>
      <vt:lpstr>What Now?</vt:lpstr>
      <vt:lpstr>Appendix</vt:lpstr>
      <vt:lpstr>Sources</vt:lpstr>
      <vt:lpstr>PowerPoint Presentation</vt:lpstr>
      <vt:lpstr>High Level Architecture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Vladimir Zakharov</dc:creator>
  <cp:lastModifiedBy>Vladimir Zakharov</cp:lastModifiedBy>
  <cp:revision>140</cp:revision>
  <dcterms:created xsi:type="dcterms:W3CDTF">2024-05-20T21:45:38Z</dcterms:created>
  <dcterms:modified xsi:type="dcterms:W3CDTF">2025-10-02T05:05:08Z</dcterms:modified>
</cp:coreProperties>
</file>